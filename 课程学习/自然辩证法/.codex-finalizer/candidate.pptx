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0f5454b6e44d7b" /><Relationship Type="http://schemas.openxmlformats.org/officeDocument/2006/relationships/extended-properties" Target="/docProps/app.xml" Id="R71b6c1bb103a426d" /><Relationship Type="http://schemas.openxmlformats.org/officeDocument/2006/relationships/officeDocument" Target="/ppt/presentation.xml" Id="Rdb4ca19578c84f46" /></Relationships>
</file>

<file path=ppt/presentation.xml><?xml version="1.0" encoding="utf-8"?>
<p:presentation xmlns:p="http://schemas.openxmlformats.org/presentationml/2006/main">
  <p:sldMasterIdLst>
    <p:sldMasterId xmlns:r="http://schemas.openxmlformats.org/officeDocument/2006/relationships" id="2147483648" r:id="R8573f7029fed4b83"/>
  </p:sldMasterIdLst>
  <p:notesMasterIdLst>
    <p:notesMasterId xmlns:r="http://schemas.openxmlformats.org/officeDocument/2006/relationships" r:id="R1d06066276ea4e06"/>
  </p:notesMasterIdLst>
  <p:sldIdLst>
    <p:sldId xmlns:r="http://schemas.openxmlformats.org/officeDocument/2006/relationships" id="256" r:id="R77218ef9f3ad48e3"/>
    <p:sldId xmlns:r="http://schemas.openxmlformats.org/officeDocument/2006/relationships" id="257" r:id="R79c1ea7efde44515"/>
    <p:sldId xmlns:r="http://schemas.openxmlformats.org/officeDocument/2006/relationships" id="258" r:id="R3072fc8106b241e3"/>
    <p:sldId xmlns:r="http://schemas.openxmlformats.org/officeDocument/2006/relationships" id="259" r:id="R0021cbcbe8ac445c"/>
    <p:sldId xmlns:r="http://schemas.openxmlformats.org/officeDocument/2006/relationships" id="260" r:id="R7d572c03a0a94588"/>
    <p:sldId xmlns:r="http://schemas.openxmlformats.org/officeDocument/2006/relationships" id="261" r:id="R6af180c737a64c29"/>
    <p:sldId xmlns:r="http://schemas.openxmlformats.org/officeDocument/2006/relationships" id="262" r:id="R449994605e2042fa"/>
    <p:sldId xmlns:r="http://schemas.openxmlformats.org/officeDocument/2006/relationships" id="263" r:id="Rdc7cb6bcebbd4c0b"/>
    <p:sldId xmlns:r="http://schemas.openxmlformats.org/officeDocument/2006/relationships" id="264" r:id="Rd99cec8dd21d49f4"/>
    <p:sldId xmlns:r="http://schemas.openxmlformats.org/officeDocument/2006/relationships" id="265" r:id="Rf9ea11c2e3d74bfa"/>
    <p:sldId xmlns:r="http://schemas.openxmlformats.org/officeDocument/2006/relationships" id="266" r:id="R1838a1e933964b10"/>
    <p:sldId xmlns:r="http://schemas.openxmlformats.org/officeDocument/2006/relationships" id="267" r:id="R3015f77a075c4929"/>
    <p:sldId xmlns:r="http://schemas.openxmlformats.org/officeDocument/2006/relationships" id="268" r:id="R58232f399de04366"/>
    <p:sldId xmlns:r="http://schemas.openxmlformats.org/officeDocument/2006/relationships" id="269" r:id="R694303d285f540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1f8943e8f848f2" /><Relationship Type="http://schemas.openxmlformats.org/officeDocument/2006/relationships/slideMaster" Target="/ppt/slideMasters/slideMaster1.xml" Id="R8573f7029fed4b83" /><Relationship Type="http://schemas.openxmlformats.org/officeDocument/2006/relationships/notesMaster" Target="/ppt/notesMasters/notesMaster1.xml" Id="R1d06066276ea4e06" /><Relationship Type="http://schemas.openxmlformats.org/officeDocument/2006/relationships/presProps" Target="/ppt/presProps.xml" Id="Radf04cf5f5884e57" /><Relationship Type="http://schemas.openxmlformats.org/officeDocument/2006/relationships/tableStyles" Target="/ppt/tableStyles.xml" Id="Rdd6f3ac45bc04384" /><Relationship Type="http://schemas.openxmlformats.org/officeDocument/2006/relationships/slide" Target="/ppt/slides/slide1.xml" Id="R77218ef9f3ad48e3" /><Relationship Type="http://schemas.openxmlformats.org/officeDocument/2006/relationships/slide" Target="/ppt/slides/slide2.xml" Id="R79c1ea7efde44515" /><Relationship Type="http://schemas.openxmlformats.org/officeDocument/2006/relationships/slide" Target="/ppt/slides/slide3.xml" Id="R3072fc8106b241e3" /><Relationship Type="http://schemas.openxmlformats.org/officeDocument/2006/relationships/slide" Target="/ppt/slides/slide4.xml" Id="R0021cbcbe8ac445c" /><Relationship Type="http://schemas.openxmlformats.org/officeDocument/2006/relationships/slide" Target="/ppt/slides/slide5.xml" Id="R7d572c03a0a94588" /><Relationship Type="http://schemas.openxmlformats.org/officeDocument/2006/relationships/slide" Target="/ppt/slides/slide6.xml" Id="R6af180c737a64c29" /><Relationship Type="http://schemas.openxmlformats.org/officeDocument/2006/relationships/slide" Target="/ppt/slides/slide7.xml" Id="R449994605e2042fa" /><Relationship Type="http://schemas.openxmlformats.org/officeDocument/2006/relationships/slide" Target="/ppt/slides/slide8.xml" Id="Rdc7cb6bcebbd4c0b" /><Relationship Type="http://schemas.openxmlformats.org/officeDocument/2006/relationships/slide" Target="/ppt/slides/slide9.xml" Id="Rd99cec8dd21d49f4" /><Relationship Type="http://schemas.openxmlformats.org/officeDocument/2006/relationships/slide" Target="/ppt/slides/slide10.xml" Id="Rf9ea11c2e3d74bfa" /><Relationship Type="http://schemas.openxmlformats.org/officeDocument/2006/relationships/slide" Target="/ppt/slides/slide11.xml" Id="R1838a1e933964b10" /><Relationship Type="http://schemas.openxmlformats.org/officeDocument/2006/relationships/slide" Target="/ppt/slides/slide12.xml" Id="R3015f77a075c4929" /><Relationship Type="http://schemas.openxmlformats.org/officeDocument/2006/relationships/slide" Target="/ppt/slides/slide13.xml" Id="R58232f399de04366" /><Relationship Type="http://schemas.openxmlformats.org/officeDocument/2006/relationships/slide" Target="/ppt/slides/slide14.xml" Id="R694303d285f540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423930793d4c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28d22251fe4a8d" /><Relationship Type="http://schemas.openxmlformats.org/officeDocument/2006/relationships/notesMaster" Target="/ppt/notesMasters/notesMaster1.xml" Id="R5df69b591f8347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71ba1ead304cc3" /><Relationship Type="http://schemas.openxmlformats.org/officeDocument/2006/relationships/notesMaster" Target="/ppt/notesMasters/notesMaster1.xml" Id="Ra94501885f4c49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00a8e5627d44be" /><Relationship Type="http://schemas.openxmlformats.org/officeDocument/2006/relationships/notesMaster" Target="/ppt/notesMasters/notesMaster1.xml" Id="Rd9d5706ce8ab4b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337b68fc8240ab" /><Relationship Type="http://schemas.openxmlformats.org/officeDocument/2006/relationships/notesMaster" Target="/ppt/notesMasters/notesMaster1.xml" Id="R49c95945465744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731a26b9674305" /><Relationship Type="http://schemas.openxmlformats.org/officeDocument/2006/relationships/notesMaster" Target="/ppt/notesMasters/notesMaster1.xml" Id="Ra514176d9d5b44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399f72311740fb" /><Relationship Type="http://schemas.openxmlformats.org/officeDocument/2006/relationships/notesMaster" Target="/ppt/notesMasters/notesMaster1.xml" Id="R68b8ef5e272745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1674ad8dc04982" /><Relationship Type="http://schemas.openxmlformats.org/officeDocument/2006/relationships/notesMaster" Target="/ppt/notesMasters/notesMaster1.xml" Id="Rcbfa4068d9114e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f16698aec748b6" /><Relationship Type="http://schemas.openxmlformats.org/officeDocument/2006/relationships/notesMaster" Target="/ppt/notesMasters/notesMaster1.xml" Id="R35b53d27151548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ac423c0ae84f38" /><Relationship Type="http://schemas.openxmlformats.org/officeDocument/2006/relationships/notesMaster" Target="/ppt/notesMasters/notesMaster1.xml" Id="Ra58c0e8733ca48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b3fef9db0a4ec6" /><Relationship Type="http://schemas.openxmlformats.org/officeDocument/2006/relationships/notesMaster" Target="/ppt/notesMasters/notesMaster1.xml" Id="R34fb0856c9814d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e3c5921341462c" /><Relationship Type="http://schemas.openxmlformats.org/officeDocument/2006/relationships/notesMaster" Target="/ppt/notesMasters/notesMaster1.xml" Id="R91092ecb8bb840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4c0657e9e14890" /><Relationship Type="http://schemas.openxmlformats.org/officeDocument/2006/relationships/notesMaster" Target="/ppt/notesMasters/notesMaster1.xml" Id="Rafe1079331f84a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81f2a1ae9a4d82" /><Relationship Type="http://schemas.openxmlformats.org/officeDocument/2006/relationships/notesMaster" Target="/ppt/notesMasters/notesMaster1.xml" Id="R6b766c97261949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5fe30403814b77" /><Relationship Type="http://schemas.openxmlformats.org/officeDocument/2006/relationships/notesMaster" Target="/ppt/notesMasters/notesMaster1.xml" Id="Re5a940e0b5cf41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本页无外部事实性材料。演讲提示：开场提出问题，科研越轨为何不能只归因于个人品德？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来源：美国研究诚信办公室 ORI, Definition of Research Misconduct, https://ori.hhs.gov/definition-research-misconduct ；中国科技部等，《科研失信行为调查处理规则》，2022，https://www.nhc.gov.cn/qjjys/c100016/202209/1e5ae72d43de40d5b5f023b8ea529fd5.shtml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来源：He et al., Chiral Majorana fermion modes..., Science 357, 294–299 (2017), DOI:10.1126/science.aag2792；Science Editorial Retraction, 2022, DOI:10.1126/science.adf7575；Penn State, The case of the elusive Majorana, 2020, https://www.psu.edu/news/research/story/case-elusive-majorana-so-called-angel-particle-still-mystery 。注意：本案不同于 2018 年 Nature 的 Quantized Majorana conductance 论文，后者于 2021 年撤稿。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来源：Science Editorial Retraction, 2022, DOI:10.1126/science.adf7575；Chang et al., Absence of evidence for chiral Majorana modes in quantum anomalous Hall-superconductor devices, Science 367, 64–67 (2020), DOI:10.1126/science.aax6361。关于科研不端认定边界，参考 ORI 定义：https://ori.hhs.gov/definition-research-misconduct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本页是基于论文、复现研究和编辑撤稿说明的机制分析。对“确认偏误”的讨论属于认识论解释，不等同于对具体作者主观动机的法律或纪律认定。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来源：Lucent Technologies, Report of the Investigation Committee on the Possibility of Scientific Misconduct in the Work of Hendrik Schön and Coauthors, 2002，https://media-bell-labs-com.s3.amazonaws.com/pages/20170403_1709/misconduct-revew-report-lucent.pdf 。本页对因果机制的表述属于基于报告事实的分析。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来源：RIKEN, Report from committee investigating STAP papers, 2014，https://www.riken.jp/en/news_pubs/news/2014/20141226_1/ ；Konno et al., STAP cells are derived from ES cells, Nature 525, E4–E5 (2015), https://www.nature.com/articles/nature15366 ；Aizawa et al., Failure to replicate the STAP cell phenomenon, Nature 525, E6–E9 (2015), https://www.nature.com/articles/nature15513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参考：National Academies of Sciences, Engineering, and Medicine, Fostering Integrity in Research, 2017，https://www.nationalacademies.org/read/21896 。本页为认识论分析框架。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参考：National Academies, Fostering Integrity in Research, 2017，尤其关于研究环境、激励结构、机构责任与有害研究实践的讨论，https://www.nationalacademies.org/read/21896/chapter/16 。本页为制度机制归纳。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本页为综合分析模型，基于两起案例与 National Academies 2017 年报告对研究环境的讨论构建。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来源：UNESCO, Recommendation on Open Science, 2021，https://www.unesco.org/en/legal-affairs/recommendation-open-science ；National Academies, Fostering Integrity in Research, 2017。具体措施结合常见科研工作流整理。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来源：中国科技部等，《科研失信行为调查处理规则》，2022；National Academies, Fostering Integrity in Research, 2017。治理建议为对政策原则的结构化转化。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本页为面向物理与材料学科的实践建议。参考 UNESCO 2021 开放科学建议中关于数据、软件、工作流可访问与可复用的原则。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本页为治理建议的实施排序。时间划分为建议性安排，不代表现行政策时限。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931be5807641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b8894b8d764b70" /><Relationship Type="http://schemas.openxmlformats.org/officeDocument/2006/relationships/slideLayout" Target="/ppt/slideLayouts/slideLayout1.xml" Id="Rff0294cc2b1f4f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0294cc2b1f4f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500c48597f4f8c" /><Relationship Type="http://schemas.openxmlformats.org/officeDocument/2006/relationships/notesSlide" Target="/ppt/notesSlides/notesSlide1.xml" Id="R776b8ab5a99d4e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6e9d7413a848eb" /><Relationship Type="http://schemas.openxmlformats.org/officeDocument/2006/relationships/notesSlide" Target="/ppt/notesSlides/notesSlide2.xml" Id="R848053383cef4c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47790f05c24c8c" /><Relationship Type="http://schemas.openxmlformats.org/officeDocument/2006/relationships/notesSlide" Target="/ppt/notesSlides/notesSlide3.xml" Id="R9639dc0522bf40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2e2b25087349d3" /><Relationship Type="http://schemas.openxmlformats.org/officeDocument/2006/relationships/notesSlide" Target="/ppt/notesSlides/notesSlide4.xml" Id="Ra65f9ed64e6f4a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d1e93f4daa4088" /><Relationship Type="http://schemas.openxmlformats.org/officeDocument/2006/relationships/notesSlide" Target="/ppt/notesSlides/notesSlide5.xml" Id="R26ac6e245ff543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cf7b85178a4f82" /><Relationship Type="http://schemas.openxmlformats.org/officeDocument/2006/relationships/notesSlide" Target="/ppt/notesSlides/notesSlide6.xml" Id="R6dce9f14862c43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5ebfcd4b004461" /><Relationship Type="http://schemas.openxmlformats.org/officeDocument/2006/relationships/notesSlide" Target="/ppt/notesSlides/notesSlide7.xml" Id="Rf366583433bf47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b61125896b4f20" /><Relationship Type="http://schemas.openxmlformats.org/officeDocument/2006/relationships/notesSlide" Target="/ppt/notesSlides/notesSlide8.xml" Id="R6c561cebf36f43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062a9b594c4c8c" /><Relationship Type="http://schemas.openxmlformats.org/officeDocument/2006/relationships/notesSlide" Target="/ppt/notesSlides/notesSlide9.xml" Id="Rfe3b4d3df68746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ec7250587a417f" /><Relationship Type="http://schemas.openxmlformats.org/officeDocument/2006/relationships/notesSlide" Target="/ppt/notesSlides/notesSlide10.xml" Id="R99ea625214f440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f9fc5ca1c54610" /><Relationship Type="http://schemas.openxmlformats.org/officeDocument/2006/relationships/notesSlide" Target="/ppt/notesSlides/notesSlide11.xml" Id="R572d190ccef743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0168fe3c8354ebb" /><Relationship Type="http://schemas.openxmlformats.org/officeDocument/2006/relationships/notesSlide" Target="/ppt/notesSlides/notesSlide12.xml" Id="R26566fa9e8ab4e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d2ff236d524d2d" /><Relationship Type="http://schemas.openxmlformats.org/officeDocument/2006/relationships/notesSlide" Target="/ppt/notesSlides/notesSlide13.xml" Id="Re50aad33b7f845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365449501047ae" /><Relationship Type="http://schemas.openxmlformats.org/officeDocument/2006/relationships/notesSlide" Target="/ppt/notesSlides/notesSlide14.xml" Id="R83b927ee02ac49ef" /></Relationships>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21FEB8-EEC1-47E9-9F8A-536FB5958231}"/>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0D7864-D07A-4B38-8EDF-DBAD17B9514E}"/>
              </a:ext>
            </a:extLst>
          </p:cNvPr>
          <p:cNvSpPr>
            <a:spLocks xmlns:a="http://schemas.openxmlformats.org/drawingml/2006/main" noGrp="1"/>
          </p:cNvSpPr>
          <p:nvPr/>
        </p:nvSpPr>
        <p:spPr>
          <a:xfrm xmlns:a="http://schemas.openxmlformats.org/drawingml/2006/main">
            <a:off x="781050" y="1200150"/>
            <a:ext cx="857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183247"/>
                </a:solidFill>
                <a:latin typeface="Microsoft YaHei"/>
                <a:ea typeface="Microsoft YaHei"/>
                <a:cs typeface="Microsoft YaHei"/>
              </a:defRPr>
            </a:pPr>
            <a:r>
              <a:rPr sz="3600" b="1">
                <a:solidFill>
                  <a:srgbClr val="183247"/>
                </a:solidFill>
                <a:latin typeface="Microsoft YaHei"/>
                <a:ea typeface="Microsoft YaHei"/>
                <a:cs typeface="Microsoft YaHei"/>
              </a:rPr>
              <a:t>科研越轨的成因与治理</a:t>
            </a:r>
          </a:p>
        </p:txBody>
      </p:sp>
      <p:sp>
        <p:nvSpPr>
          <p:cNvPr id="3" name="">
            <a:extLst xmlns:a="http://schemas.openxmlformats.org/drawingml/2006/main">
              <a:ext uri="{FF2B5EF4-FFF2-40B4-BE49-F238E27FC236}">
                <a16:creationId xmlns:a16="http://schemas.microsoft.com/office/drawing/2014/main" id="{34129053-9ACA-48F6-8847-F392DCE7AC9A}"/>
              </a:ext>
            </a:extLst>
          </p:cNvPr>
          <p:cNvSpPr>
            <a:spLocks xmlns:a="http://schemas.openxmlformats.org/drawingml/2006/main" noGrp="1"/>
          </p:cNvSpPr>
          <p:nvPr/>
        </p:nvSpPr>
        <p:spPr>
          <a:xfrm xmlns:a="http://schemas.openxmlformats.org/drawingml/2006/main">
            <a:off x="819150" y="2152650"/>
            <a:ext cx="819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2D6280"/>
                </a:solidFill>
                <a:latin typeface="Microsoft YaHei"/>
                <a:ea typeface="Microsoft YaHei"/>
                <a:cs typeface="Microsoft YaHei"/>
              </a:defRPr>
            </a:pPr>
            <a:r>
              <a:rPr sz="1875" b="0">
                <a:solidFill>
                  <a:srgbClr val="2D6280"/>
                </a:solidFill>
                <a:latin typeface="Microsoft YaHei"/>
                <a:ea typeface="Microsoft YaHei"/>
                <a:cs typeface="Microsoft YaHei"/>
              </a:rPr>
              <a:t>从认识论与制度结构出发的学科案例分析</a:t>
            </a:r>
          </a:p>
        </p:txBody>
      </p:sp>
      <p:sp>
        <p:nvSpPr>
          <p:cNvPr id="4" name="">
            <a:extLst xmlns:a="http://schemas.openxmlformats.org/drawingml/2006/main">
              <a:ext uri="{FF2B5EF4-FFF2-40B4-BE49-F238E27FC236}">
                <a16:creationId xmlns:a16="http://schemas.microsoft.com/office/drawing/2014/main" id="{F0254E9D-B867-47AF-A79F-ECCDC05B2BBA}"/>
              </a:ext>
            </a:extLst>
          </p:cNvPr>
          <p:cNvSpPr>
            <a:spLocks xmlns:a="http://schemas.openxmlformats.org/drawingml/2006/main" noGrp="1"/>
          </p:cNvSpPr>
          <p:nvPr/>
        </p:nvSpPr>
        <p:spPr>
          <a:xfrm xmlns:a="http://schemas.openxmlformats.org/drawingml/2006/main">
            <a:off x="819150" y="2914650"/>
            <a:ext cx="3657600" cy="0"/>
          </a:xfrm>
          <a:prstGeom xmlns:a="http://schemas.openxmlformats.org/drawingml/2006/main" prst="line">
            <a:avLst/>
          </a:prstGeom>
          <a:ln xmlns:a="http://schemas.openxmlformats.org/drawingml/2006/main" w="47625">
            <a:solidFill>
              <a:srgbClr val="B45C3E"/>
            </a:solidFill>
          </a:ln>
        </p:spPr>
      </p:sp>
      <p:sp>
        <p:nvSpPr>
          <p:cNvPr id="5" name="">
            <a:extLst xmlns:a="http://schemas.openxmlformats.org/drawingml/2006/main">
              <a:ext uri="{FF2B5EF4-FFF2-40B4-BE49-F238E27FC236}">
                <a16:creationId xmlns:a16="http://schemas.microsoft.com/office/drawing/2014/main" id="{C18E927D-8941-4302-A336-9A0C2346B182}"/>
              </a:ext>
            </a:extLst>
          </p:cNvPr>
          <p:cNvSpPr>
            <a:spLocks xmlns:a="http://schemas.openxmlformats.org/drawingml/2006/main" noGrp="1"/>
          </p:cNvSpPr>
          <p:nvPr/>
        </p:nvSpPr>
        <p:spPr>
          <a:xfrm xmlns:a="http://schemas.openxmlformats.org/drawingml/2006/main">
            <a:off x="819150" y="32385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58666D"/>
                </a:solidFill>
                <a:latin typeface="Microsoft YaHei"/>
                <a:ea typeface="Microsoft YaHei"/>
                <a:cs typeface="Microsoft YaHei"/>
              </a:defRPr>
            </a:pPr>
            <a:r>
              <a:rPr sz="1350" b="1">
                <a:solidFill>
                  <a:srgbClr val="58666D"/>
                </a:solidFill>
                <a:latin typeface="Microsoft YaHei"/>
                <a:ea typeface="Microsoft YaHei"/>
                <a:cs typeface="Microsoft YaHei"/>
              </a:rPr>
              <a:t>自然辩证法课程汇报</a:t>
            </a:r>
          </a:p>
        </p:txBody>
      </p:sp>
      <p:sp>
        <p:nvSpPr>
          <p:cNvPr id="6" name="">
            <a:extLst xmlns:a="http://schemas.openxmlformats.org/drawingml/2006/main">
              <a:ext uri="{FF2B5EF4-FFF2-40B4-BE49-F238E27FC236}">
                <a16:creationId xmlns:a16="http://schemas.microsoft.com/office/drawing/2014/main" id="{4CEA457E-7FD3-4116-AF23-B96FADD2BEF1}"/>
              </a:ext>
            </a:extLst>
          </p:cNvPr>
          <p:cNvSpPr>
            <a:spLocks xmlns:a="http://schemas.openxmlformats.org/drawingml/2006/main" noGrp="1"/>
          </p:cNvSpPr>
          <p:nvPr/>
        </p:nvSpPr>
        <p:spPr>
          <a:xfrm xmlns:a="http://schemas.openxmlformats.org/drawingml/2006/main">
            <a:off x="819150" y="37338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8666D"/>
                </a:solidFill>
                <a:latin typeface="Microsoft YaHei"/>
                <a:ea typeface="Microsoft YaHei"/>
                <a:cs typeface="Microsoft YaHei"/>
              </a:defRPr>
            </a:pPr>
            <a:r>
              <a:rPr sz="1275" b="0">
                <a:solidFill>
                  <a:srgbClr val="58666D"/>
                </a:solidFill>
                <a:latin typeface="Microsoft YaHei"/>
                <a:ea typeface="Microsoft YaHei"/>
                <a:cs typeface="Microsoft YaHei"/>
              </a:rPr>
              <a:t>汇报人：__________</a:t>
            </a:r>
          </a:p>
        </p:txBody>
      </p:sp>
      <p:sp>
        <p:nvSpPr>
          <p:cNvPr id="7" name="">
            <a:extLst xmlns:a="http://schemas.openxmlformats.org/drawingml/2006/main">
              <a:ext uri="{FF2B5EF4-FFF2-40B4-BE49-F238E27FC236}">
                <a16:creationId xmlns:a16="http://schemas.microsoft.com/office/drawing/2014/main" id="{74371603-656F-401F-9568-9B8A9C2DC04C}"/>
              </a:ext>
            </a:extLst>
          </p:cNvPr>
          <p:cNvSpPr>
            <a:spLocks xmlns:a="http://schemas.openxmlformats.org/drawingml/2006/main" noGrp="1"/>
          </p:cNvSpPr>
          <p:nvPr/>
        </p:nvSpPr>
        <p:spPr>
          <a:xfrm xmlns:a="http://schemas.openxmlformats.org/drawingml/2006/main">
            <a:off x="819150" y="41719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8666D"/>
                </a:solidFill>
                <a:latin typeface="Microsoft YaHei"/>
                <a:ea typeface="Microsoft YaHei"/>
                <a:cs typeface="Microsoft YaHei"/>
              </a:defRPr>
            </a:pPr>
            <a:r>
              <a:rPr sz="1275" b="0">
                <a:solidFill>
                  <a:srgbClr val="58666D"/>
                </a:solidFill>
                <a:latin typeface="Microsoft YaHei"/>
                <a:ea typeface="Microsoft YaHei"/>
                <a:cs typeface="Microsoft YaHei"/>
              </a:rPr>
              <a:t>学号：____________</a:t>
            </a:r>
          </a:p>
        </p:txBody>
      </p:sp>
    </p:spTree>
    <p:extLst>
      <p:ext uri="{BB962C8B-B14F-4D97-AF65-F5344CB8AC3E}">
        <p14:creationId xmlns:p14="http://schemas.microsoft.com/office/powerpoint/2010/main" val="1729081610"/>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44F57A6-0213-4500-B5B2-5DAE8D0C891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3C6277-8C4B-4F99-A77D-496A31DDF263}"/>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科研越轨的边界</a:t>
            </a:r>
          </a:p>
        </p:txBody>
      </p:sp>
      <p:sp>
        <p:nvSpPr>
          <p:cNvPr id="3" name="">
            <a:extLst xmlns:a="http://schemas.openxmlformats.org/drawingml/2006/main">
              <a:ext uri="{FF2B5EF4-FFF2-40B4-BE49-F238E27FC236}">
                <a16:creationId xmlns:a16="http://schemas.microsoft.com/office/drawing/2014/main" id="{1E6752D0-14A7-4E7F-BD34-36686A11B753}"/>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先区分诚实错误、低质量实践与有意失信</a:t>
            </a:r>
          </a:p>
        </p:txBody>
      </p:sp>
      <p:sp>
        <p:nvSpPr>
          <p:cNvPr id="4" name="">
            <a:extLst xmlns:a="http://schemas.openxmlformats.org/drawingml/2006/main">
              <a:ext uri="{FF2B5EF4-FFF2-40B4-BE49-F238E27FC236}">
                <a16:creationId xmlns:a16="http://schemas.microsoft.com/office/drawing/2014/main" id="{B260CF39-8F74-4F09-A763-6D7F3F3DD39F}"/>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02</a:t>
            </a:r>
          </a:p>
        </p:txBody>
      </p:sp>
      <p:sp>
        <p:nvSpPr>
          <p:cNvPr id="5" name="">
            <a:extLst xmlns:a="http://schemas.openxmlformats.org/drawingml/2006/main">
              <a:ext uri="{FF2B5EF4-FFF2-40B4-BE49-F238E27FC236}">
                <a16:creationId xmlns:a16="http://schemas.microsoft.com/office/drawing/2014/main" id="{A7867732-5AD2-4C7F-804F-A7DA8C439019}"/>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3D9BD609-1101-472E-85CA-8E27C1C46E34}"/>
              </a:ext>
            </a:extLst>
          </p:cNvPr>
          <p:cNvSpPr>
            <a:spLocks xmlns:a="http://schemas.openxmlformats.org/drawingml/2006/main" noGrp="1"/>
          </p:cNvSpPr>
          <p:nvPr/>
        </p:nvSpPr>
        <p:spPr>
          <a:xfrm xmlns:a="http://schemas.openxmlformats.org/drawingml/2006/main">
            <a:off x="723900" y="1676400"/>
            <a:ext cx="32385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CAD5D8"/>
            </a:solidFill>
          </a:ln>
        </p:spPr>
      </p:sp>
      <p:sp>
        <p:nvSpPr>
          <p:cNvPr id="7" name="">
            <a:extLst xmlns:a="http://schemas.openxmlformats.org/drawingml/2006/main">
              <a:ext uri="{FF2B5EF4-FFF2-40B4-BE49-F238E27FC236}">
                <a16:creationId xmlns:a16="http://schemas.microsoft.com/office/drawing/2014/main" id="{929AA642-54B2-4764-B77E-C0BF15A258EF}"/>
              </a:ext>
            </a:extLst>
          </p:cNvPr>
          <p:cNvSpPr>
            <a:spLocks xmlns:a="http://schemas.openxmlformats.org/drawingml/2006/main" noGrp="1"/>
          </p:cNvSpPr>
          <p:nvPr/>
        </p:nvSpPr>
        <p:spPr>
          <a:xfrm xmlns:a="http://schemas.openxmlformats.org/drawingml/2006/main">
            <a:off x="723900" y="1676400"/>
            <a:ext cx="76200" cy="1676400"/>
          </a:xfrm>
          <a:prstGeom xmlns:a="http://schemas.openxmlformats.org/drawingml/2006/main" prst="roundRect">
            <a:avLst>
              <a:gd name="adj" fmla="val 50000"/>
            </a:avLst>
          </a:prstGeom>
          <a:solidFill xmlns:a="http://schemas.openxmlformats.org/drawingml/2006/main">
            <a:srgbClr val="4974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81C15F-68C0-4F8B-B73D-0173F17A0F8A}"/>
              </a:ext>
            </a:extLst>
          </p:cNvPr>
          <p:cNvSpPr>
            <a:spLocks xmlns:a="http://schemas.openxmlformats.org/drawingml/2006/main" noGrp="1"/>
          </p:cNvSpPr>
          <p:nvPr/>
        </p:nvSpPr>
        <p:spPr>
          <a:xfrm xmlns:a="http://schemas.openxmlformats.org/drawingml/2006/main">
            <a:off x="952500" y="1828800"/>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诚实错误</a:t>
            </a:r>
          </a:p>
        </p:txBody>
      </p:sp>
      <p:sp>
        <p:nvSpPr>
          <p:cNvPr id="9" name="">
            <a:extLst xmlns:a="http://schemas.openxmlformats.org/drawingml/2006/main">
              <a:ext uri="{FF2B5EF4-FFF2-40B4-BE49-F238E27FC236}">
                <a16:creationId xmlns:a16="http://schemas.microsoft.com/office/drawing/2014/main" id="{3B5B7122-DED1-4F34-A3B0-6943123604C5}"/>
              </a:ext>
            </a:extLst>
          </p:cNvPr>
          <p:cNvSpPr>
            <a:spLocks xmlns:a="http://schemas.openxmlformats.org/drawingml/2006/main" noGrp="1"/>
          </p:cNvSpPr>
          <p:nvPr/>
        </p:nvSpPr>
        <p:spPr>
          <a:xfrm xmlns:a="http://schemas.openxmlformats.org/drawingml/2006/main">
            <a:off x="952500" y="2209800"/>
            <a:ext cx="2838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方法局限、随机波动或无意失误。关键是及时更正，并保留可追溯记录。</a:t>
            </a:r>
          </a:p>
        </p:txBody>
      </p:sp>
      <p:sp>
        <p:nvSpPr>
          <p:cNvPr id="10" name="">
            <a:extLst xmlns:a="http://schemas.openxmlformats.org/drawingml/2006/main">
              <a:ext uri="{FF2B5EF4-FFF2-40B4-BE49-F238E27FC236}">
                <a16:creationId xmlns:a16="http://schemas.microsoft.com/office/drawing/2014/main" id="{EF6F739C-39A5-442B-A45E-A883D855025B}"/>
              </a:ext>
            </a:extLst>
          </p:cNvPr>
          <p:cNvSpPr>
            <a:spLocks xmlns:a="http://schemas.openxmlformats.org/drawingml/2006/main" noGrp="1"/>
          </p:cNvSpPr>
          <p:nvPr/>
        </p:nvSpPr>
        <p:spPr>
          <a:xfrm xmlns:a="http://schemas.openxmlformats.org/drawingml/2006/main">
            <a:off x="4476750" y="1676400"/>
            <a:ext cx="32385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CAD5D8"/>
            </a:solidFill>
          </a:ln>
        </p:spPr>
      </p:sp>
      <p:sp>
        <p:nvSpPr>
          <p:cNvPr id="11" name="">
            <a:extLst xmlns:a="http://schemas.openxmlformats.org/drawingml/2006/main">
              <a:ext uri="{FF2B5EF4-FFF2-40B4-BE49-F238E27FC236}">
                <a16:creationId xmlns:a16="http://schemas.microsoft.com/office/drawing/2014/main" id="{5451D193-50E3-4D98-AF4B-1E22FE4A11DE}"/>
              </a:ext>
            </a:extLst>
          </p:cNvPr>
          <p:cNvSpPr>
            <a:spLocks xmlns:a="http://schemas.openxmlformats.org/drawingml/2006/main" noGrp="1"/>
          </p:cNvSpPr>
          <p:nvPr/>
        </p:nvSpPr>
        <p:spPr>
          <a:xfrm xmlns:a="http://schemas.openxmlformats.org/drawingml/2006/main">
            <a:off x="4476750" y="1676400"/>
            <a:ext cx="76200" cy="1676400"/>
          </a:xfrm>
          <a:prstGeom xmlns:a="http://schemas.openxmlformats.org/drawingml/2006/main" prst="roundRect">
            <a:avLst>
              <a:gd name="adj" fmla="val 50000"/>
            </a:avLst>
          </a:prstGeom>
          <a:solidFill xmlns:a="http://schemas.openxmlformats.org/drawingml/2006/main">
            <a:srgbClr val="C49A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3FB6499-54B8-4E57-B013-5BE81BC745C2}"/>
              </a:ext>
            </a:extLst>
          </p:cNvPr>
          <p:cNvSpPr>
            <a:spLocks xmlns:a="http://schemas.openxmlformats.org/drawingml/2006/main" noGrp="1"/>
          </p:cNvSpPr>
          <p:nvPr/>
        </p:nvSpPr>
        <p:spPr>
          <a:xfrm xmlns:a="http://schemas.openxmlformats.org/drawingml/2006/main">
            <a:off x="4705350" y="1828800"/>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有害研究实践</a:t>
            </a:r>
          </a:p>
        </p:txBody>
      </p:sp>
      <p:sp>
        <p:nvSpPr>
          <p:cNvPr id="13" name="">
            <a:extLst xmlns:a="http://schemas.openxmlformats.org/drawingml/2006/main">
              <a:ext uri="{FF2B5EF4-FFF2-40B4-BE49-F238E27FC236}">
                <a16:creationId xmlns:a16="http://schemas.microsoft.com/office/drawing/2014/main" id="{9503EF5A-EC7F-4E41-8694-11E262BA5202}"/>
              </a:ext>
            </a:extLst>
          </p:cNvPr>
          <p:cNvSpPr>
            <a:spLocks xmlns:a="http://schemas.openxmlformats.org/drawingml/2006/main" noGrp="1"/>
          </p:cNvSpPr>
          <p:nvPr/>
        </p:nvSpPr>
        <p:spPr>
          <a:xfrm xmlns:a="http://schemas.openxmlformats.org/drawingml/2006/main">
            <a:off x="4705350" y="2209800"/>
            <a:ext cx="2838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选择性报告、数据管理不善、署名不当等。未必达到法定失信标准，却会削弱知识可靠性。</a:t>
            </a:r>
          </a:p>
        </p:txBody>
      </p:sp>
      <p:sp>
        <p:nvSpPr>
          <p:cNvPr id="14" name="">
            <a:extLst xmlns:a="http://schemas.openxmlformats.org/drawingml/2006/main">
              <a:ext uri="{FF2B5EF4-FFF2-40B4-BE49-F238E27FC236}">
                <a16:creationId xmlns:a16="http://schemas.microsoft.com/office/drawing/2014/main" id="{D1705FDD-DE0F-4E01-9532-C874CABF6483}"/>
              </a:ext>
            </a:extLst>
          </p:cNvPr>
          <p:cNvSpPr>
            <a:spLocks xmlns:a="http://schemas.openxmlformats.org/drawingml/2006/main" noGrp="1"/>
          </p:cNvSpPr>
          <p:nvPr/>
        </p:nvSpPr>
        <p:spPr>
          <a:xfrm xmlns:a="http://schemas.openxmlformats.org/drawingml/2006/main">
            <a:off x="8229600" y="1676400"/>
            <a:ext cx="32385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CAD5D8"/>
            </a:solidFill>
          </a:ln>
        </p:spPr>
      </p:sp>
      <p:sp>
        <p:nvSpPr>
          <p:cNvPr id="15" name="">
            <a:extLst xmlns:a="http://schemas.openxmlformats.org/drawingml/2006/main">
              <a:ext uri="{FF2B5EF4-FFF2-40B4-BE49-F238E27FC236}">
                <a16:creationId xmlns:a16="http://schemas.microsoft.com/office/drawing/2014/main" id="{BC8BA9B7-E8FA-4C6D-BB08-4F9D9027D18D}"/>
              </a:ext>
            </a:extLst>
          </p:cNvPr>
          <p:cNvSpPr>
            <a:spLocks xmlns:a="http://schemas.openxmlformats.org/drawingml/2006/main" noGrp="1"/>
          </p:cNvSpPr>
          <p:nvPr/>
        </p:nvSpPr>
        <p:spPr>
          <a:xfrm xmlns:a="http://schemas.openxmlformats.org/drawingml/2006/main">
            <a:off x="8229600" y="1676400"/>
            <a:ext cx="76200" cy="1676400"/>
          </a:xfrm>
          <a:prstGeom xmlns:a="http://schemas.openxmlformats.org/drawingml/2006/main" prst="roundRect">
            <a:avLst>
              <a:gd name="adj" fmla="val 50000"/>
            </a:avLst>
          </a:prstGeom>
          <a:solidFill xmlns:a="http://schemas.openxmlformats.org/drawingml/2006/main">
            <a:srgbClr val="9B3F3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E6D7644-BD24-4E65-A11E-4F7FEBC6697A}"/>
              </a:ext>
            </a:extLst>
          </p:cNvPr>
          <p:cNvSpPr>
            <a:spLocks xmlns:a="http://schemas.openxmlformats.org/drawingml/2006/main" noGrp="1"/>
          </p:cNvSpPr>
          <p:nvPr/>
        </p:nvSpPr>
        <p:spPr>
          <a:xfrm xmlns:a="http://schemas.openxmlformats.org/drawingml/2006/main">
            <a:off x="8458200" y="1828800"/>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科研失信</a:t>
            </a:r>
          </a:p>
        </p:txBody>
      </p:sp>
      <p:sp>
        <p:nvSpPr>
          <p:cNvPr id="17" name="">
            <a:extLst xmlns:a="http://schemas.openxmlformats.org/drawingml/2006/main">
              <a:ext uri="{FF2B5EF4-FFF2-40B4-BE49-F238E27FC236}">
                <a16:creationId xmlns:a16="http://schemas.microsoft.com/office/drawing/2014/main" id="{D785535D-A64B-4706-BFBB-B9B55F3EEA64}"/>
              </a:ext>
            </a:extLst>
          </p:cNvPr>
          <p:cNvSpPr>
            <a:spLocks xmlns:a="http://schemas.openxmlformats.org/drawingml/2006/main" noGrp="1"/>
          </p:cNvSpPr>
          <p:nvPr/>
        </p:nvSpPr>
        <p:spPr>
          <a:xfrm xmlns:a="http://schemas.openxmlformats.org/drawingml/2006/main">
            <a:off x="8458200" y="2209800"/>
            <a:ext cx="2838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伪造、篡改、剽窃，以及买卖论文、虚假评审、无实质贡献署名等明确违规行为。</a:t>
            </a:r>
          </a:p>
        </p:txBody>
      </p:sp>
      <p:sp>
        <p:nvSpPr>
          <p:cNvPr id="18" name="">
            <a:extLst xmlns:a="http://schemas.openxmlformats.org/drawingml/2006/main">
              <a:ext uri="{FF2B5EF4-FFF2-40B4-BE49-F238E27FC236}">
                <a16:creationId xmlns:a16="http://schemas.microsoft.com/office/drawing/2014/main" id="{881190DD-C16B-4BFF-A7AB-C9C3C09F1460}"/>
              </a:ext>
            </a:extLst>
          </p:cNvPr>
          <p:cNvSpPr>
            <a:spLocks xmlns:a="http://schemas.openxmlformats.org/drawingml/2006/main" noGrp="1"/>
          </p:cNvSpPr>
          <p:nvPr/>
        </p:nvSpPr>
        <p:spPr>
          <a:xfrm xmlns:a="http://schemas.openxmlformats.org/drawingml/2006/main">
            <a:off x="742950" y="382905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183247"/>
                </a:solidFill>
                <a:latin typeface="Microsoft YaHei"/>
                <a:ea typeface="Microsoft YaHei"/>
                <a:cs typeface="Microsoft YaHei"/>
              </a:defRPr>
            </a:pPr>
            <a:r>
              <a:rPr sz="1800" b="1">
                <a:solidFill>
                  <a:srgbClr val="183247"/>
                </a:solidFill>
                <a:latin typeface="Microsoft YaHei"/>
                <a:ea typeface="Microsoft YaHei"/>
                <a:cs typeface="Microsoft YaHei"/>
              </a:rPr>
              <a:t>判断不能只看“结果错没错”</a:t>
            </a:r>
          </a:p>
        </p:txBody>
      </p:sp>
      <p:sp>
        <p:nvSpPr>
          <p:cNvPr id="19" name="">
            <a:extLst xmlns:a="http://schemas.openxmlformats.org/drawingml/2006/main">
              <a:ext uri="{FF2B5EF4-FFF2-40B4-BE49-F238E27FC236}">
                <a16:creationId xmlns:a16="http://schemas.microsoft.com/office/drawing/2014/main" id="{EAC5A23F-91A4-45D1-8012-8E0AB41F3320}"/>
              </a:ext>
            </a:extLst>
          </p:cNvPr>
          <p:cNvSpPr>
            <a:spLocks xmlns:a="http://schemas.openxmlformats.org/drawingml/2006/main" noGrp="1"/>
          </p:cNvSpPr>
          <p:nvPr/>
        </p:nvSpPr>
        <p:spPr>
          <a:xfrm xmlns:a="http://schemas.openxmlformats.org/drawingml/2006/main">
            <a:off x="742950" y="428625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F2A30"/>
                </a:solidFill>
                <a:latin typeface="Microsoft YaHei"/>
                <a:ea typeface="Microsoft YaHei"/>
                <a:cs typeface="Microsoft YaHei"/>
              </a:defRPr>
            </a:pPr>
            <a:r>
              <a:rPr sz="1500" b="0">
                <a:solidFill>
                  <a:srgbClr val="1F2A30"/>
                </a:solidFill>
                <a:latin typeface="Microsoft YaHei"/>
                <a:ea typeface="Microsoft YaHei"/>
                <a:cs typeface="Microsoft YaHei"/>
              </a:rPr>
              <a:t>还要考察行为是否偏离共同体规范、是否具有故意或重大过失，以及是否破坏科研记录。</a:t>
            </a:r>
          </a:p>
        </p:txBody>
      </p:sp>
      <p:sp>
        <p:nvSpPr>
          <p:cNvPr id="20" name="">
            <a:extLst xmlns:a="http://schemas.openxmlformats.org/drawingml/2006/main">
              <a:ext uri="{FF2B5EF4-FFF2-40B4-BE49-F238E27FC236}">
                <a16:creationId xmlns:a16="http://schemas.microsoft.com/office/drawing/2014/main" id="{86CC81A8-DDF0-496E-A7BA-17B445458FF7}"/>
              </a:ext>
            </a:extLst>
          </p:cNvPr>
          <p:cNvSpPr>
            <a:spLocks xmlns:a="http://schemas.openxmlformats.org/drawingml/2006/main" noGrp="1"/>
          </p:cNvSpPr>
          <p:nvPr/>
        </p:nvSpPr>
        <p:spPr>
          <a:xfrm xmlns:a="http://schemas.openxmlformats.org/drawingml/2006/main">
            <a:off x="742950" y="5353050"/>
            <a:ext cx="10191750" cy="552450"/>
          </a:xfrm>
          <a:prstGeom xmlns:a="http://schemas.openxmlformats.org/drawingml/2006/main" prst="roundRect">
            <a:avLst>
              <a:gd name="adj" fmla="val 13793"/>
            </a:avLst>
          </a:prstGeom>
          <a:solidFill xmlns:a="http://schemas.openxmlformats.org/drawingml/2006/main">
            <a:srgbClr val="EEF3F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627FCAC-8E23-40C3-AB99-4D7B015C1608}"/>
              </a:ext>
            </a:extLst>
          </p:cNvPr>
          <p:cNvSpPr>
            <a:spLocks xmlns:a="http://schemas.openxmlformats.org/drawingml/2006/main" noGrp="1"/>
          </p:cNvSpPr>
          <p:nvPr/>
        </p:nvSpPr>
        <p:spPr>
          <a:xfrm xmlns:a="http://schemas.openxmlformats.org/drawingml/2006/main">
            <a:off x="952500" y="5457825"/>
            <a:ext cx="971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2D6280"/>
                </a:solidFill>
                <a:latin typeface="Microsoft YaHei"/>
                <a:ea typeface="Microsoft YaHei"/>
                <a:cs typeface="Microsoft YaHei"/>
              </a:defRPr>
            </a:pPr>
            <a:r>
              <a:rPr sz="1425" b="1">
                <a:solidFill>
                  <a:srgbClr val="2D6280"/>
                </a:solidFill>
                <a:latin typeface="Microsoft YaHei"/>
                <a:ea typeface="Microsoft YaHei"/>
                <a:cs typeface="Microsoft YaHei"/>
              </a:rPr>
              <a:t>分析重点：越轨行为如何从个体选择，发展为可被组织容忍甚至奖励的稳定模式</a:t>
            </a:r>
          </a:p>
        </p:txBody>
      </p:sp>
    </p:spTree>
    <p:extLst>
      <p:ext uri="{BB962C8B-B14F-4D97-AF65-F5344CB8AC3E}">
        <p14:creationId xmlns:p14="http://schemas.microsoft.com/office/powerpoint/2010/main" val="1859005452"/>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1184769-5264-4C0A-9483-AABB86281BD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1D573C-7B6C-4F23-86F4-348BB544C638}"/>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案例一：“天使粒子”论文的兴衰</a:t>
            </a:r>
          </a:p>
        </p:txBody>
      </p:sp>
      <p:sp>
        <p:nvSpPr>
          <p:cNvPr id="3" name="">
            <a:extLst xmlns:a="http://schemas.openxmlformats.org/drawingml/2006/main">
              <a:ext uri="{FF2B5EF4-FFF2-40B4-BE49-F238E27FC236}">
                <a16:creationId xmlns:a16="http://schemas.microsoft.com/office/drawing/2014/main" id="{4BE6F281-A1C1-4C18-B576-F6FE6C04C7D0}"/>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手性马约拉纳模式主张如何从轰动成果走向编辑撤稿</a:t>
            </a:r>
          </a:p>
        </p:txBody>
      </p:sp>
      <p:sp>
        <p:nvSpPr>
          <p:cNvPr id="4" name="">
            <a:extLst xmlns:a="http://schemas.openxmlformats.org/drawingml/2006/main">
              <a:ext uri="{FF2B5EF4-FFF2-40B4-BE49-F238E27FC236}">
                <a16:creationId xmlns:a16="http://schemas.microsoft.com/office/drawing/2014/main" id="{F66C064A-13F0-4A79-914C-B91A9304ADB7}"/>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03</a:t>
            </a:r>
          </a:p>
        </p:txBody>
      </p:sp>
      <p:sp>
        <p:nvSpPr>
          <p:cNvPr id="5" name="">
            <a:extLst xmlns:a="http://schemas.openxmlformats.org/drawingml/2006/main">
              <a:ext uri="{FF2B5EF4-FFF2-40B4-BE49-F238E27FC236}">
                <a16:creationId xmlns:a16="http://schemas.microsoft.com/office/drawing/2014/main" id="{7A0DA66D-1937-432E-9DF7-44E6E74BA8DE}"/>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6C3E047B-F5B3-405A-AD30-A9D80D271483}"/>
              </a:ext>
            </a:extLst>
          </p:cNvPr>
          <p:cNvSpPr>
            <a:spLocks xmlns:a="http://schemas.openxmlformats.org/drawingml/2006/main" noGrp="1"/>
          </p:cNvSpPr>
          <p:nvPr/>
        </p:nvSpPr>
        <p:spPr>
          <a:xfrm xmlns:a="http://schemas.openxmlformats.org/drawingml/2006/main">
            <a:off x="1952625" y="1676400"/>
            <a:ext cx="0" cy="3924300"/>
          </a:xfrm>
          <a:prstGeom xmlns:a="http://schemas.openxmlformats.org/drawingml/2006/main" prst="line">
            <a:avLst/>
          </a:prstGeom>
          <a:ln xmlns:a="http://schemas.openxmlformats.org/drawingml/2006/main" w="38100">
            <a:solidFill>
              <a:srgbClr val="CAD5D8"/>
            </a:solidFill>
          </a:ln>
        </p:spPr>
      </p:sp>
      <p:sp>
        <p:nvSpPr>
          <p:cNvPr id="7" name="">
            <a:extLst xmlns:a="http://schemas.openxmlformats.org/drawingml/2006/main">
              <a:ext uri="{FF2B5EF4-FFF2-40B4-BE49-F238E27FC236}">
                <a16:creationId xmlns:a16="http://schemas.microsoft.com/office/drawing/2014/main" id="{8C2F4EDD-98A2-488A-B1D1-D95505DF1052}"/>
              </a:ext>
            </a:extLst>
          </p:cNvPr>
          <p:cNvSpPr>
            <a:spLocks xmlns:a="http://schemas.openxmlformats.org/drawingml/2006/main" noGrp="1"/>
          </p:cNvSpPr>
          <p:nvPr/>
        </p:nvSpPr>
        <p:spPr>
          <a:xfrm xmlns:a="http://schemas.openxmlformats.org/drawingml/2006/main">
            <a:off x="1790700" y="1733550"/>
            <a:ext cx="323850" cy="323850"/>
          </a:xfrm>
          <a:prstGeom xmlns:a="http://schemas.openxmlformats.org/drawingml/2006/main" prst="roundRect">
            <a:avLst>
              <a:gd name="adj" fmla="val 23529"/>
            </a:avLst>
          </a:prstGeom>
          <a:solidFill xmlns:a="http://schemas.openxmlformats.org/drawingml/2006/main">
            <a:srgbClr val="478C8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5F5622D-5A46-406A-BEB0-12D1D65E075D}"/>
              </a:ext>
            </a:extLst>
          </p:cNvPr>
          <p:cNvSpPr>
            <a:spLocks xmlns:a="http://schemas.openxmlformats.org/drawingml/2006/main" noGrp="1"/>
          </p:cNvSpPr>
          <p:nvPr/>
        </p:nvSpPr>
        <p:spPr>
          <a:xfrm xmlns:a="http://schemas.openxmlformats.org/drawingml/2006/main">
            <a:off x="685800" y="1647825"/>
            <a:ext cx="914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183247"/>
                </a:solidFill>
                <a:latin typeface="Microsoft YaHei"/>
                <a:ea typeface="Microsoft YaHei"/>
                <a:cs typeface="Microsoft YaHei"/>
              </a:defRPr>
            </a:pPr>
            <a:r>
              <a:rPr sz="1200" b="1">
                <a:solidFill>
                  <a:srgbClr val="183247"/>
                </a:solidFill>
                <a:latin typeface="Microsoft YaHei"/>
                <a:ea typeface="Microsoft YaHei"/>
                <a:cs typeface="Microsoft YaHei"/>
              </a:rPr>
              <a:t>2017.07</a:t>
            </a:r>
          </a:p>
        </p:txBody>
      </p:sp>
      <p:sp>
        <p:nvSpPr>
          <p:cNvPr id="9" name="">
            <a:extLst xmlns:a="http://schemas.openxmlformats.org/drawingml/2006/main">
              <a:ext uri="{FF2B5EF4-FFF2-40B4-BE49-F238E27FC236}">
                <a16:creationId xmlns:a16="http://schemas.microsoft.com/office/drawing/2014/main" id="{62748465-D30D-4D5E-AA29-02E82A66BC28}"/>
              </a:ext>
            </a:extLst>
          </p:cNvPr>
          <p:cNvSpPr>
            <a:spLocks xmlns:a="http://schemas.openxmlformats.org/drawingml/2006/main" noGrp="1"/>
          </p:cNvSpPr>
          <p:nvPr/>
        </p:nvSpPr>
        <p:spPr>
          <a:xfrm xmlns:a="http://schemas.openxmlformats.org/drawingml/2006/main">
            <a:off x="2438400" y="1581150"/>
            <a:ext cx="165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论文发表</a:t>
            </a:r>
          </a:p>
        </p:txBody>
      </p:sp>
      <p:sp>
        <p:nvSpPr>
          <p:cNvPr id="10" name="">
            <a:extLst xmlns:a="http://schemas.openxmlformats.org/drawingml/2006/main">
              <a:ext uri="{FF2B5EF4-FFF2-40B4-BE49-F238E27FC236}">
                <a16:creationId xmlns:a16="http://schemas.microsoft.com/office/drawing/2014/main" id="{02787626-62A7-4E94-92A0-86D634D47C1A}"/>
              </a:ext>
            </a:extLst>
          </p:cNvPr>
          <p:cNvSpPr>
            <a:spLocks xmlns:a="http://schemas.openxmlformats.org/drawingml/2006/main" noGrp="1"/>
          </p:cNvSpPr>
          <p:nvPr/>
        </p:nvSpPr>
        <p:spPr>
          <a:xfrm xmlns:a="http://schemas.openxmlformats.org/drawingml/2006/main">
            <a:off x="4171950" y="1543050"/>
            <a:ext cx="6724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《Science》论文报告量子反常霍尔绝缘体与超导体结构中出现半量子化电导平台，并将其解释为手性马约拉纳模式。</a:t>
            </a:r>
          </a:p>
        </p:txBody>
      </p:sp>
      <p:sp>
        <p:nvSpPr>
          <p:cNvPr id="11" name="">
            <a:extLst xmlns:a="http://schemas.openxmlformats.org/drawingml/2006/main">
              <a:ext uri="{FF2B5EF4-FFF2-40B4-BE49-F238E27FC236}">
                <a16:creationId xmlns:a16="http://schemas.microsoft.com/office/drawing/2014/main" id="{4F00DE27-3949-482A-9EA0-ACFEAA1947BB}"/>
              </a:ext>
            </a:extLst>
          </p:cNvPr>
          <p:cNvSpPr>
            <a:spLocks xmlns:a="http://schemas.openxmlformats.org/drawingml/2006/main" noGrp="1"/>
          </p:cNvSpPr>
          <p:nvPr/>
        </p:nvSpPr>
        <p:spPr>
          <a:xfrm xmlns:a="http://schemas.openxmlformats.org/drawingml/2006/main">
            <a:off x="1790700" y="2781300"/>
            <a:ext cx="323850" cy="323850"/>
          </a:xfrm>
          <a:prstGeom xmlns:a="http://schemas.openxmlformats.org/drawingml/2006/main" prst="roundRect">
            <a:avLst>
              <a:gd name="adj" fmla="val 23529"/>
            </a:avLst>
          </a:prstGeom>
          <a:solidFill xmlns:a="http://schemas.openxmlformats.org/drawingml/2006/main">
            <a:srgbClr val="C49A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979EDB6-A988-436E-8E99-6AFD056AA01A}"/>
              </a:ext>
            </a:extLst>
          </p:cNvPr>
          <p:cNvSpPr>
            <a:spLocks xmlns:a="http://schemas.openxmlformats.org/drawingml/2006/main" noGrp="1"/>
          </p:cNvSpPr>
          <p:nvPr/>
        </p:nvSpPr>
        <p:spPr>
          <a:xfrm xmlns:a="http://schemas.openxmlformats.org/drawingml/2006/main">
            <a:off x="685800" y="2695575"/>
            <a:ext cx="914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183247"/>
                </a:solidFill>
                <a:latin typeface="Microsoft YaHei"/>
                <a:ea typeface="Microsoft YaHei"/>
                <a:cs typeface="Microsoft YaHei"/>
              </a:defRPr>
            </a:pPr>
            <a:r>
              <a:rPr sz="1200" b="1">
                <a:solidFill>
                  <a:srgbClr val="183247"/>
                </a:solidFill>
                <a:latin typeface="Microsoft YaHei"/>
                <a:ea typeface="Microsoft YaHei"/>
                <a:cs typeface="Microsoft YaHei"/>
              </a:rPr>
              <a:t>2020.01</a:t>
            </a:r>
          </a:p>
        </p:txBody>
      </p:sp>
      <p:sp>
        <p:nvSpPr>
          <p:cNvPr id="13" name="">
            <a:extLst xmlns:a="http://schemas.openxmlformats.org/drawingml/2006/main">
              <a:ext uri="{FF2B5EF4-FFF2-40B4-BE49-F238E27FC236}">
                <a16:creationId xmlns:a16="http://schemas.microsoft.com/office/drawing/2014/main" id="{A28A20CA-BD7A-48DA-BA99-739A7639285A}"/>
              </a:ext>
            </a:extLst>
          </p:cNvPr>
          <p:cNvSpPr>
            <a:spLocks xmlns:a="http://schemas.openxmlformats.org/drawingml/2006/main" noGrp="1"/>
          </p:cNvSpPr>
          <p:nvPr/>
        </p:nvSpPr>
        <p:spPr>
          <a:xfrm xmlns:a="http://schemas.openxmlformats.org/drawingml/2006/main">
            <a:off x="2438400" y="2628900"/>
            <a:ext cx="165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独立实验反驳</a:t>
            </a:r>
          </a:p>
        </p:txBody>
      </p:sp>
      <p:sp>
        <p:nvSpPr>
          <p:cNvPr id="14" name="">
            <a:extLst xmlns:a="http://schemas.openxmlformats.org/drawingml/2006/main">
              <a:ext uri="{FF2B5EF4-FFF2-40B4-BE49-F238E27FC236}">
                <a16:creationId xmlns:a16="http://schemas.microsoft.com/office/drawing/2014/main" id="{405D4F6E-16C1-4E8B-BAC4-D802223E78A1}"/>
              </a:ext>
            </a:extLst>
          </p:cNvPr>
          <p:cNvSpPr>
            <a:spLocks xmlns:a="http://schemas.openxmlformats.org/drawingml/2006/main" noGrp="1"/>
          </p:cNvSpPr>
          <p:nvPr/>
        </p:nvSpPr>
        <p:spPr>
          <a:xfrm xmlns:a="http://schemas.openxmlformats.org/drawingml/2006/main">
            <a:off x="4171950" y="2590800"/>
            <a:ext cx="6724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宾州州立大学与维尔茨堡大学团队采用多种器件结构，未观察到相应证据，并指出原实验几何可能造成电流短路。</a:t>
            </a:r>
          </a:p>
        </p:txBody>
      </p:sp>
      <p:sp>
        <p:nvSpPr>
          <p:cNvPr id="15" name="">
            <a:extLst xmlns:a="http://schemas.openxmlformats.org/drawingml/2006/main">
              <a:ext uri="{FF2B5EF4-FFF2-40B4-BE49-F238E27FC236}">
                <a16:creationId xmlns:a16="http://schemas.microsoft.com/office/drawing/2014/main" id="{7FC75A53-5DAD-472D-8885-DF28963E1ECE}"/>
              </a:ext>
            </a:extLst>
          </p:cNvPr>
          <p:cNvSpPr>
            <a:spLocks xmlns:a="http://schemas.openxmlformats.org/drawingml/2006/main" noGrp="1"/>
          </p:cNvSpPr>
          <p:nvPr/>
        </p:nvSpPr>
        <p:spPr>
          <a:xfrm xmlns:a="http://schemas.openxmlformats.org/drawingml/2006/main">
            <a:off x="1790700" y="3829050"/>
            <a:ext cx="323850" cy="323850"/>
          </a:xfrm>
          <a:prstGeom xmlns:a="http://schemas.openxmlformats.org/drawingml/2006/main" prst="roundRect">
            <a:avLst>
              <a:gd name="adj" fmla="val 23529"/>
            </a:avLst>
          </a:prstGeom>
          <a:solidFill xmlns:a="http://schemas.openxmlformats.org/drawingml/2006/main">
            <a:srgbClr val="B45C3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6AEA570-F45E-45C5-AB31-CDE450089937}"/>
              </a:ext>
            </a:extLst>
          </p:cNvPr>
          <p:cNvSpPr>
            <a:spLocks xmlns:a="http://schemas.openxmlformats.org/drawingml/2006/main" noGrp="1"/>
          </p:cNvSpPr>
          <p:nvPr/>
        </p:nvSpPr>
        <p:spPr>
          <a:xfrm xmlns:a="http://schemas.openxmlformats.org/drawingml/2006/main">
            <a:off x="685800" y="3743325"/>
            <a:ext cx="914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183247"/>
                </a:solidFill>
                <a:latin typeface="Microsoft YaHei"/>
                <a:ea typeface="Microsoft YaHei"/>
                <a:cs typeface="Microsoft YaHei"/>
              </a:defRPr>
            </a:pPr>
            <a:r>
              <a:rPr sz="1200" b="1">
                <a:solidFill>
                  <a:srgbClr val="183247"/>
                </a:solidFill>
                <a:latin typeface="Microsoft YaHei"/>
                <a:ea typeface="Microsoft YaHei"/>
                <a:cs typeface="Microsoft YaHei"/>
              </a:rPr>
              <a:t>2021.12</a:t>
            </a:r>
          </a:p>
        </p:txBody>
      </p:sp>
      <p:sp>
        <p:nvSpPr>
          <p:cNvPr id="17" name="">
            <a:extLst xmlns:a="http://schemas.openxmlformats.org/drawingml/2006/main">
              <a:ext uri="{FF2B5EF4-FFF2-40B4-BE49-F238E27FC236}">
                <a16:creationId xmlns:a16="http://schemas.microsoft.com/office/drawing/2014/main" id="{76334133-969A-41D4-BF72-3C712A883012}"/>
              </a:ext>
            </a:extLst>
          </p:cNvPr>
          <p:cNvSpPr>
            <a:spLocks xmlns:a="http://schemas.openxmlformats.org/drawingml/2006/main" noGrp="1"/>
          </p:cNvSpPr>
          <p:nvPr/>
        </p:nvSpPr>
        <p:spPr>
          <a:xfrm xmlns:a="http://schemas.openxmlformats.org/drawingml/2006/main">
            <a:off x="2438400" y="3676650"/>
            <a:ext cx="165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编辑关注</a:t>
            </a:r>
          </a:p>
        </p:txBody>
      </p:sp>
      <p:sp>
        <p:nvSpPr>
          <p:cNvPr id="18" name="">
            <a:extLst xmlns:a="http://schemas.openxmlformats.org/drawingml/2006/main">
              <a:ext uri="{FF2B5EF4-FFF2-40B4-BE49-F238E27FC236}">
                <a16:creationId xmlns:a16="http://schemas.microsoft.com/office/drawing/2014/main" id="{3E068C84-9D8F-4DED-AE55-A3773564B24B}"/>
              </a:ext>
            </a:extLst>
          </p:cNvPr>
          <p:cNvSpPr>
            <a:spLocks xmlns:a="http://schemas.openxmlformats.org/drawingml/2006/main" noGrp="1"/>
          </p:cNvSpPr>
          <p:nvPr/>
        </p:nvSpPr>
        <p:spPr>
          <a:xfrm xmlns:a="http://schemas.openxmlformats.org/drawingml/2006/main">
            <a:off x="4171950" y="3638550"/>
            <a:ext cx="6724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《Science》发布编辑关注声明，提醒读者原始数据及论文结论存在尚未解决的疑问。</a:t>
            </a:r>
          </a:p>
        </p:txBody>
      </p:sp>
      <p:sp>
        <p:nvSpPr>
          <p:cNvPr id="19" name="">
            <a:extLst xmlns:a="http://schemas.openxmlformats.org/drawingml/2006/main">
              <a:ext uri="{FF2B5EF4-FFF2-40B4-BE49-F238E27FC236}">
                <a16:creationId xmlns:a16="http://schemas.microsoft.com/office/drawing/2014/main" id="{8D2AAC23-3CDF-4F0C-BA4D-FC2DB35D8FE0}"/>
              </a:ext>
            </a:extLst>
          </p:cNvPr>
          <p:cNvSpPr>
            <a:spLocks xmlns:a="http://schemas.openxmlformats.org/drawingml/2006/main" noGrp="1"/>
          </p:cNvSpPr>
          <p:nvPr/>
        </p:nvSpPr>
        <p:spPr>
          <a:xfrm xmlns:a="http://schemas.openxmlformats.org/drawingml/2006/main">
            <a:off x="1790700" y="4876800"/>
            <a:ext cx="323850" cy="323850"/>
          </a:xfrm>
          <a:prstGeom xmlns:a="http://schemas.openxmlformats.org/drawingml/2006/main" prst="roundRect">
            <a:avLst>
              <a:gd name="adj" fmla="val 23529"/>
            </a:avLst>
          </a:prstGeom>
          <a:solidFill xmlns:a="http://schemas.openxmlformats.org/drawingml/2006/main">
            <a:srgbClr val="9B3F3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234CA0C-9AB2-42FC-ADDE-EC4EFA895A26}"/>
              </a:ext>
            </a:extLst>
          </p:cNvPr>
          <p:cNvSpPr>
            <a:spLocks xmlns:a="http://schemas.openxmlformats.org/drawingml/2006/main" noGrp="1"/>
          </p:cNvSpPr>
          <p:nvPr/>
        </p:nvSpPr>
        <p:spPr>
          <a:xfrm xmlns:a="http://schemas.openxmlformats.org/drawingml/2006/main">
            <a:off x="685800" y="4791075"/>
            <a:ext cx="914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183247"/>
                </a:solidFill>
                <a:latin typeface="Microsoft YaHei"/>
                <a:ea typeface="Microsoft YaHei"/>
                <a:cs typeface="Microsoft YaHei"/>
              </a:defRPr>
            </a:pPr>
            <a:r>
              <a:rPr sz="1200" b="1">
                <a:solidFill>
                  <a:srgbClr val="183247"/>
                </a:solidFill>
                <a:latin typeface="Microsoft YaHei"/>
                <a:ea typeface="Microsoft YaHei"/>
                <a:cs typeface="Microsoft YaHei"/>
              </a:rPr>
              <a:t>2022.11</a:t>
            </a:r>
          </a:p>
        </p:txBody>
      </p:sp>
      <p:sp>
        <p:nvSpPr>
          <p:cNvPr id="21" name="">
            <a:extLst xmlns:a="http://schemas.openxmlformats.org/drawingml/2006/main">
              <a:ext uri="{FF2B5EF4-FFF2-40B4-BE49-F238E27FC236}">
                <a16:creationId xmlns:a16="http://schemas.microsoft.com/office/drawing/2014/main" id="{3C522396-3FA3-4C0D-8A80-99FAB06A3FE3}"/>
              </a:ext>
            </a:extLst>
          </p:cNvPr>
          <p:cNvSpPr>
            <a:spLocks xmlns:a="http://schemas.openxmlformats.org/drawingml/2006/main" noGrp="1"/>
          </p:cNvSpPr>
          <p:nvPr/>
        </p:nvSpPr>
        <p:spPr>
          <a:xfrm xmlns:a="http://schemas.openxmlformats.org/drawingml/2006/main">
            <a:off x="2438400" y="4724400"/>
            <a:ext cx="165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编辑撤稿</a:t>
            </a:r>
          </a:p>
        </p:txBody>
      </p:sp>
      <p:sp>
        <p:nvSpPr>
          <p:cNvPr id="22" name="">
            <a:extLst xmlns:a="http://schemas.openxmlformats.org/drawingml/2006/main">
              <a:ext uri="{FF2B5EF4-FFF2-40B4-BE49-F238E27FC236}">
                <a16:creationId xmlns:a16="http://schemas.microsoft.com/office/drawing/2014/main" id="{48F5B1C4-F84B-4063-A223-290EFAFD9D8D}"/>
              </a:ext>
            </a:extLst>
          </p:cNvPr>
          <p:cNvSpPr>
            <a:spLocks xmlns:a="http://schemas.openxmlformats.org/drawingml/2006/main" noGrp="1"/>
          </p:cNvSpPr>
          <p:nvPr/>
        </p:nvSpPr>
        <p:spPr>
          <a:xfrm xmlns:a="http://schemas.openxmlformats.org/drawingml/2006/main">
            <a:off x="4171950" y="4686300"/>
            <a:ext cx="6724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编辑指出原始数据来源受到质疑，原始数据与已发表数据存在严重异常和不一致，因此不再信任论文结论。</a:t>
            </a:r>
          </a:p>
        </p:txBody>
      </p:sp>
      <p:sp>
        <p:nvSpPr>
          <p:cNvPr id="23" name="">
            <a:extLst xmlns:a="http://schemas.openxmlformats.org/drawingml/2006/main">
              <a:ext uri="{FF2B5EF4-FFF2-40B4-BE49-F238E27FC236}">
                <a16:creationId xmlns:a16="http://schemas.microsoft.com/office/drawing/2014/main" id="{4ECDDA1D-93E2-4C4C-A1CD-547BD0E9D34B}"/>
              </a:ext>
            </a:extLst>
          </p:cNvPr>
          <p:cNvSpPr>
            <a:spLocks xmlns:a="http://schemas.openxmlformats.org/drawingml/2006/main" noGrp="1"/>
          </p:cNvSpPr>
          <p:nvPr/>
        </p:nvSpPr>
        <p:spPr>
          <a:xfrm xmlns:a="http://schemas.openxmlformats.org/drawingml/2006/main">
            <a:off x="685800" y="5886450"/>
            <a:ext cx="10210800" cy="419100"/>
          </a:xfrm>
          <a:prstGeom xmlns:a="http://schemas.openxmlformats.org/drawingml/2006/main" prst="roundRect">
            <a:avLst>
              <a:gd name="adj" fmla="val 18182"/>
            </a:avLst>
          </a:prstGeom>
          <a:solidFill xmlns:a="http://schemas.openxmlformats.org/drawingml/2006/main">
            <a:srgbClr val="EEF3F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38697E0-7BA7-43AE-AC5F-48F3AC8DECE3}"/>
              </a:ext>
            </a:extLst>
          </p:cNvPr>
          <p:cNvSpPr>
            <a:spLocks xmlns:a="http://schemas.openxmlformats.org/drawingml/2006/main" noGrp="1"/>
          </p:cNvSpPr>
          <p:nvPr/>
        </p:nvSpPr>
        <p:spPr>
          <a:xfrm xmlns:a="http://schemas.openxmlformats.org/drawingml/2006/main">
            <a:off x="876300" y="59436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D6280"/>
                </a:solidFill>
                <a:latin typeface="Microsoft YaHei"/>
                <a:ea typeface="Microsoft YaHei"/>
                <a:cs typeface="Microsoft YaHei"/>
              </a:defRPr>
            </a:pPr>
            <a:r>
              <a:rPr sz="1275" b="1">
                <a:solidFill>
                  <a:srgbClr val="2D6280"/>
                </a:solidFill>
                <a:latin typeface="Microsoft YaHei"/>
                <a:ea typeface="Microsoft YaHei"/>
                <a:cs typeface="Microsoft YaHei"/>
              </a:rPr>
              <a:t>撤稿对象是特定实验结论，并不意味着马约拉纳理论或全部相关研究被否定</a:t>
            </a:r>
          </a:p>
        </p:txBody>
      </p:sp>
    </p:spTree>
    <p:extLst>
      <p:ext uri="{BB962C8B-B14F-4D97-AF65-F5344CB8AC3E}">
        <p14:creationId xmlns:p14="http://schemas.microsoft.com/office/powerpoint/2010/main" val="1119915925"/>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7B2730B-0D91-4CBD-B1C8-78A6D7ED8FD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22AFA5-0EED-464A-B13B-068803D8D552}"/>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“天使粒子”案例的证据争议</a:t>
            </a:r>
          </a:p>
        </p:txBody>
      </p:sp>
      <p:sp>
        <p:nvSpPr>
          <p:cNvPr id="3" name="">
            <a:extLst xmlns:a="http://schemas.openxmlformats.org/drawingml/2006/main">
              <a:ext uri="{FF2B5EF4-FFF2-40B4-BE49-F238E27FC236}">
                <a16:creationId xmlns:a16="http://schemas.microsoft.com/office/drawing/2014/main" id="{360CADEE-F085-47DD-B82B-4C5BE891976D}"/>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争议焦点不只是“没有复现”，而是证据从原始记录到公开图表的可靠性</a:t>
            </a:r>
          </a:p>
        </p:txBody>
      </p:sp>
      <p:sp>
        <p:nvSpPr>
          <p:cNvPr id="4" name="">
            <a:extLst xmlns:a="http://schemas.openxmlformats.org/drawingml/2006/main">
              <a:ext uri="{FF2B5EF4-FFF2-40B4-BE49-F238E27FC236}">
                <a16:creationId xmlns:a16="http://schemas.microsoft.com/office/drawing/2014/main" id="{C4AAAA9F-B8A0-48EC-9AD3-4287EE6EFB99}"/>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04</a:t>
            </a:r>
          </a:p>
        </p:txBody>
      </p:sp>
      <p:sp>
        <p:nvSpPr>
          <p:cNvPr id="5" name="">
            <a:extLst xmlns:a="http://schemas.openxmlformats.org/drawingml/2006/main">
              <a:ext uri="{FF2B5EF4-FFF2-40B4-BE49-F238E27FC236}">
                <a16:creationId xmlns:a16="http://schemas.microsoft.com/office/drawing/2014/main" id="{8FBEEBE7-80B8-4560-8BDE-5ABD8DC11063}"/>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40009358-F878-4D60-A552-0708A57E2453}"/>
              </a:ext>
            </a:extLst>
          </p:cNvPr>
          <p:cNvSpPr>
            <a:spLocks xmlns:a="http://schemas.openxmlformats.org/drawingml/2006/main" noGrp="1"/>
          </p:cNvSpPr>
          <p:nvPr/>
        </p:nvSpPr>
        <p:spPr>
          <a:xfrm xmlns:a="http://schemas.openxmlformats.org/drawingml/2006/main">
            <a:off x="666750" y="1676400"/>
            <a:ext cx="32385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AD5D8"/>
            </a:solidFill>
          </a:ln>
        </p:spPr>
      </p:sp>
      <p:sp>
        <p:nvSpPr>
          <p:cNvPr id="7" name="">
            <a:extLst xmlns:a="http://schemas.openxmlformats.org/drawingml/2006/main">
              <a:ext uri="{FF2B5EF4-FFF2-40B4-BE49-F238E27FC236}">
                <a16:creationId xmlns:a16="http://schemas.microsoft.com/office/drawing/2014/main" id="{E2FF7010-D056-42F3-BE7C-11D942A3642F}"/>
              </a:ext>
            </a:extLst>
          </p:cNvPr>
          <p:cNvSpPr>
            <a:spLocks xmlns:a="http://schemas.openxmlformats.org/drawingml/2006/main" noGrp="1"/>
          </p:cNvSpPr>
          <p:nvPr/>
        </p:nvSpPr>
        <p:spPr>
          <a:xfrm xmlns:a="http://schemas.openxmlformats.org/drawingml/2006/main">
            <a:off x="666750" y="1676400"/>
            <a:ext cx="3238500" cy="95250"/>
          </a:xfrm>
          <a:prstGeom xmlns:a="http://schemas.openxmlformats.org/drawingml/2006/main" prst="roundRect">
            <a:avLst>
              <a:gd name="adj" fmla="val 50000"/>
            </a:avLst>
          </a:prstGeom>
          <a:solidFill xmlns:a="http://schemas.openxmlformats.org/drawingml/2006/main">
            <a:srgbClr val="478C8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2EAF28-B276-440F-9B20-5DC114748EDC}"/>
              </a:ext>
            </a:extLst>
          </p:cNvPr>
          <p:cNvSpPr>
            <a:spLocks xmlns:a="http://schemas.openxmlformats.org/drawingml/2006/main" noGrp="1"/>
          </p:cNvSpPr>
          <p:nvPr/>
        </p:nvSpPr>
        <p:spPr>
          <a:xfrm xmlns:a="http://schemas.openxmlformats.org/drawingml/2006/main">
            <a:off x="895350" y="19050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3247"/>
                </a:solidFill>
                <a:latin typeface="Microsoft YaHei"/>
                <a:ea typeface="Microsoft YaHei"/>
                <a:cs typeface="Microsoft YaHei"/>
              </a:defRPr>
            </a:pPr>
            <a:r>
              <a:rPr sz="1575" b="1">
                <a:solidFill>
                  <a:srgbClr val="183247"/>
                </a:solidFill>
                <a:latin typeface="Microsoft YaHei"/>
                <a:ea typeface="Microsoft YaHei"/>
                <a:cs typeface="Microsoft YaHei"/>
              </a:rPr>
              <a:t>论文中的关键证据</a:t>
            </a:r>
          </a:p>
        </p:txBody>
      </p:sp>
      <p:sp>
        <p:nvSpPr>
          <p:cNvPr id="9" name="">
            <a:extLst xmlns:a="http://schemas.openxmlformats.org/drawingml/2006/main">
              <a:ext uri="{FF2B5EF4-FFF2-40B4-BE49-F238E27FC236}">
                <a16:creationId xmlns:a16="http://schemas.microsoft.com/office/drawing/2014/main" id="{3BF8E6AA-38B1-46BE-B14B-2E6D3454D2DF}"/>
              </a:ext>
            </a:extLst>
          </p:cNvPr>
          <p:cNvSpPr>
            <a:spLocks xmlns:a="http://schemas.openxmlformats.org/drawingml/2006/main" noGrp="1"/>
          </p:cNvSpPr>
          <p:nvPr/>
        </p:nvSpPr>
        <p:spPr>
          <a:xfrm xmlns:a="http://schemas.openxmlformats.org/drawingml/2006/main">
            <a:off x="933450" y="2571750"/>
            <a:ext cx="27051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磁场扫描中出现接近 0.5e²/h 的电导平台。作者将平台位置与磁化反转联系起来，认为它构成手性马约拉纳模式的特征信号。</a:t>
            </a:r>
          </a:p>
        </p:txBody>
      </p:sp>
      <p:sp>
        <p:nvSpPr>
          <p:cNvPr id="10" name="">
            <a:extLst xmlns:a="http://schemas.openxmlformats.org/drawingml/2006/main">
              <a:ext uri="{FF2B5EF4-FFF2-40B4-BE49-F238E27FC236}">
                <a16:creationId xmlns:a16="http://schemas.microsoft.com/office/drawing/2014/main" id="{3421657E-1A90-46C5-B834-325447B17E8B}"/>
              </a:ext>
            </a:extLst>
          </p:cNvPr>
          <p:cNvSpPr>
            <a:spLocks xmlns:a="http://schemas.openxmlformats.org/drawingml/2006/main" noGrp="1"/>
          </p:cNvSpPr>
          <p:nvPr/>
        </p:nvSpPr>
        <p:spPr>
          <a:xfrm xmlns:a="http://schemas.openxmlformats.org/drawingml/2006/main">
            <a:off x="3905250" y="3238500"/>
            <a:ext cx="381000" cy="0"/>
          </a:xfrm>
          <a:prstGeom xmlns:a="http://schemas.openxmlformats.org/drawingml/2006/main" prst="line">
            <a:avLst/>
          </a:prstGeom>
          <a:ln xmlns:a="http://schemas.openxmlformats.org/drawingml/2006/main" w="28575">
            <a:solidFill>
              <a:srgbClr val="CAD5D8"/>
            </a:solidFill>
          </a:ln>
        </p:spPr>
      </p:sp>
      <p:sp>
        <p:nvSpPr>
          <p:cNvPr id="11" name="">
            <a:extLst xmlns:a="http://schemas.openxmlformats.org/drawingml/2006/main">
              <a:ext uri="{FF2B5EF4-FFF2-40B4-BE49-F238E27FC236}">
                <a16:creationId xmlns:a16="http://schemas.microsoft.com/office/drawing/2014/main" id="{D778D4EA-3DDB-4DEB-A28E-928842EF9A33}"/>
              </a:ext>
            </a:extLst>
          </p:cNvPr>
          <p:cNvSpPr>
            <a:spLocks xmlns:a="http://schemas.openxmlformats.org/drawingml/2006/main" noGrp="1"/>
          </p:cNvSpPr>
          <p:nvPr/>
        </p:nvSpPr>
        <p:spPr>
          <a:xfrm xmlns:a="http://schemas.openxmlformats.org/drawingml/2006/main">
            <a:off x="4286250" y="1676400"/>
            <a:ext cx="32385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AD5D8"/>
            </a:solidFill>
          </a:ln>
        </p:spPr>
      </p:sp>
      <p:sp>
        <p:nvSpPr>
          <p:cNvPr id="12" name="">
            <a:extLst xmlns:a="http://schemas.openxmlformats.org/drawingml/2006/main">
              <a:ext uri="{FF2B5EF4-FFF2-40B4-BE49-F238E27FC236}">
                <a16:creationId xmlns:a16="http://schemas.microsoft.com/office/drawing/2014/main" id="{BB95F61B-000A-4761-8910-F53E06077AD9}"/>
              </a:ext>
            </a:extLst>
          </p:cNvPr>
          <p:cNvSpPr>
            <a:spLocks xmlns:a="http://schemas.openxmlformats.org/drawingml/2006/main" noGrp="1"/>
          </p:cNvSpPr>
          <p:nvPr/>
        </p:nvSpPr>
        <p:spPr>
          <a:xfrm xmlns:a="http://schemas.openxmlformats.org/drawingml/2006/main">
            <a:off x="4286250" y="1676400"/>
            <a:ext cx="3238500" cy="95250"/>
          </a:xfrm>
          <a:prstGeom xmlns:a="http://schemas.openxmlformats.org/drawingml/2006/main" prst="roundRect">
            <a:avLst>
              <a:gd name="adj" fmla="val 50000"/>
            </a:avLst>
          </a:prstGeom>
          <a:solidFill xmlns:a="http://schemas.openxmlformats.org/drawingml/2006/main">
            <a:srgbClr val="B45C3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EF96DD-9CCF-44C4-A592-340C3CD55259}"/>
              </a:ext>
            </a:extLst>
          </p:cNvPr>
          <p:cNvSpPr>
            <a:spLocks xmlns:a="http://schemas.openxmlformats.org/drawingml/2006/main" noGrp="1"/>
          </p:cNvSpPr>
          <p:nvPr/>
        </p:nvSpPr>
        <p:spPr>
          <a:xfrm xmlns:a="http://schemas.openxmlformats.org/drawingml/2006/main">
            <a:off x="4514850" y="19050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3247"/>
                </a:solidFill>
                <a:latin typeface="Microsoft YaHei"/>
                <a:ea typeface="Microsoft YaHei"/>
                <a:cs typeface="Microsoft YaHei"/>
              </a:defRPr>
            </a:pPr>
            <a:r>
              <a:rPr sz="1575" b="1">
                <a:solidFill>
                  <a:srgbClr val="183247"/>
                </a:solidFill>
                <a:latin typeface="Microsoft YaHei"/>
                <a:ea typeface="Microsoft YaHei"/>
                <a:cs typeface="Microsoft YaHei"/>
              </a:rPr>
              <a:t>后续检验发现的问题</a:t>
            </a:r>
          </a:p>
        </p:txBody>
      </p:sp>
      <p:sp>
        <p:nvSpPr>
          <p:cNvPr id="14" name="">
            <a:extLst xmlns:a="http://schemas.openxmlformats.org/drawingml/2006/main">
              <a:ext uri="{FF2B5EF4-FFF2-40B4-BE49-F238E27FC236}">
                <a16:creationId xmlns:a16="http://schemas.microsoft.com/office/drawing/2014/main" id="{CE61909D-3352-4795-8D05-339EF8E7847D}"/>
              </a:ext>
            </a:extLst>
          </p:cNvPr>
          <p:cNvSpPr>
            <a:spLocks xmlns:a="http://schemas.openxmlformats.org/drawingml/2006/main" noGrp="1"/>
          </p:cNvSpPr>
          <p:nvPr/>
        </p:nvSpPr>
        <p:spPr>
          <a:xfrm xmlns:a="http://schemas.openxmlformats.org/drawingml/2006/main">
            <a:off x="4552950" y="2571750"/>
            <a:ext cx="27051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独立团队未能复现实验结论，并提出短路等替代解释。向作者索取数据后，原始数据的来源受到质疑，原始数据与发表数据之间出现严重异常和不一致。</a:t>
            </a:r>
          </a:p>
        </p:txBody>
      </p:sp>
      <p:sp>
        <p:nvSpPr>
          <p:cNvPr id="15" name="">
            <a:extLst xmlns:a="http://schemas.openxmlformats.org/drawingml/2006/main">
              <a:ext uri="{FF2B5EF4-FFF2-40B4-BE49-F238E27FC236}">
                <a16:creationId xmlns:a16="http://schemas.microsoft.com/office/drawing/2014/main" id="{A23BE39D-00B9-4E81-86C3-979D1B830676}"/>
              </a:ext>
            </a:extLst>
          </p:cNvPr>
          <p:cNvSpPr>
            <a:spLocks xmlns:a="http://schemas.openxmlformats.org/drawingml/2006/main" noGrp="1"/>
          </p:cNvSpPr>
          <p:nvPr/>
        </p:nvSpPr>
        <p:spPr>
          <a:xfrm xmlns:a="http://schemas.openxmlformats.org/drawingml/2006/main">
            <a:off x="7524750" y="3238500"/>
            <a:ext cx="381000" cy="0"/>
          </a:xfrm>
          <a:prstGeom xmlns:a="http://schemas.openxmlformats.org/drawingml/2006/main" prst="line">
            <a:avLst/>
          </a:prstGeom>
          <a:ln xmlns:a="http://schemas.openxmlformats.org/drawingml/2006/main" w="28575">
            <a:solidFill>
              <a:srgbClr val="CAD5D8"/>
            </a:solidFill>
          </a:ln>
        </p:spPr>
      </p:sp>
      <p:sp>
        <p:nvSpPr>
          <p:cNvPr id="16" name="">
            <a:extLst xmlns:a="http://schemas.openxmlformats.org/drawingml/2006/main">
              <a:ext uri="{FF2B5EF4-FFF2-40B4-BE49-F238E27FC236}">
                <a16:creationId xmlns:a16="http://schemas.microsoft.com/office/drawing/2014/main" id="{E7E7D3EC-B14E-4EE5-B740-044E51B830DC}"/>
              </a:ext>
            </a:extLst>
          </p:cNvPr>
          <p:cNvSpPr>
            <a:spLocks xmlns:a="http://schemas.openxmlformats.org/drawingml/2006/main" noGrp="1"/>
          </p:cNvSpPr>
          <p:nvPr/>
        </p:nvSpPr>
        <p:spPr>
          <a:xfrm xmlns:a="http://schemas.openxmlformats.org/drawingml/2006/main">
            <a:off x="7905750" y="1676400"/>
            <a:ext cx="32385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AD5D8"/>
            </a:solidFill>
          </a:ln>
        </p:spPr>
      </p:sp>
      <p:sp>
        <p:nvSpPr>
          <p:cNvPr id="17" name="">
            <a:extLst xmlns:a="http://schemas.openxmlformats.org/drawingml/2006/main">
              <a:ext uri="{FF2B5EF4-FFF2-40B4-BE49-F238E27FC236}">
                <a16:creationId xmlns:a16="http://schemas.microsoft.com/office/drawing/2014/main" id="{79EBC7DF-95C4-4FE1-96F1-A735BC5D5A4A}"/>
              </a:ext>
            </a:extLst>
          </p:cNvPr>
          <p:cNvSpPr>
            <a:spLocks xmlns:a="http://schemas.openxmlformats.org/drawingml/2006/main" noGrp="1"/>
          </p:cNvSpPr>
          <p:nvPr/>
        </p:nvSpPr>
        <p:spPr>
          <a:xfrm xmlns:a="http://schemas.openxmlformats.org/drawingml/2006/main">
            <a:off x="7905750" y="1676400"/>
            <a:ext cx="3238500" cy="95250"/>
          </a:xfrm>
          <a:prstGeom xmlns:a="http://schemas.openxmlformats.org/drawingml/2006/main" prst="roundRect">
            <a:avLst>
              <a:gd name="adj" fmla="val 50000"/>
            </a:avLst>
          </a:prstGeom>
          <a:solidFill xmlns:a="http://schemas.openxmlformats.org/drawingml/2006/main">
            <a:srgbClr val="18324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BAB5E42-7FCC-4C0A-944E-BC573B74AEE4}"/>
              </a:ext>
            </a:extLst>
          </p:cNvPr>
          <p:cNvSpPr>
            <a:spLocks xmlns:a="http://schemas.openxmlformats.org/drawingml/2006/main" noGrp="1"/>
          </p:cNvSpPr>
          <p:nvPr/>
        </p:nvSpPr>
        <p:spPr>
          <a:xfrm xmlns:a="http://schemas.openxmlformats.org/drawingml/2006/main">
            <a:off x="8134350" y="19050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3247"/>
                </a:solidFill>
                <a:latin typeface="Microsoft YaHei"/>
                <a:ea typeface="Microsoft YaHei"/>
                <a:cs typeface="Microsoft YaHei"/>
              </a:defRPr>
            </a:pPr>
            <a:r>
              <a:rPr sz="1575" b="1">
                <a:solidFill>
                  <a:srgbClr val="183247"/>
                </a:solidFill>
                <a:latin typeface="Microsoft YaHei"/>
                <a:ea typeface="Microsoft YaHei"/>
                <a:cs typeface="Microsoft YaHei"/>
              </a:rPr>
              <a:t>证据意义的变化</a:t>
            </a:r>
          </a:p>
        </p:txBody>
      </p:sp>
      <p:sp>
        <p:nvSpPr>
          <p:cNvPr id="19" name="">
            <a:extLst xmlns:a="http://schemas.openxmlformats.org/drawingml/2006/main">
              <a:ext uri="{FF2B5EF4-FFF2-40B4-BE49-F238E27FC236}">
                <a16:creationId xmlns:a16="http://schemas.microsoft.com/office/drawing/2014/main" id="{C7A93E89-2D19-4E9F-92F3-5F733AAD3C62}"/>
              </a:ext>
            </a:extLst>
          </p:cNvPr>
          <p:cNvSpPr>
            <a:spLocks xmlns:a="http://schemas.openxmlformats.org/drawingml/2006/main" noGrp="1"/>
          </p:cNvSpPr>
          <p:nvPr/>
        </p:nvSpPr>
        <p:spPr>
          <a:xfrm xmlns:a="http://schemas.openxmlformats.org/drawingml/2006/main">
            <a:off x="8172450" y="2571750"/>
            <a:ext cx="27051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半量子化平台不再能排除其他机制。数据来源无法稳定追溯时，同行也无法检验筛选区间、处理步骤和图表是否忠实代表实验记录。</a:t>
            </a:r>
          </a:p>
        </p:txBody>
      </p:sp>
      <p:sp>
        <p:nvSpPr>
          <p:cNvPr id="20" name="">
            <a:extLst xmlns:a="http://schemas.openxmlformats.org/drawingml/2006/main">
              <a:ext uri="{FF2B5EF4-FFF2-40B4-BE49-F238E27FC236}">
                <a16:creationId xmlns:a16="http://schemas.microsoft.com/office/drawing/2014/main" id="{77964643-2A9D-47BA-864D-DC0B093DEBE1}"/>
              </a:ext>
            </a:extLst>
          </p:cNvPr>
          <p:cNvSpPr>
            <a:spLocks xmlns:a="http://schemas.openxmlformats.org/drawingml/2006/main" noGrp="1"/>
          </p:cNvSpPr>
          <p:nvPr/>
        </p:nvSpPr>
        <p:spPr>
          <a:xfrm xmlns:a="http://schemas.openxmlformats.org/drawingml/2006/main">
            <a:off x="685800" y="52006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B45C3E"/>
                </a:solidFill>
                <a:latin typeface="Microsoft YaHei"/>
                <a:ea typeface="Microsoft YaHei"/>
                <a:cs typeface="Microsoft YaHei"/>
              </a:defRPr>
            </a:pPr>
            <a:r>
              <a:rPr sz="1425" b="1">
                <a:solidFill>
                  <a:srgbClr val="B45C3E"/>
                </a:solidFill>
                <a:latin typeface="Microsoft YaHei"/>
                <a:ea typeface="Microsoft YaHei"/>
                <a:cs typeface="Microsoft YaHei"/>
              </a:rPr>
              <a:t>必须区分</a:t>
            </a:r>
          </a:p>
        </p:txBody>
      </p:sp>
      <p:sp>
        <p:nvSpPr>
          <p:cNvPr id="21" name="">
            <a:extLst xmlns:a="http://schemas.openxmlformats.org/drawingml/2006/main">
              <a:ext uri="{FF2B5EF4-FFF2-40B4-BE49-F238E27FC236}">
                <a16:creationId xmlns:a16="http://schemas.microsoft.com/office/drawing/2014/main" id="{983E2941-0F84-4890-89F4-76EB094EAF8B}"/>
              </a:ext>
            </a:extLst>
          </p:cNvPr>
          <p:cNvSpPr>
            <a:spLocks xmlns:a="http://schemas.openxmlformats.org/drawingml/2006/main" noGrp="1"/>
          </p:cNvSpPr>
          <p:nvPr/>
        </p:nvSpPr>
        <p:spPr>
          <a:xfrm xmlns:a="http://schemas.openxmlformats.org/drawingml/2006/main">
            <a:off x="2095500" y="5124450"/>
            <a:ext cx="8858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F2A30"/>
                </a:solidFill>
                <a:latin typeface="Microsoft YaHei"/>
                <a:ea typeface="Microsoft YaHei"/>
                <a:cs typeface="Microsoft YaHei"/>
              </a:defRPr>
            </a:pPr>
            <a:r>
              <a:rPr sz="1350" b="0">
                <a:solidFill>
                  <a:srgbClr val="1F2A30"/>
                </a:solidFill>
                <a:latin typeface="Microsoft YaHei"/>
                <a:ea typeface="Microsoft YaHei"/>
                <a:cs typeface="Microsoft YaHei"/>
              </a:rPr>
              <a:t>复现失败本身不能证明科研不端。原始数据来源不清、处理不可追溯和公开图表失真，才使问题从学术争议进入科研诚信审查。</a:t>
            </a:r>
          </a:p>
        </p:txBody>
      </p:sp>
    </p:spTree>
    <p:extLst>
      <p:ext uri="{BB962C8B-B14F-4D97-AF65-F5344CB8AC3E}">
        <p14:creationId xmlns:p14="http://schemas.microsoft.com/office/powerpoint/2010/main" val="2133363621"/>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4D61A53-D17B-44DF-84D6-95DB00B243A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ACF595-E8BC-4D83-A5CA-499FB3B8CB7D}"/>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“天使粒子”案例的成因剖析</a:t>
            </a:r>
          </a:p>
        </p:txBody>
      </p:sp>
      <p:sp>
        <p:nvSpPr>
          <p:cNvPr id="3" name="">
            <a:extLst xmlns:a="http://schemas.openxmlformats.org/drawingml/2006/main">
              <a:ext uri="{FF2B5EF4-FFF2-40B4-BE49-F238E27FC236}">
                <a16:creationId xmlns:a16="http://schemas.microsoft.com/office/drawing/2014/main" id="{C3A37A90-5ABD-4641-A8CE-B6845977B613}"/>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理论预期、数据选择与竞争性制度在同一证据链中相互作用</a:t>
            </a:r>
          </a:p>
        </p:txBody>
      </p:sp>
      <p:sp>
        <p:nvSpPr>
          <p:cNvPr id="4" name="">
            <a:extLst xmlns:a="http://schemas.openxmlformats.org/drawingml/2006/main">
              <a:ext uri="{FF2B5EF4-FFF2-40B4-BE49-F238E27FC236}">
                <a16:creationId xmlns:a16="http://schemas.microsoft.com/office/drawing/2014/main" id="{FE7F6A81-ECF7-4EE7-9322-A317EC72A3C9}"/>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05</a:t>
            </a:r>
          </a:p>
        </p:txBody>
      </p:sp>
      <p:sp>
        <p:nvSpPr>
          <p:cNvPr id="5" name="">
            <a:extLst xmlns:a="http://schemas.openxmlformats.org/drawingml/2006/main">
              <a:ext uri="{FF2B5EF4-FFF2-40B4-BE49-F238E27FC236}">
                <a16:creationId xmlns:a16="http://schemas.microsoft.com/office/drawing/2014/main" id="{212960C7-448B-4C35-9E12-58C0AC04EAC1}"/>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6721EB52-1109-4FF9-8BD0-1AB668F48F8A}"/>
              </a:ext>
            </a:extLst>
          </p:cNvPr>
          <p:cNvSpPr>
            <a:spLocks xmlns:a="http://schemas.openxmlformats.org/drawingml/2006/main" noGrp="1"/>
          </p:cNvSpPr>
          <p:nvPr/>
        </p:nvSpPr>
        <p:spPr>
          <a:xfrm xmlns:a="http://schemas.openxmlformats.org/drawingml/2006/main">
            <a:off x="723900" y="15811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478C88"/>
                </a:solidFill>
                <a:latin typeface="Microsoft YaHei"/>
                <a:ea typeface="Microsoft YaHei"/>
                <a:cs typeface="Microsoft YaHei"/>
              </a:defRPr>
            </a:pPr>
            <a:r>
              <a:rPr sz="1050" b="1">
                <a:solidFill>
                  <a:srgbClr val="478C88"/>
                </a:solidFill>
                <a:latin typeface="Microsoft YaHei"/>
                <a:ea typeface="Microsoft YaHei"/>
                <a:cs typeface="Microsoft YaHei"/>
              </a:rPr>
              <a:t>认识论层面</a:t>
            </a:r>
          </a:p>
        </p:txBody>
      </p:sp>
      <p:sp>
        <p:nvSpPr>
          <p:cNvPr id="7" name="">
            <a:extLst xmlns:a="http://schemas.openxmlformats.org/drawingml/2006/main">
              <a:ext uri="{FF2B5EF4-FFF2-40B4-BE49-F238E27FC236}">
                <a16:creationId xmlns:a16="http://schemas.microsoft.com/office/drawing/2014/main" id="{9C714F9C-5B22-4AF4-BE14-2B5E22A439DB}"/>
              </a:ext>
            </a:extLst>
          </p:cNvPr>
          <p:cNvSpPr>
            <a:spLocks xmlns:a="http://schemas.openxmlformats.org/drawingml/2006/main" noGrp="1"/>
          </p:cNvSpPr>
          <p:nvPr/>
        </p:nvSpPr>
        <p:spPr>
          <a:xfrm xmlns:a="http://schemas.openxmlformats.org/drawingml/2006/main">
            <a:off x="723900" y="1943100"/>
            <a:ext cx="49530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AD5D8"/>
            </a:solidFill>
          </a:ln>
        </p:spPr>
      </p:sp>
      <p:sp>
        <p:nvSpPr>
          <p:cNvPr id="8" name="">
            <a:extLst xmlns:a="http://schemas.openxmlformats.org/drawingml/2006/main">
              <a:ext uri="{FF2B5EF4-FFF2-40B4-BE49-F238E27FC236}">
                <a16:creationId xmlns:a16="http://schemas.microsoft.com/office/drawing/2014/main" id="{9F72E966-E510-401E-AB58-7403FD903495}"/>
              </a:ext>
            </a:extLst>
          </p:cNvPr>
          <p:cNvSpPr>
            <a:spLocks xmlns:a="http://schemas.openxmlformats.org/drawingml/2006/main" noGrp="1"/>
          </p:cNvSpPr>
          <p:nvPr/>
        </p:nvSpPr>
        <p:spPr>
          <a:xfrm xmlns:a="http://schemas.openxmlformats.org/drawingml/2006/main">
            <a:off x="723900" y="1943100"/>
            <a:ext cx="76200" cy="1200150"/>
          </a:xfrm>
          <a:prstGeom xmlns:a="http://schemas.openxmlformats.org/drawingml/2006/main" prst="roundRect">
            <a:avLst>
              <a:gd name="adj" fmla="val 50000"/>
            </a:avLst>
          </a:prstGeom>
          <a:solidFill xmlns:a="http://schemas.openxmlformats.org/drawingml/2006/main">
            <a:srgbClr val="478C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6B6DE2-0635-45B1-8613-8C4CA3B5F3C6}"/>
              </a:ext>
            </a:extLst>
          </p:cNvPr>
          <p:cNvSpPr>
            <a:spLocks xmlns:a="http://schemas.openxmlformats.org/drawingml/2006/main" noGrp="1"/>
          </p:cNvSpPr>
          <p:nvPr/>
        </p:nvSpPr>
        <p:spPr>
          <a:xfrm xmlns:a="http://schemas.openxmlformats.org/drawingml/2006/main">
            <a:off x="952500" y="2095500"/>
            <a:ext cx="455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理论负载的观察</a:t>
            </a:r>
          </a:p>
        </p:txBody>
      </p:sp>
      <p:sp>
        <p:nvSpPr>
          <p:cNvPr id="10" name="">
            <a:extLst xmlns:a="http://schemas.openxmlformats.org/drawingml/2006/main">
              <a:ext uri="{FF2B5EF4-FFF2-40B4-BE49-F238E27FC236}">
                <a16:creationId xmlns:a16="http://schemas.microsoft.com/office/drawing/2014/main" id="{B90C9B44-6A47-453F-92E0-DE94817F49BA}"/>
              </a:ext>
            </a:extLst>
          </p:cNvPr>
          <p:cNvSpPr>
            <a:spLocks xmlns:a="http://schemas.openxmlformats.org/drawingml/2006/main" noGrp="1"/>
          </p:cNvSpPr>
          <p:nvPr/>
        </p:nvSpPr>
        <p:spPr>
          <a:xfrm xmlns:a="http://schemas.openxmlformats.org/drawingml/2006/main">
            <a:off x="952500" y="2476500"/>
            <a:ext cx="4552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研究者并非直接“看见”粒子，而是依据电导平台推断准粒子模式。相同信号可能对应多种物理机制。</a:t>
            </a:r>
          </a:p>
        </p:txBody>
      </p:sp>
      <p:sp>
        <p:nvSpPr>
          <p:cNvPr id="11" name="">
            <a:extLst xmlns:a="http://schemas.openxmlformats.org/drawingml/2006/main">
              <a:ext uri="{FF2B5EF4-FFF2-40B4-BE49-F238E27FC236}">
                <a16:creationId xmlns:a16="http://schemas.microsoft.com/office/drawing/2014/main" id="{47B30E0C-9DCB-45D2-B573-814FA47F6006}"/>
              </a:ext>
            </a:extLst>
          </p:cNvPr>
          <p:cNvSpPr>
            <a:spLocks xmlns:a="http://schemas.openxmlformats.org/drawingml/2006/main" noGrp="1"/>
          </p:cNvSpPr>
          <p:nvPr/>
        </p:nvSpPr>
        <p:spPr>
          <a:xfrm xmlns:a="http://schemas.openxmlformats.org/drawingml/2006/main">
            <a:off x="723900" y="3333750"/>
            <a:ext cx="49530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AD5D8"/>
            </a:solidFill>
          </a:ln>
        </p:spPr>
      </p:sp>
      <p:sp>
        <p:nvSpPr>
          <p:cNvPr id="12" name="">
            <a:extLst xmlns:a="http://schemas.openxmlformats.org/drawingml/2006/main">
              <a:ext uri="{FF2B5EF4-FFF2-40B4-BE49-F238E27FC236}">
                <a16:creationId xmlns:a16="http://schemas.microsoft.com/office/drawing/2014/main" id="{76ADFBBF-7C0A-4DD6-9E11-F6D284D581BC}"/>
              </a:ext>
            </a:extLst>
          </p:cNvPr>
          <p:cNvSpPr>
            <a:spLocks xmlns:a="http://schemas.openxmlformats.org/drawingml/2006/main" noGrp="1"/>
          </p:cNvSpPr>
          <p:nvPr/>
        </p:nvSpPr>
        <p:spPr>
          <a:xfrm xmlns:a="http://schemas.openxmlformats.org/drawingml/2006/main">
            <a:off x="723900" y="3333750"/>
            <a:ext cx="76200" cy="1200150"/>
          </a:xfrm>
          <a:prstGeom xmlns:a="http://schemas.openxmlformats.org/drawingml/2006/main" prst="roundRect">
            <a:avLst>
              <a:gd name="adj" fmla="val 50000"/>
            </a:avLst>
          </a:prstGeom>
          <a:solidFill xmlns:a="http://schemas.openxmlformats.org/drawingml/2006/main">
            <a:srgbClr val="C49A4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5394134-5F71-4027-94FA-E3AA320B11EE}"/>
              </a:ext>
            </a:extLst>
          </p:cNvPr>
          <p:cNvSpPr>
            <a:spLocks xmlns:a="http://schemas.openxmlformats.org/drawingml/2006/main" noGrp="1"/>
          </p:cNvSpPr>
          <p:nvPr/>
        </p:nvSpPr>
        <p:spPr>
          <a:xfrm xmlns:a="http://schemas.openxmlformats.org/drawingml/2006/main">
            <a:off x="952500" y="3486150"/>
            <a:ext cx="455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确认偏误与区间选择</a:t>
            </a:r>
          </a:p>
        </p:txBody>
      </p:sp>
      <p:sp>
        <p:nvSpPr>
          <p:cNvPr id="14" name="">
            <a:extLst xmlns:a="http://schemas.openxmlformats.org/drawingml/2006/main">
              <a:ext uri="{FF2B5EF4-FFF2-40B4-BE49-F238E27FC236}">
                <a16:creationId xmlns:a16="http://schemas.microsoft.com/office/drawing/2014/main" id="{9E4AE5A5-25ED-4FF0-BD94-8F806768875B}"/>
              </a:ext>
            </a:extLst>
          </p:cNvPr>
          <p:cNvSpPr>
            <a:spLocks xmlns:a="http://schemas.openxmlformats.org/drawingml/2006/main" noGrp="1"/>
          </p:cNvSpPr>
          <p:nvPr/>
        </p:nvSpPr>
        <p:spPr>
          <a:xfrm xmlns:a="http://schemas.openxmlformats.org/drawingml/2006/main">
            <a:off x="952500" y="3867150"/>
            <a:ext cx="4552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555"/>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当 0.5e²/h 已成为预期标志时，研究者容易重视符合理论的扫描区间，而弱化全参数范围中的反例。</a:t>
            </a:r>
          </a:p>
        </p:txBody>
      </p:sp>
      <p:sp>
        <p:nvSpPr>
          <p:cNvPr id="15" name="">
            <a:extLst xmlns:a="http://schemas.openxmlformats.org/drawingml/2006/main">
              <a:ext uri="{FF2B5EF4-FFF2-40B4-BE49-F238E27FC236}">
                <a16:creationId xmlns:a16="http://schemas.microsoft.com/office/drawing/2014/main" id="{B0440478-78B5-42B4-8D2A-3B40E5D686AB}"/>
              </a:ext>
            </a:extLst>
          </p:cNvPr>
          <p:cNvSpPr>
            <a:spLocks xmlns:a="http://schemas.openxmlformats.org/drawingml/2006/main" noGrp="1"/>
          </p:cNvSpPr>
          <p:nvPr/>
        </p:nvSpPr>
        <p:spPr>
          <a:xfrm xmlns:a="http://schemas.openxmlformats.org/drawingml/2006/main">
            <a:off x="6496050" y="15811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B45C3E"/>
                </a:solidFill>
                <a:latin typeface="Microsoft YaHei"/>
                <a:ea typeface="Microsoft YaHei"/>
                <a:cs typeface="Microsoft YaHei"/>
              </a:defRPr>
            </a:pPr>
            <a:r>
              <a:rPr sz="1050" b="1">
                <a:solidFill>
                  <a:srgbClr val="B45C3E"/>
                </a:solidFill>
                <a:latin typeface="Microsoft YaHei"/>
                <a:ea typeface="Microsoft YaHei"/>
                <a:cs typeface="Microsoft YaHei"/>
              </a:rPr>
              <a:t>制度层面</a:t>
            </a:r>
          </a:p>
        </p:txBody>
      </p:sp>
      <p:sp>
        <p:nvSpPr>
          <p:cNvPr id="16" name="">
            <a:extLst xmlns:a="http://schemas.openxmlformats.org/drawingml/2006/main">
              <a:ext uri="{FF2B5EF4-FFF2-40B4-BE49-F238E27FC236}">
                <a16:creationId xmlns:a16="http://schemas.microsoft.com/office/drawing/2014/main" id="{4E1C267F-F20C-4BB6-9E33-54E33E2C4362}"/>
              </a:ext>
            </a:extLst>
          </p:cNvPr>
          <p:cNvSpPr>
            <a:spLocks xmlns:a="http://schemas.openxmlformats.org/drawingml/2006/main" noGrp="1"/>
          </p:cNvSpPr>
          <p:nvPr/>
        </p:nvSpPr>
        <p:spPr>
          <a:xfrm xmlns:a="http://schemas.openxmlformats.org/drawingml/2006/main">
            <a:off x="6496050" y="1943100"/>
            <a:ext cx="49530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AD5D8"/>
            </a:solidFill>
          </a:ln>
        </p:spPr>
      </p:sp>
      <p:sp>
        <p:nvSpPr>
          <p:cNvPr id="17" name="">
            <a:extLst xmlns:a="http://schemas.openxmlformats.org/drawingml/2006/main">
              <a:ext uri="{FF2B5EF4-FFF2-40B4-BE49-F238E27FC236}">
                <a16:creationId xmlns:a16="http://schemas.microsoft.com/office/drawing/2014/main" id="{7EF1D993-20FC-490A-834A-9F9C4358A2D9}"/>
              </a:ext>
            </a:extLst>
          </p:cNvPr>
          <p:cNvSpPr>
            <a:spLocks xmlns:a="http://schemas.openxmlformats.org/drawingml/2006/main" noGrp="1"/>
          </p:cNvSpPr>
          <p:nvPr/>
        </p:nvSpPr>
        <p:spPr>
          <a:xfrm xmlns:a="http://schemas.openxmlformats.org/drawingml/2006/main">
            <a:off x="6496050" y="1943100"/>
            <a:ext cx="76200" cy="1200150"/>
          </a:xfrm>
          <a:prstGeom xmlns:a="http://schemas.openxmlformats.org/drawingml/2006/main" prst="roundRect">
            <a:avLst>
              <a:gd name="adj" fmla="val 50000"/>
            </a:avLst>
          </a:prstGeom>
          <a:solidFill xmlns:a="http://schemas.openxmlformats.org/drawingml/2006/main">
            <a:srgbClr val="B45C3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9C3CCBF-5A55-43B5-A20B-F888DE7B9590}"/>
              </a:ext>
            </a:extLst>
          </p:cNvPr>
          <p:cNvSpPr>
            <a:spLocks xmlns:a="http://schemas.openxmlformats.org/drawingml/2006/main" noGrp="1"/>
          </p:cNvSpPr>
          <p:nvPr/>
        </p:nvSpPr>
        <p:spPr>
          <a:xfrm xmlns:a="http://schemas.openxmlformats.org/drawingml/2006/main">
            <a:off x="6724650" y="2095500"/>
            <a:ext cx="455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突破优先的竞争</a:t>
            </a:r>
          </a:p>
        </p:txBody>
      </p:sp>
      <p:sp>
        <p:nvSpPr>
          <p:cNvPr id="19" name="">
            <a:extLst xmlns:a="http://schemas.openxmlformats.org/drawingml/2006/main">
              <a:ext uri="{FF2B5EF4-FFF2-40B4-BE49-F238E27FC236}">
                <a16:creationId xmlns:a16="http://schemas.microsoft.com/office/drawing/2014/main" id="{C39229F3-94CA-4134-A9F0-F13522CF1A49}"/>
              </a:ext>
            </a:extLst>
          </p:cNvPr>
          <p:cNvSpPr>
            <a:spLocks xmlns:a="http://schemas.openxmlformats.org/drawingml/2006/main" noGrp="1"/>
          </p:cNvSpPr>
          <p:nvPr/>
        </p:nvSpPr>
        <p:spPr>
          <a:xfrm xmlns:a="http://schemas.openxmlformats.org/drawingml/2006/main">
            <a:off x="6724650" y="2476500"/>
            <a:ext cx="4552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拓扑量子计算的战略价值放大首发收益。高度新奇的结论更容易获得期刊、媒体和资源关注。</a:t>
            </a:r>
          </a:p>
        </p:txBody>
      </p:sp>
      <p:sp>
        <p:nvSpPr>
          <p:cNvPr id="20" name="">
            <a:extLst xmlns:a="http://schemas.openxmlformats.org/drawingml/2006/main">
              <a:ext uri="{FF2B5EF4-FFF2-40B4-BE49-F238E27FC236}">
                <a16:creationId xmlns:a16="http://schemas.microsoft.com/office/drawing/2014/main" id="{D8CB4562-3AA3-4384-8311-D8DFFC672CEA}"/>
              </a:ext>
            </a:extLst>
          </p:cNvPr>
          <p:cNvSpPr>
            <a:spLocks xmlns:a="http://schemas.openxmlformats.org/drawingml/2006/main" noGrp="1"/>
          </p:cNvSpPr>
          <p:nvPr/>
        </p:nvSpPr>
        <p:spPr>
          <a:xfrm xmlns:a="http://schemas.openxmlformats.org/drawingml/2006/main">
            <a:off x="6496050" y="3333750"/>
            <a:ext cx="49530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AD5D8"/>
            </a:solidFill>
          </a:ln>
        </p:spPr>
      </p:sp>
      <p:sp>
        <p:nvSpPr>
          <p:cNvPr id="21" name="">
            <a:extLst xmlns:a="http://schemas.openxmlformats.org/drawingml/2006/main">
              <a:ext uri="{FF2B5EF4-FFF2-40B4-BE49-F238E27FC236}">
                <a16:creationId xmlns:a16="http://schemas.microsoft.com/office/drawing/2014/main" id="{E63E33F6-3481-4DB1-A3E2-1ECFF033182D}"/>
              </a:ext>
            </a:extLst>
          </p:cNvPr>
          <p:cNvSpPr>
            <a:spLocks xmlns:a="http://schemas.openxmlformats.org/drawingml/2006/main" noGrp="1"/>
          </p:cNvSpPr>
          <p:nvPr/>
        </p:nvSpPr>
        <p:spPr>
          <a:xfrm xmlns:a="http://schemas.openxmlformats.org/drawingml/2006/main">
            <a:off x="6496050" y="3333750"/>
            <a:ext cx="76200" cy="1200150"/>
          </a:xfrm>
          <a:prstGeom xmlns:a="http://schemas.openxmlformats.org/drawingml/2006/main" prst="roundRect">
            <a:avLst>
              <a:gd name="adj" fmla="val 50000"/>
            </a:avLst>
          </a:prstGeom>
          <a:solidFill xmlns:a="http://schemas.openxmlformats.org/drawingml/2006/main">
            <a:srgbClr val="9B3F3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22B8FC6-6F67-4075-B9EB-771A6F9AB14F}"/>
              </a:ext>
            </a:extLst>
          </p:cNvPr>
          <p:cNvSpPr>
            <a:spLocks xmlns:a="http://schemas.openxmlformats.org/drawingml/2006/main" noGrp="1"/>
          </p:cNvSpPr>
          <p:nvPr/>
        </p:nvSpPr>
        <p:spPr>
          <a:xfrm xmlns:a="http://schemas.openxmlformats.org/drawingml/2006/main">
            <a:off x="6724650" y="3486150"/>
            <a:ext cx="455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协作责任分散</a:t>
            </a:r>
          </a:p>
        </p:txBody>
      </p:sp>
      <p:sp>
        <p:nvSpPr>
          <p:cNvPr id="23" name="">
            <a:extLst xmlns:a="http://schemas.openxmlformats.org/drawingml/2006/main">
              <a:ext uri="{FF2B5EF4-FFF2-40B4-BE49-F238E27FC236}">
                <a16:creationId xmlns:a16="http://schemas.microsoft.com/office/drawing/2014/main" id="{664C0396-AAFE-4984-9C03-3253CEA98285}"/>
              </a:ext>
            </a:extLst>
          </p:cNvPr>
          <p:cNvSpPr>
            <a:spLocks xmlns:a="http://schemas.openxmlformats.org/drawingml/2006/main" noGrp="1"/>
          </p:cNvSpPr>
          <p:nvPr/>
        </p:nvSpPr>
        <p:spPr>
          <a:xfrm xmlns:a="http://schemas.openxmlformats.org/drawingml/2006/main">
            <a:off x="6724650" y="3867150"/>
            <a:ext cx="4552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论文涉及多个团队和二十位作者。数据生产、处理、理论解释与署名责任分离，容易形成无人完整核验的缝隙。</a:t>
            </a:r>
          </a:p>
        </p:txBody>
      </p:sp>
      <p:sp>
        <p:nvSpPr>
          <p:cNvPr id="24" name="">
            <a:extLst xmlns:a="http://schemas.openxmlformats.org/drawingml/2006/main">
              <a:ext uri="{FF2B5EF4-FFF2-40B4-BE49-F238E27FC236}">
                <a16:creationId xmlns:a16="http://schemas.microsoft.com/office/drawing/2014/main" id="{9DF6B4F5-40F2-4B65-92F6-E59D281E4973}"/>
              </a:ext>
            </a:extLst>
          </p:cNvPr>
          <p:cNvSpPr>
            <a:spLocks xmlns:a="http://schemas.openxmlformats.org/drawingml/2006/main" noGrp="1"/>
          </p:cNvSpPr>
          <p:nvPr/>
        </p:nvSpPr>
        <p:spPr>
          <a:xfrm xmlns:a="http://schemas.openxmlformats.org/drawingml/2006/main">
            <a:off x="723900" y="5105400"/>
            <a:ext cx="10725150" cy="685800"/>
          </a:xfrm>
          <a:prstGeom xmlns:a="http://schemas.openxmlformats.org/drawingml/2006/main" prst="roundRect">
            <a:avLst>
              <a:gd name="adj" fmla="val 11111"/>
            </a:avLst>
          </a:prstGeom>
          <a:solidFill xmlns:a="http://schemas.openxmlformats.org/drawingml/2006/main">
            <a:srgbClr val="EEF3F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63FC011-358B-4DB6-8DB7-63A06184B443}"/>
              </a:ext>
            </a:extLst>
          </p:cNvPr>
          <p:cNvSpPr>
            <a:spLocks xmlns:a="http://schemas.openxmlformats.org/drawingml/2006/main" noGrp="1"/>
          </p:cNvSpPr>
          <p:nvPr/>
        </p:nvSpPr>
        <p:spPr>
          <a:xfrm xmlns:a="http://schemas.openxmlformats.org/drawingml/2006/main">
            <a:off x="914400" y="5229225"/>
            <a:ext cx="10344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D6280"/>
                </a:solidFill>
                <a:latin typeface="Microsoft YaHei"/>
                <a:ea typeface="Microsoft YaHei"/>
                <a:cs typeface="Microsoft YaHei"/>
              </a:defRPr>
            </a:pPr>
            <a:r>
              <a:rPr sz="1350" b="1">
                <a:solidFill>
                  <a:srgbClr val="2D6280"/>
                </a:solidFill>
                <a:latin typeface="Microsoft YaHei"/>
                <a:ea typeface="Microsoft YaHei"/>
                <a:cs typeface="Microsoft YaHei"/>
              </a:rPr>
              <a:t>治理落点：公布完整扫描范围和处理脚本，明确数据保管人与共同作者核验责任，对标志性成果安排独立复测</a:t>
            </a:r>
          </a:p>
        </p:txBody>
      </p:sp>
    </p:spTree>
    <p:extLst>
      <p:ext uri="{BB962C8B-B14F-4D97-AF65-F5344CB8AC3E}">
        <p14:creationId xmlns:p14="http://schemas.microsoft.com/office/powerpoint/2010/main" val="1003181323"/>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8C124E7-35CC-4C1B-8344-62A71D9D4B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FCF1C2-9CAA-4831-98C9-538F58124D6D}"/>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案例二：舍恩事件与凝聚态实验</a:t>
            </a:r>
          </a:p>
        </p:txBody>
      </p:sp>
      <p:sp>
        <p:nvSpPr>
          <p:cNvPr id="3" name="">
            <a:extLst xmlns:a="http://schemas.openxmlformats.org/drawingml/2006/main">
              <a:ext uri="{FF2B5EF4-FFF2-40B4-BE49-F238E27FC236}">
                <a16:creationId xmlns:a16="http://schemas.microsoft.com/office/drawing/2014/main" id="{7B34E685-FD38-44AF-8F44-DC23CF0EC097}"/>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异常漂亮的数据为何长期穿过同行评议</a:t>
            </a:r>
          </a:p>
        </p:txBody>
      </p:sp>
      <p:sp>
        <p:nvSpPr>
          <p:cNvPr id="4" name="">
            <a:extLst xmlns:a="http://schemas.openxmlformats.org/drawingml/2006/main">
              <a:ext uri="{FF2B5EF4-FFF2-40B4-BE49-F238E27FC236}">
                <a16:creationId xmlns:a16="http://schemas.microsoft.com/office/drawing/2014/main" id="{1D5370A2-997A-4BB1-8BF4-936E7411ADE1}"/>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06</a:t>
            </a:r>
          </a:p>
        </p:txBody>
      </p:sp>
      <p:sp>
        <p:nvSpPr>
          <p:cNvPr id="5" name="">
            <a:extLst xmlns:a="http://schemas.openxmlformats.org/drawingml/2006/main">
              <a:ext uri="{FF2B5EF4-FFF2-40B4-BE49-F238E27FC236}">
                <a16:creationId xmlns:a16="http://schemas.microsoft.com/office/drawing/2014/main" id="{B0714B23-1673-40E2-8A16-D704FE15CE1A}"/>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F98BF0B6-B3F9-41B1-ABD0-48C76B97E659}"/>
              </a:ext>
            </a:extLst>
          </p:cNvPr>
          <p:cNvSpPr>
            <a:spLocks xmlns:a="http://schemas.openxmlformats.org/drawingml/2006/main" noGrp="1"/>
          </p:cNvSpPr>
          <p:nvPr/>
        </p:nvSpPr>
        <p:spPr>
          <a:xfrm xmlns:a="http://schemas.openxmlformats.org/drawingml/2006/main">
            <a:off x="742950" y="15621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B45C3E"/>
                </a:solidFill>
                <a:latin typeface="Microsoft YaHei"/>
                <a:ea typeface="Microsoft YaHei"/>
                <a:cs typeface="Microsoft YaHei"/>
              </a:defRPr>
            </a:pPr>
            <a:r>
              <a:rPr sz="1050" b="1">
                <a:solidFill>
                  <a:srgbClr val="B45C3E"/>
                </a:solidFill>
                <a:latin typeface="Microsoft YaHei"/>
                <a:ea typeface="Microsoft YaHei"/>
                <a:cs typeface="Microsoft YaHei"/>
              </a:rPr>
              <a:t>事实链</a:t>
            </a:r>
          </a:p>
        </p:txBody>
      </p:sp>
      <p:sp>
        <p:nvSpPr>
          <p:cNvPr id="7" name="">
            <a:extLst xmlns:a="http://schemas.openxmlformats.org/drawingml/2006/main">
              <a:ext uri="{FF2B5EF4-FFF2-40B4-BE49-F238E27FC236}">
                <a16:creationId xmlns:a16="http://schemas.microsoft.com/office/drawing/2014/main" id="{E41CC6E9-AB49-44F0-A994-339ACB6D2226}"/>
              </a:ext>
            </a:extLst>
          </p:cNvPr>
          <p:cNvSpPr>
            <a:spLocks xmlns:a="http://schemas.openxmlformats.org/drawingml/2006/main" noGrp="1"/>
          </p:cNvSpPr>
          <p:nvPr/>
        </p:nvSpPr>
        <p:spPr>
          <a:xfrm xmlns:a="http://schemas.openxmlformats.org/drawingml/2006/main">
            <a:off x="819150" y="1924050"/>
            <a:ext cx="1981200" cy="20383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AD5D8"/>
            </a:solidFill>
          </a:ln>
        </p:spPr>
      </p:sp>
      <p:sp>
        <p:nvSpPr>
          <p:cNvPr id="8" name="">
            <a:extLst xmlns:a="http://schemas.openxmlformats.org/drawingml/2006/main">
              <a:ext uri="{FF2B5EF4-FFF2-40B4-BE49-F238E27FC236}">
                <a16:creationId xmlns:a16="http://schemas.microsoft.com/office/drawing/2014/main" id="{0412C04F-BE6D-42AD-92A6-9711488F03B5}"/>
              </a:ext>
            </a:extLst>
          </p:cNvPr>
          <p:cNvSpPr>
            <a:spLocks xmlns:a="http://schemas.openxmlformats.org/drawingml/2006/main" noGrp="1"/>
          </p:cNvSpPr>
          <p:nvPr/>
        </p:nvSpPr>
        <p:spPr>
          <a:xfrm xmlns:a="http://schemas.openxmlformats.org/drawingml/2006/main">
            <a:off x="942975" y="2028825"/>
            <a:ext cx="361950" cy="361950"/>
          </a:xfrm>
          <a:prstGeom xmlns:a="http://schemas.openxmlformats.org/drawingml/2006/main" prst="roundRect">
            <a:avLst>
              <a:gd name="adj" fmla="val 21053"/>
            </a:avLst>
          </a:prstGeom>
          <a:solidFill xmlns:a="http://schemas.openxmlformats.org/drawingml/2006/main">
            <a:srgbClr val="478C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CFBC547-9CE3-4D4D-901E-F6AE84869E3F}"/>
              </a:ext>
            </a:extLst>
          </p:cNvPr>
          <p:cNvSpPr>
            <a:spLocks xmlns:a="http://schemas.openxmlformats.org/drawingml/2006/main" noGrp="1"/>
          </p:cNvSpPr>
          <p:nvPr/>
        </p:nvSpPr>
        <p:spPr>
          <a:xfrm xmlns:a="http://schemas.openxmlformats.org/drawingml/2006/main">
            <a:off x="971550" y="20574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1</a:t>
            </a:r>
          </a:p>
        </p:txBody>
      </p:sp>
      <p:sp>
        <p:nvSpPr>
          <p:cNvPr id="10" name="">
            <a:extLst xmlns:a="http://schemas.openxmlformats.org/drawingml/2006/main">
              <a:ext uri="{FF2B5EF4-FFF2-40B4-BE49-F238E27FC236}">
                <a16:creationId xmlns:a16="http://schemas.microsoft.com/office/drawing/2014/main" id="{0C03DE44-5C8F-43A2-AA93-DB8DCFF9063F}"/>
              </a:ext>
            </a:extLst>
          </p:cNvPr>
          <p:cNvSpPr>
            <a:spLocks xmlns:a="http://schemas.openxmlformats.org/drawingml/2006/main" noGrp="1"/>
          </p:cNvSpPr>
          <p:nvPr/>
        </p:nvSpPr>
        <p:spPr>
          <a:xfrm xmlns:a="http://schemas.openxmlformats.org/drawingml/2006/main">
            <a:off x="1009650" y="253365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3247"/>
                </a:solidFill>
                <a:latin typeface="Microsoft YaHei"/>
                <a:ea typeface="Microsoft YaHei"/>
                <a:cs typeface="Microsoft YaHei"/>
              </a:defRPr>
            </a:pPr>
            <a:r>
              <a:rPr sz="1425" b="1">
                <a:solidFill>
                  <a:srgbClr val="183247"/>
                </a:solidFill>
                <a:latin typeface="Microsoft YaHei"/>
                <a:ea typeface="Microsoft YaHei"/>
                <a:cs typeface="Microsoft YaHei"/>
              </a:rPr>
              <a:t>高频发表</a:t>
            </a:r>
          </a:p>
        </p:txBody>
      </p:sp>
      <p:sp>
        <p:nvSpPr>
          <p:cNvPr id="11" name="">
            <a:extLst xmlns:a="http://schemas.openxmlformats.org/drawingml/2006/main">
              <a:ext uri="{FF2B5EF4-FFF2-40B4-BE49-F238E27FC236}">
                <a16:creationId xmlns:a16="http://schemas.microsoft.com/office/drawing/2014/main" id="{1E92A6F6-F399-48FD-AA3A-4399FD5750FE}"/>
              </a:ext>
            </a:extLst>
          </p:cNvPr>
          <p:cNvSpPr>
            <a:spLocks xmlns:a="http://schemas.openxmlformats.org/drawingml/2006/main" noGrp="1"/>
          </p:cNvSpPr>
          <p:nvPr/>
        </p:nvSpPr>
        <p:spPr>
          <a:xfrm xmlns:a="http://schemas.openxmlformats.org/drawingml/2006/main">
            <a:off x="1009650" y="2933700"/>
            <a:ext cx="1600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1F2A30"/>
                </a:solidFill>
                <a:latin typeface="Microsoft YaHei"/>
                <a:ea typeface="Microsoft YaHei"/>
                <a:cs typeface="Microsoft YaHei"/>
              </a:defRPr>
            </a:pPr>
            <a:r>
              <a:rPr sz="1050" b="0">
                <a:solidFill>
                  <a:srgbClr val="1F2A30"/>
                </a:solidFill>
                <a:latin typeface="Microsoft YaHei"/>
                <a:ea typeface="Microsoft YaHei"/>
                <a:cs typeface="Microsoft YaHei"/>
              </a:rPr>
              <a:t>短期内连续发表有机半导体与分子器件成果，多个结果具有突破性外观。</a:t>
            </a:r>
          </a:p>
        </p:txBody>
      </p:sp>
      <p:sp>
        <p:nvSpPr>
          <p:cNvPr id="12" name="">
            <a:extLst xmlns:a="http://schemas.openxmlformats.org/drawingml/2006/main">
              <a:ext uri="{FF2B5EF4-FFF2-40B4-BE49-F238E27FC236}">
                <a16:creationId xmlns:a16="http://schemas.microsoft.com/office/drawing/2014/main" id="{88165E91-67FB-48FD-AB83-CB8168312DE2}"/>
              </a:ext>
            </a:extLst>
          </p:cNvPr>
          <p:cNvSpPr>
            <a:spLocks xmlns:a="http://schemas.openxmlformats.org/drawingml/2006/main" noGrp="1"/>
          </p:cNvSpPr>
          <p:nvPr/>
        </p:nvSpPr>
        <p:spPr>
          <a:xfrm xmlns:a="http://schemas.openxmlformats.org/drawingml/2006/main">
            <a:off x="2800350" y="2943225"/>
            <a:ext cx="438150" cy="0"/>
          </a:xfrm>
          <a:prstGeom xmlns:a="http://schemas.openxmlformats.org/drawingml/2006/main" prst="line">
            <a:avLst/>
          </a:prstGeom>
          <a:ln xmlns:a="http://schemas.openxmlformats.org/drawingml/2006/main" w="28575">
            <a:solidFill>
              <a:srgbClr val="CAD5D8"/>
            </a:solidFill>
          </a:ln>
        </p:spPr>
      </p:sp>
      <p:sp>
        <p:nvSpPr>
          <p:cNvPr id="13" name="">
            <a:extLst xmlns:a="http://schemas.openxmlformats.org/drawingml/2006/main">
              <a:ext uri="{FF2B5EF4-FFF2-40B4-BE49-F238E27FC236}">
                <a16:creationId xmlns:a16="http://schemas.microsoft.com/office/drawing/2014/main" id="{8CCEFF43-39C9-456E-B926-56E0C8E2B4D7}"/>
              </a:ext>
            </a:extLst>
          </p:cNvPr>
          <p:cNvSpPr>
            <a:spLocks xmlns:a="http://schemas.openxmlformats.org/drawingml/2006/main" noGrp="1"/>
          </p:cNvSpPr>
          <p:nvPr/>
        </p:nvSpPr>
        <p:spPr>
          <a:xfrm xmlns:a="http://schemas.openxmlformats.org/drawingml/2006/main">
            <a:off x="3238500" y="1924050"/>
            <a:ext cx="1981200" cy="20383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AD5D8"/>
            </a:solidFill>
          </a:ln>
        </p:spPr>
      </p:sp>
      <p:sp>
        <p:nvSpPr>
          <p:cNvPr id="14" name="">
            <a:extLst xmlns:a="http://schemas.openxmlformats.org/drawingml/2006/main">
              <a:ext uri="{FF2B5EF4-FFF2-40B4-BE49-F238E27FC236}">
                <a16:creationId xmlns:a16="http://schemas.microsoft.com/office/drawing/2014/main" id="{31DA73A0-ABF2-4D5E-911C-4DFC0C746D60}"/>
              </a:ext>
            </a:extLst>
          </p:cNvPr>
          <p:cNvSpPr>
            <a:spLocks xmlns:a="http://schemas.openxmlformats.org/drawingml/2006/main" noGrp="1"/>
          </p:cNvSpPr>
          <p:nvPr/>
        </p:nvSpPr>
        <p:spPr>
          <a:xfrm xmlns:a="http://schemas.openxmlformats.org/drawingml/2006/main">
            <a:off x="3362325" y="2028825"/>
            <a:ext cx="361950" cy="361950"/>
          </a:xfrm>
          <a:prstGeom xmlns:a="http://schemas.openxmlformats.org/drawingml/2006/main" prst="roundRect">
            <a:avLst>
              <a:gd name="adj" fmla="val 21053"/>
            </a:avLst>
          </a:prstGeom>
          <a:solidFill xmlns:a="http://schemas.openxmlformats.org/drawingml/2006/main">
            <a:srgbClr val="B45C3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3588B0F-54D4-4AAB-9799-D0B0FF349DBF}"/>
              </a:ext>
            </a:extLst>
          </p:cNvPr>
          <p:cNvSpPr>
            <a:spLocks xmlns:a="http://schemas.openxmlformats.org/drawingml/2006/main" noGrp="1"/>
          </p:cNvSpPr>
          <p:nvPr/>
        </p:nvSpPr>
        <p:spPr>
          <a:xfrm xmlns:a="http://schemas.openxmlformats.org/drawingml/2006/main">
            <a:off x="3390900" y="20574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2</a:t>
            </a:r>
          </a:p>
        </p:txBody>
      </p:sp>
      <p:sp>
        <p:nvSpPr>
          <p:cNvPr id="16" name="">
            <a:extLst xmlns:a="http://schemas.openxmlformats.org/drawingml/2006/main">
              <a:ext uri="{FF2B5EF4-FFF2-40B4-BE49-F238E27FC236}">
                <a16:creationId xmlns:a16="http://schemas.microsoft.com/office/drawing/2014/main" id="{F513DF88-829E-4589-A17B-D8D4DAE662AC}"/>
              </a:ext>
            </a:extLst>
          </p:cNvPr>
          <p:cNvSpPr>
            <a:spLocks xmlns:a="http://schemas.openxmlformats.org/drawingml/2006/main" noGrp="1"/>
          </p:cNvSpPr>
          <p:nvPr/>
        </p:nvSpPr>
        <p:spPr>
          <a:xfrm xmlns:a="http://schemas.openxmlformats.org/drawingml/2006/main">
            <a:off x="3429000" y="253365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3247"/>
                </a:solidFill>
                <a:latin typeface="Microsoft YaHei"/>
                <a:ea typeface="Microsoft YaHei"/>
                <a:cs typeface="Microsoft YaHei"/>
              </a:defRPr>
            </a:pPr>
            <a:r>
              <a:rPr sz="1425" b="1">
                <a:solidFill>
                  <a:srgbClr val="183247"/>
                </a:solidFill>
                <a:latin typeface="Microsoft YaHei"/>
                <a:ea typeface="Microsoft YaHei"/>
                <a:cs typeface="Microsoft YaHei"/>
              </a:rPr>
              <a:t>异常被识别</a:t>
            </a:r>
          </a:p>
        </p:txBody>
      </p:sp>
      <p:sp>
        <p:nvSpPr>
          <p:cNvPr id="17" name="">
            <a:extLst xmlns:a="http://schemas.openxmlformats.org/drawingml/2006/main">
              <a:ext uri="{FF2B5EF4-FFF2-40B4-BE49-F238E27FC236}">
                <a16:creationId xmlns:a16="http://schemas.microsoft.com/office/drawing/2014/main" id="{06802D71-ACEA-4102-99C5-42029687C803}"/>
              </a:ext>
            </a:extLst>
          </p:cNvPr>
          <p:cNvSpPr>
            <a:spLocks xmlns:a="http://schemas.openxmlformats.org/drawingml/2006/main" noGrp="1"/>
          </p:cNvSpPr>
          <p:nvPr/>
        </p:nvSpPr>
        <p:spPr>
          <a:xfrm xmlns:a="http://schemas.openxmlformats.org/drawingml/2006/main">
            <a:off x="3429000" y="2933700"/>
            <a:ext cx="1600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1F2A30"/>
                </a:solidFill>
                <a:latin typeface="Microsoft YaHei"/>
                <a:ea typeface="Microsoft YaHei"/>
                <a:cs typeface="Microsoft YaHei"/>
              </a:defRPr>
            </a:pPr>
            <a:r>
              <a:rPr sz="1050" b="0">
                <a:solidFill>
                  <a:srgbClr val="1F2A30"/>
                </a:solidFill>
                <a:latin typeface="Microsoft YaHei"/>
                <a:ea typeface="Microsoft YaHei"/>
                <a:cs typeface="Microsoft YaHei"/>
              </a:rPr>
              <a:t>研究者发现不同论文中的噪声形态和数据曲线异常相似。</a:t>
            </a:r>
          </a:p>
        </p:txBody>
      </p:sp>
      <p:sp>
        <p:nvSpPr>
          <p:cNvPr id="18" name="">
            <a:extLst xmlns:a="http://schemas.openxmlformats.org/drawingml/2006/main">
              <a:ext uri="{FF2B5EF4-FFF2-40B4-BE49-F238E27FC236}">
                <a16:creationId xmlns:a16="http://schemas.microsoft.com/office/drawing/2014/main" id="{B77E2521-AB5D-4194-BFCE-400647E82A54}"/>
              </a:ext>
            </a:extLst>
          </p:cNvPr>
          <p:cNvSpPr>
            <a:spLocks xmlns:a="http://schemas.openxmlformats.org/drawingml/2006/main" noGrp="1"/>
          </p:cNvSpPr>
          <p:nvPr/>
        </p:nvSpPr>
        <p:spPr>
          <a:xfrm xmlns:a="http://schemas.openxmlformats.org/drawingml/2006/main">
            <a:off x="5219700" y="2943225"/>
            <a:ext cx="438150" cy="0"/>
          </a:xfrm>
          <a:prstGeom xmlns:a="http://schemas.openxmlformats.org/drawingml/2006/main" prst="line">
            <a:avLst/>
          </a:prstGeom>
          <a:ln xmlns:a="http://schemas.openxmlformats.org/drawingml/2006/main" w="28575">
            <a:solidFill>
              <a:srgbClr val="CAD5D8"/>
            </a:solidFill>
          </a:ln>
        </p:spPr>
      </p:sp>
      <p:sp>
        <p:nvSpPr>
          <p:cNvPr id="19" name="">
            <a:extLst xmlns:a="http://schemas.openxmlformats.org/drawingml/2006/main">
              <a:ext uri="{FF2B5EF4-FFF2-40B4-BE49-F238E27FC236}">
                <a16:creationId xmlns:a16="http://schemas.microsoft.com/office/drawing/2014/main" id="{BED3CCD5-282F-4FEA-8AA8-ADCD2F047E40}"/>
              </a:ext>
            </a:extLst>
          </p:cNvPr>
          <p:cNvSpPr>
            <a:spLocks xmlns:a="http://schemas.openxmlformats.org/drawingml/2006/main" noGrp="1"/>
          </p:cNvSpPr>
          <p:nvPr/>
        </p:nvSpPr>
        <p:spPr>
          <a:xfrm xmlns:a="http://schemas.openxmlformats.org/drawingml/2006/main">
            <a:off x="5657850" y="1924050"/>
            <a:ext cx="1981200" cy="20383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AD5D8"/>
            </a:solidFill>
          </a:ln>
        </p:spPr>
      </p:sp>
      <p:sp>
        <p:nvSpPr>
          <p:cNvPr id="20" name="">
            <a:extLst xmlns:a="http://schemas.openxmlformats.org/drawingml/2006/main">
              <a:ext uri="{FF2B5EF4-FFF2-40B4-BE49-F238E27FC236}">
                <a16:creationId xmlns:a16="http://schemas.microsoft.com/office/drawing/2014/main" id="{3860CAD8-AAD3-4FEA-8478-B986CBAAAA18}"/>
              </a:ext>
            </a:extLst>
          </p:cNvPr>
          <p:cNvSpPr>
            <a:spLocks xmlns:a="http://schemas.openxmlformats.org/drawingml/2006/main" noGrp="1"/>
          </p:cNvSpPr>
          <p:nvPr/>
        </p:nvSpPr>
        <p:spPr>
          <a:xfrm xmlns:a="http://schemas.openxmlformats.org/drawingml/2006/main">
            <a:off x="5781675" y="2028825"/>
            <a:ext cx="361950" cy="361950"/>
          </a:xfrm>
          <a:prstGeom xmlns:a="http://schemas.openxmlformats.org/drawingml/2006/main" prst="roundRect">
            <a:avLst>
              <a:gd name="adj" fmla="val 21053"/>
            </a:avLst>
          </a:prstGeom>
          <a:solidFill xmlns:a="http://schemas.openxmlformats.org/drawingml/2006/main">
            <a:srgbClr val="478C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412799A-039F-416A-BCAA-3527CA2A22F2}"/>
              </a:ext>
            </a:extLst>
          </p:cNvPr>
          <p:cNvSpPr>
            <a:spLocks xmlns:a="http://schemas.openxmlformats.org/drawingml/2006/main" noGrp="1"/>
          </p:cNvSpPr>
          <p:nvPr/>
        </p:nvSpPr>
        <p:spPr>
          <a:xfrm xmlns:a="http://schemas.openxmlformats.org/drawingml/2006/main">
            <a:off x="5810250" y="20574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3</a:t>
            </a:r>
          </a:p>
        </p:txBody>
      </p:sp>
      <p:sp>
        <p:nvSpPr>
          <p:cNvPr id="22" name="">
            <a:extLst xmlns:a="http://schemas.openxmlformats.org/drawingml/2006/main">
              <a:ext uri="{FF2B5EF4-FFF2-40B4-BE49-F238E27FC236}">
                <a16:creationId xmlns:a16="http://schemas.microsoft.com/office/drawing/2014/main" id="{EA0834F2-E3ED-4821-B748-4796C45C5420}"/>
              </a:ext>
            </a:extLst>
          </p:cNvPr>
          <p:cNvSpPr>
            <a:spLocks xmlns:a="http://schemas.openxmlformats.org/drawingml/2006/main" noGrp="1"/>
          </p:cNvSpPr>
          <p:nvPr/>
        </p:nvSpPr>
        <p:spPr>
          <a:xfrm xmlns:a="http://schemas.openxmlformats.org/drawingml/2006/main">
            <a:off x="5848350" y="253365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3247"/>
                </a:solidFill>
                <a:latin typeface="Microsoft YaHei"/>
                <a:ea typeface="Microsoft YaHei"/>
                <a:cs typeface="Microsoft YaHei"/>
              </a:defRPr>
            </a:pPr>
            <a:r>
              <a:rPr sz="1425" b="1">
                <a:solidFill>
                  <a:srgbClr val="183247"/>
                </a:solidFill>
                <a:latin typeface="Microsoft YaHei"/>
                <a:ea typeface="Microsoft YaHei"/>
                <a:cs typeface="Microsoft YaHei"/>
              </a:rPr>
              <a:t>独立调查</a:t>
            </a:r>
          </a:p>
        </p:txBody>
      </p:sp>
      <p:sp>
        <p:nvSpPr>
          <p:cNvPr id="23" name="">
            <a:extLst xmlns:a="http://schemas.openxmlformats.org/drawingml/2006/main">
              <a:ext uri="{FF2B5EF4-FFF2-40B4-BE49-F238E27FC236}">
                <a16:creationId xmlns:a16="http://schemas.microsoft.com/office/drawing/2014/main" id="{D7258B07-5395-40E2-81BD-C63140789C53}"/>
              </a:ext>
            </a:extLst>
          </p:cNvPr>
          <p:cNvSpPr>
            <a:spLocks xmlns:a="http://schemas.openxmlformats.org/drawingml/2006/main" noGrp="1"/>
          </p:cNvSpPr>
          <p:nvPr/>
        </p:nvSpPr>
        <p:spPr>
          <a:xfrm xmlns:a="http://schemas.openxmlformats.org/drawingml/2006/main">
            <a:off x="5848350" y="2933700"/>
            <a:ext cx="1600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1F2A30"/>
                </a:solidFill>
                <a:latin typeface="Microsoft YaHei"/>
                <a:ea typeface="Microsoft YaHei"/>
                <a:cs typeface="Microsoft YaHei"/>
              </a:defRPr>
            </a:pPr>
            <a:r>
              <a:rPr sz="1050" b="0">
                <a:solidFill>
                  <a:srgbClr val="1F2A30"/>
                </a:solidFill>
                <a:latin typeface="Microsoft YaHei"/>
                <a:ea typeface="Microsoft YaHei"/>
                <a:cs typeface="Microsoft YaHei"/>
              </a:rPr>
              <a:t>贝尔实验室外部委员会核查原始数据、图表与共同作者责任。</a:t>
            </a:r>
          </a:p>
        </p:txBody>
      </p:sp>
      <p:sp>
        <p:nvSpPr>
          <p:cNvPr id="24" name="">
            <a:extLst xmlns:a="http://schemas.openxmlformats.org/drawingml/2006/main">
              <a:ext uri="{FF2B5EF4-FFF2-40B4-BE49-F238E27FC236}">
                <a16:creationId xmlns:a16="http://schemas.microsoft.com/office/drawing/2014/main" id="{D1E847BC-0115-4BE4-904C-5B90D3C9884E}"/>
              </a:ext>
            </a:extLst>
          </p:cNvPr>
          <p:cNvSpPr>
            <a:spLocks xmlns:a="http://schemas.openxmlformats.org/drawingml/2006/main" noGrp="1"/>
          </p:cNvSpPr>
          <p:nvPr/>
        </p:nvSpPr>
        <p:spPr>
          <a:xfrm xmlns:a="http://schemas.openxmlformats.org/drawingml/2006/main">
            <a:off x="7639050" y="2943225"/>
            <a:ext cx="438150" cy="0"/>
          </a:xfrm>
          <a:prstGeom xmlns:a="http://schemas.openxmlformats.org/drawingml/2006/main" prst="line">
            <a:avLst/>
          </a:prstGeom>
          <a:ln xmlns:a="http://schemas.openxmlformats.org/drawingml/2006/main" w="28575">
            <a:solidFill>
              <a:srgbClr val="CAD5D8"/>
            </a:solidFill>
          </a:ln>
        </p:spPr>
      </p:sp>
      <p:sp>
        <p:nvSpPr>
          <p:cNvPr id="25" name="">
            <a:extLst xmlns:a="http://schemas.openxmlformats.org/drawingml/2006/main">
              <a:ext uri="{FF2B5EF4-FFF2-40B4-BE49-F238E27FC236}">
                <a16:creationId xmlns:a16="http://schemas.microsoft.com/office/drawing/2014/main" id="{D1C8C68A-0D60-42E4-88D9-92908C053E90}"/>
              </a:ext>
            </a:extLst>
          </p:cNvPr>
          <p:cNvSpPr>
            <a:spLocks xmlns:a="http://schemas.openxmlformats.org/drawingml/2006/main" noGrp="1"/>
          </p:cNvSpPr>
          <p:nvPr/>
        </p:nvSpPr>
        <p:spPr>
          <a:xfrm xmlns:a="http://schemas.openxmlformats.org/drawingml/2006/main">
            <a:off x="8077200" y="1924050"/>
            <a:ext cx="1981200" cy="20383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AD5D8"/>
            </a:solidFill>
          </a:ln>
        </p:spPr>
      </p:sp>
      <p:sp>
        <p:nvSpPr>
          <p:cNvPr id="26" name="">
            <a:extLst xmlns:a="http://schemas.openxmlformats.org/drawingml/2006/main">
              <a:ext uri="{FF2B5EF4-FFF2-40B4-BE49-F238E27FC236}">
                <a16:creationId xmlns:a16="http://schemas.microsoft.com/office/drawing/2014/main" id="{EDD59BAC-87A0-4830-9FA5-637AE40C1724}"/>
              </a:ext>
            </a:extLst>
          </p:cNvPr>
          <p:cNvSpPr>
            <a:spLocks xmlns:a="http://schemas.openxmlformats.org/drawingml/2006/main" noGrp="1"/>
          </p:cNvSpPr>
          <p:nvPr/>
        </p:nvSpPr>
        <p:spPr>
          <a:xfrm xmlns:a="http://schemas.openxmlformats.org/drawingml/2006/main">
            <a:off x="8201025" y="2028825"/>
            <a:ext cx="361950" cy="361950"/>
          </a:xfrm>
          <a:prstGeom xmlns:a="http://schemas.openxmlformats.org/drawingml/2006/main" prst="roundRect">
            <a:avLst>
              <a:gd name="adj" fmla="val 21053"/>
            </a:avLst>
          </a:prstGeom>
          <a:solidFill xmlns:a="http://schemas.openxmlformats.org/drawingml/2006/main">
            <a:srgbClr val="478C8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D16FED5-BCB3-456D-AF88-18E8BCB8DDDB}"/>
              </a:ext>
            </a:extLst>
          </p:cNvPr>
          <p:cNvSpPr>
            <a:spLocks xmlns:a="http://schemas.openxmlformats.org/drawingml/2006/main" noGrp="1"/>
          </p:cNvSpPr>
          <p:nvPr/>
        </p:nvSpPr>
        <p:spPr>
          <a:xfrm xmlns:a="http://schemas.openxmlformats.org/drawingml/2006/main">
            <a:off x="8229600" y="20574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4</a:t>
            </a:r>
          </a:p>
        </p:txBody>
      </p:sp>
      <p:sp>
        <p:nvSpPr>
          <p:cNvPr id="28" name="">
            <a:extLst xmlns:a="http://schemas.openxmlformats.org/drawingml/2006/main">
              <a:ext uri="{FF2B5EF4-FFF2-40B4-BE49-F238E27FC236}">
                <a16:creationId xmlns:a16="http://schemas.microsoft.com/office/drawing/2014/main" id="{250C5EB9-C884-4E30-BBA0-753E46F39168}"/>
              </a:ext>
            </a:extLst>
          </p:cNvPr>
          <p:cNvSpPr>
            <a:spLocks xmlns:a="http://schemas.openxmlformats.org/drawingml/2006/main" noGrp="1"/>
          </p:cNvSpPr>
          <p:nvPr/>
        </p:nvSpPr>
        <p:spPr>
          <a:xfrm xmlns:a="http://schemas.openxmlformats.org/drawingml/2006/main">
            <a:off x="8267700" y="253365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3247"/>
                </a:solidFill>
                <a:latin typeface="Microsoft YaHei"/>
                <a:ea typeface="Microsoft YaHei"/>
                <a:cs typeface="Microsoft YaHei"/>
              </a:defRPr>
            </a:pPr>
            <a:r>
              <a:rPr sz="1425" b="1">
                <a:solidFill>
                  <a:srgbClr val="183247"/>
                </a:solidFill>
                <a:latin typeface="Microsoft YaHei"/>
                <a:ea typeface="Microsoft YaHei"/>
                <a:cs typeface="Microsoft YaHei"/>
              </a:rPr>
              <a:t>结论与后果</a:t>
            </a:r>
          </a:p>
        </p:txBody>
      </p:sp>
      <p:sp>
        <p:nvSpPr>
          <p:cNvPr id="29" name="">
            <a:extLst xmlns:a="http://schemas.openxmlformats.org/drawingml/2006/main">
              <a:ext uri="{FF2B5EF4-FFF2-40B4-BE49-F238E27FC236}">
                <a16:creationId xmlns:a16="http://schemas.microsoft.com/office/drawing/2014/main" id="{5F569365-50F3-4474-9EE6-0B285681D038}"/>
              </a:ext>
            </a:extLst>
          </p:cNvPr>
          <p:cNvSpPr>
            <a:spLocks xmlns:a="http://schemas.openxmlformats.org/drawingml/2006/main" noGrp="1"/>
          </p:cNvSpPr>
          <p:nvPr/>
        </p:nvSpPr>
        <p:spPr>
          <a:xfrm xmlns:a="http://schemas.openxmlformats.org/drawingml/2006/main">
            <a:off x="8267700" y="2933700"/>
            <a:ext cx="1600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1F2A30"/>
                </a:solidFill>
                <a:latin typeface="Microsoft YaHei"/>
                <a:ea typeface="Microsoft YaHei"/>
                <a:cs typeface="Microsoft YaHei"/>
              </a:defRPr>
            </a:pPr>
            <a:r>
              <a:rPr sz="1050" b="0">
                <a:solidFill>
                  <a:srgbClr val="1F2A30"/>
                </a:solidFill>
                <a:latin typeface="Microsoft YaHei"/>
                <a:ea typeface="Microsoft YaHei"/>
                <a:cs typeface="Microsoft YaHei"/>
              </a:rPr>
              <a:t>委员会在所审查事项中认定多项科研不端，机构随后解除其职务。</a:t>
            </a:r>
          </a:p>
        </p:txBody>
      </p:sp>
      <p:sp>
        <p:nvSpPr>
          <p:cNvPr id="30" name="">
            <a:extLst xmlns:a="http://schemas.openxmlformats.org/drawingml/2006/main">
              <a:ext uri="{FF2B5EF4-FFF2-40B4-BE49-F238E27FC236}">
                <a16:creationId xmlns:a16="http://schemas.microsoft.com/office/drawing/2014/main" id="{F0CC7DAB-F546-4FCC-BCEE-1E726630FED0}"/>
              </a:ext>
            </a:extLst>
          </p:cNvPr>
          <p:cNvSpPr>
            <a:spLocks xmlns:a="http://schemas.openxmlformats.org/drawingml/2006/main" noGrp="1"/>
          </p:cNvSpPr>
          <p:nvPr/>
        </p:nvSpPr>
        <p:spPr>
          <a:xfrm xmlns:a="http://schemas.openxmlformats.org/drawingml/2006/main">
            <a:off x="742950" y="44577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B45C3E"/>
                </a:solidFill>
                <a:latin typeface="Microsoft YaHei"/>
                <a:ea typeface="Microsoft YaHei"/>
                <a:cs typeface="Microsoft YaHei"/>
              </a:defRPr>
            </a:pPr>
            <a:r>
              <a:rPr sz="1500" b="1">
                <a:solidFill>
                  <a:srgbClr val="B45C3E"/>
                </a:solidFill>
                <a:latin typeface="Microsoft YaHei"/>
                <a:ea typeface="Microsoft YaHei"/>
                <a:cs typeface="Microsoft YaHei"/>
              </a:rPr>
              <a:t>认识论警示</a:t>
            </a:r>
          </a:p>
        </p:txBody>
      </p:sp>
      <p:sp>
        <p:nvSpPr>
          <p:cNvPr id="31" name="">
            <a:extLst xmlns:a="http://schemas.openxmlformats.org/drawingml/2006/main">
              <a:ext uri="{FF2B5EF4-FFF2-40B4-BE49-F238E27FC236}">
                <a16:creationId xmlns:a16="http://schemas.microsoft.com/office/drawing/2014/main" id="{2CA47CEE-B477-40C8-824E-817DA2B8036F}"/>
              </a:ext>
            </a:extLst>
          </p:cNvPr>
          <p:cNvSpPr>
            <a:spLocks xmlns:a="http://schemas.openxmlformats.org/drawingml/2006/main" noGrp="1"/>
          </p:cNvSpPr>
          <p:nvPr/>
        </p:nvSpPr>
        <p:spPr>
          <a:xfrm xmlns:a="http://schemas.openxmlformats.org/drawingml/2006/main">
            <a:off x="2343150" y="4400550"/>
            <a:ext cx="8686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F2A30"/>
                </a:solidFill>
                <a:latin typeface="Microsoft YaHei"/>
                <a:ea typeface="Microsoft YaHei"/>
                <a:cs typeface="Microsoft YaHei"/>
              </a:defRPr>
            </a:pPr>
            <a:r>
              <a:rPr sz="1350" b="0">
                <a:solidFill>
                  <a:srgbClr val="1F2A30"/>
                </a:solidFill>
                <a:latin typeface="Microsoft YaHei"/>
                <a:ea typeface="Microsoft YaHei"/>
                <a:cs typeface="Microsoft YaHei"/>
              </a:rPr>
              <a:t>同行评议通常判断论证是否合理，难以替代原始数据审计。结果越符合前沿期待，越容易触发确认偏误。</a:t>
            </a:r>
          </a:p>
        </p:txBody>
      </p:sp>
      <p:sp>
        <p:nvSpPr>
          <p:cNvPr id="32" name="">
            <a:extLst xmlns:a="http://schemas.openxmlformats.org/drawingml/2006/main">
              <a:ext uri="{FF2B5EF4-FFF2-40B4-BE49-F238E27FC236}">
                <a16:creationId xmlns:a16="http://schemas.microsoft.com/office/drawing/2014/main" id="{427E40B3-A38A-4400-917B-801DE9E8E119}"/>
              </a:ext>
            </a:extLst>
          </p:cNvPr>
          <p:cNvSpPr>
            <a:spLocks xmlns:a="http://schemas.openxmlformats.org/drawingml/2006/main" noGrp="1"/>
          </p:cNvSpPr>
          <p:nvPr/>
        </p:nvSpPr>
        <p:spPr>
          <a:xfrm xmlns:a="http://schemas.openxmlformats.org/drawingml/2006/main">
            <a:off x="742950" y="5143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2D6280"/>
                </a:solidFill>
                <a:latin typeface="Microsoft YaHei"/>
                <a:ea typeface="Microsoft YaHei"/>
                <a:cs typeface="Microsoft YaHei"/>
              </a:defRPr>
            </a:pPr>
            <a:r>
              <a:rPr sz="1500" b="1">
                <a:solidFill>
                  <a:srgbClr val="2D6280"/>
                </a:solidFill>
                <a:latin typeface="Microsoft YaHei"/>
                <a:ea typeface="Microsoft YaHei"/>
                <a:cs typeface="Microsoft YaHei"/>
              </a:rPr>
              <a:t>制度警示</a:t>
            </a:r>
          </a:p>
        </p:txBody>
      </p:sp>
      <p:sp>
        <p:nvSpPr>
          <p:cNvPr id="33" name="">
            <a:extLst xmlns:a="http://schemas.openxmlformats.org/drawingml/2006/main">
              <a:ext uri="{FF2B5EF4-FFF2-40B4-BE49-F238E27FC236}">
                <a16:creationId xmlns:a16="http://schemas.microsoft.com/office/drawing/2014/main" id="{8844C703-CFBD-4BE3-A869-C57701D0A4F7}"/>
              </a:ext>
            </a:extLst>
          </p:cNvPr>
          <p:cNvSpPr>
            <a:spLocks xmlns:a="http://schemas.openxmlformats.org/drawingml/2006/main" noGrp="1"/>
          </p:cNvSpPr>
          <p:nvPr/>
        </p:nvSpPr>
        <p:spPr>
          <a:xfrm xmlns:a="http://schemas.openxmlformats.org/drawingml/2006/main">
            <a:off x="2343150" y="5086350"/>
            <a:ext cx="8686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F2A30"/>
                </a:solidFill>
                <a:latin typeface="Microsoft YaHei"/>
                <a:ea typeface="Microsoft YaHei"/>
                <a:cs typeface="Microsoft YaHei"/>
              </a:defRPr>
            </a:pPr>
            <a:r>
              <a:rPr sz="1350" b="0">
                <a:solidFill>
                  <a:srgbClr val="1F2A30"/>
                </a:solidFill>
                <a:latin typeface="Microsoft YaHei"/>
                <a:ea typeface="Microsoft YaHei"/>
                <a:cs typeface="Microsoft YaHei"/>
              </a:rPr>
              <a:t>高影响力成果带来的声誉收益集中在个人，数据保存、共同作者核验和重复实验的责任却容易被稀释。</a:t>
            </a:r>
          </a:p>
        </p:txBody>
      </p:sp>
    </p:spTree>
    <p:extLst>
      <p:ext uri="{BB962C8B-B14F-4D97-AF65-F5344CB8AC3E}">
        <p14:creationId xmlns:p14="http://schemas.microsoft.com/office/powerpoint/2010/main" val="548721352"/>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6D4DA78-BCC2-4D52-B569-D8CF87AB1EC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9DCB7B-5468-44BA-95AF-05C4BC07F16A}"/>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案例三：STAP 细胞论文撤稿</a:t>
            </a:r>
          </a:p>
        </p:txBody>
      </p:sp>
      <p:sp>
        <p:nvSpPr>
          <p:cNvPr id="3" name="">
            <a:extLst xmlns:a="http://schemas.openxmlformats.org/drawingml/2006/main">
              <a:ext uri="{FF2B5EF4-FFF2-40B4-BE49-F238E27FC236}">
                <a16:creationId xmlns:a16="http://schemas.microsoft.com/office/drawing/2014/main" id="{79B6F46E-723F-47F8-AE92-4D0F5CD9AAC5}"/>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从图像问题到样本来源失真，纠错依赖多重证据</a:t>
            </a:r>
          </a:p>
        </p:txBody>
      </p:sp>
      <p:sp>
        <p:nvSpPr>
          <p:cNvPr id="4" name="">
            <a:extLst xmlns:a="http://schemas.openxmlformats.org/drawingml/2006/main">
              <a:ext uri="{FF2B5EF4-FFF2-40B4-BE49-F238E27FC236}">
                <a16:creationId xmlns:a16="http://schemas.microsoft.com/office/drawing/2014/main" id="{DF62D150-ABDE-448F-A930-7ABF34F94632}"/>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07</a:t>
            </a:r>
          </a:p>
        </p:txBody>
      </p:sp>
      <p:sp>
        <p:nvSpPr>
          <p:cNvPr id="5" name="">
            <a:extLst xmlns:a="http://schemas.openxmlformats.org/drawingml/2006/main">
              <a:ext uri="{FF2B5EF4-FFF2-40B4-BE49-F238E27FC236}">
                <a16:creationId xmlns:a16="http://schemas.microsoft.com/office/drawing/2014/main" id="{5BE0ECBB-BD2A-4320-8EC3-2BC3CABB5528}"/>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366C0A87-8ABF-424B-8743-B809016CBAAC}"/>
              </a:ext>
            </a:extLst>
          </p:cNvPr>
          <p:cNvSpPr>
            <a:spLocks xmlns:a="http://schemas.openxmlformats.org/drawingml/2006/main" noGrp="1"/>
          </p:cNvSpPr>
          <p:nvPr/>
        </p:nvSpPr>
        <p:spPr>
          <a:xfrm xmlns:a="http://schemas.openxmlformats.org/drawingml/2006/main">
            <a:off x="2038350" y="1809750"/>
            <a:ext cx="0" cy="3143250"/>
          </a:xfrm>
          <a:prstGeom xmlns:a="http://schemas.openxmlformats.org/drawingml/2006/main" prst="line">
            <a:avLst/>
          </a:prstGeom>
          <a:ln xmlns:a="http://schemas.openxmlformats.org/drawingml/2006/main" w="38100">
            <a:solidFill>
              <a:srgbClr val="CAD5D8"/>
            </a:solidFill>
          </a:ln>
        </p:spPr>
      </p:sp>
      <p:sp>
        <p:nvSpPr>
          <p:cNvPr id="7" name="">
            <a:extLst xmlns:a="http://schemas.openxmlformats.org/drawingml/2006/main">
              <a:ext uri="{FF2B5EF4-FFF2-40B4-BE49-F238E27FC236}">
                <a16:creationId xmlns:a16="http://schemas.microsoft.com/office/drawing/2014/main" id="{C8602B5A-72AC-4FE6-818E-4EEB05FF0742}"/>
              </a:ext>
            </a:extLst>
          </p:cNvPr>
          <p:cNvSpPr>
            <a:spLocks xmlns:a="http://schemas.openxmlformats.org/drawingml/2006/main" noGrp="1"/>
          </p:cNvSpPr>
          <p:nvPr/>
        </p:nvSpPr>
        <p:spPr>
          <a:xfrm xmlns:a="http://schemas.openxmlformats.org/drawingml/2006/main">
            <a:off x="1876425" y="1733550"/>
            <a:ext cx="323850" cy="323850"/>
          </a:xfrm>
          <a:prstGeom xmlns:a="http://schemas.openxmlformats.org/drawingml/2006/main" prst="roundRect">
            <a:avLst>
              <a:gd name="adj" fmla="val 23529"/>
            </a:avLst>
          </a:prstGeom>
          <a:solidFill xmlns:a="http://schemas.openxmlformats.org/drawingml/2006/main">
            <a:srgbClr val="478C8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C3E7DB-DBED-43E2-8CDF-E3E8DCD6D6A7}"/>
              </a:ext>
            </a:extLst>
          </p:cNvPr>
          <p:cNvSpPr>
            <a:spLocks xmlns:a="http://schemas.openxmlformats.org/drawingml/2006/main" noGrp="1"/>
          </p:cNvSpPr>
          <p:nvPr/>
        </p:nvSpPr>
        <p:spPr>
          <a:xfrm xmlns:a="http://schemas.openxmlformats.org/drawingml/2006/main">
            <a:off x="704850" y="1676400"/>
            <a:ext cx="106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16"/>
          </a:bodyPr>
          <a:lstStyle xmlns:a="http://schemas.openxmlformats.org/drawingml/2006/main"/>
          <a:p xmlns:a="http://schemas.openxmlformats.org/drawingml/2006/main">
            <a:pPr algn="r">
              <a:defRPr sz="1200" b="1">
                <a:solidFill>
                  <a:srgbClr val="183247"/>
                </a:solidFill>
                <a:latin typeface="Microsoft YaHei"/>
                <a:ea typeface="Microsoft YaHei"/>
                <a:cs typeface="Microsoft YaHei"/>
              </a:defRPr>
            </a:pPr>
            <a:r>
              <a:rPr sz="1200" b="1">
                <a:solidFill>
                  <a:srgbClr val="183247"/>
                </a:solidFill>
                <a:latin typeface="Microsoft YaHei"/>
                <a:ea typeface="Microsoft YaHei"/>
                <a:cs typeface="Microsoft YaHei"/>
              </a:rPr>
              <a:t>2014 年 1 月</a:t>
            </a:r>
          </a:p>
        </p:txBody>
      </p:sp>
      <p:sp>
        <p:nvSpPr>
          <p:cNvPr id="9" name="">
            <a:extLst xmlns:a="http://schemas.openxmlformats.org/drawingml/2006/main">
              <a:ext uri="{FF2B5EF4-FFF2-40B4-BE49-F238E27FC236}">
                <a16:creationId xmlns:a16="http://schemas.microsoft.com/office/drawing/2014/main" id="{44D4CE47-E733-4E6C-9F7E-13BE1B786815}"/>
              </a:ext>
            </a:extLst>
          </p:cNvPr>
          <p:cNvSpPr>
            <a:spLocks xmlns:a="http://schemas.openxmlformats.org/drawingml/2006/main" noGrp="1"/>
          </p:cNvSpPr>
          <p:nvPr/>
        </p:nvSpPr>
        <p:spPr>
          <a:xfrm xmlns:a="http://schemas.openxmlformats.org/drawingml/2006/main">
            <a:off x="2495550" y="1638300"/>
            <a:ext cx="800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F2A30"/>
                </a:solidFill>
                <a:latin typeface="Microsoft YaHei"/>
                <a:ea typeface="Microsoft YaHei"/>
                <a:cs typeface="Microsoft YaHei"/>
              </a:defRPr>
            </a:pPr>
            <a:r>
              <a:rPr sz="1350" b="0">
                <a:solidFill>
                  <a:srgbClr val="1F2A30"/>
                </a:solidFill>
                <a:latin typeface="Microsoft YaHei"/>
                <a:ea typeface="Microsoft YaHei"/>
                <a:cs typeface="Microsoft YaHei"/>
              </a:rPr>
              <a:t>两篇论文声称外界刺激可使体细胞获得多能性。</a:t>
            </a:r>
          </a:p>
        </p:txBody>
      </p:sp>
      <p:sp>
        <p:nvSpPr>
          <p:cNvPr id="10" name="">
            <a:extLst xmlns:a="http://schemas.openxmlformats.org/drawingml/2006/main">
              <a:ext uri="{FF2B5EF4-FFF2-40B4-BE49-F238E27FC236}">
                <a16:creationId xmlns:a16="http://schemas.microsoft.com/office/drawing/2014/main" id="{58403BC1-61A1-4D1E-96E2-9C2E861B79B6}"/>
              </a:ext>
            </a:extLst>
          </p:cNvPr>
          <p:cNvSpPr>
            <a:spLocks xmlns:a="http://schemas.openxmlformats.org/drawingml/2006/main" noGrp="1"/>
          </p:cNvSpPr>
          <p:nvPr/>
        </p:nvSpPr>
        <p:spPr>
          <a:xfrm xmlns:a="http://schemas.openxmlformats.org/drawingml/2006/main">
            <a:off x="1876425" y="2628900"/>
            <a:ext cx="323850" cy="323850"/>
          </a:xfrm>
          <a:prstGeom xmlns:a="http://schemas.openxmlformats.org/drawingml/2006/main" prst="roundRect">
            <a:avLst>
              <a:gd name="adj" fmla="val 23529"/>
            </a:avLst>
          </a:prstGeom>
          <a:solidFill xmlns:a="http://schemas.openxmlformats.org/drawingml/2006/main">
            <a:srgbClr val="478C8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B46D176-BCBE-4D07-9D0C-9487F27CC05F}"/>
              </a:ext>
            </a:extLst>
          </p:cNvPr>
          <p:cNvSpPr>
            <a:spLocks xmlns:a="http://schemas.openxmlformats.org/drawingml/2006/main" noGrp="1"/>
          </p:cNvSpPr>
          <p:nvPr/>
        </p:nvSpPr>
        <p:spPr>
          <a:xfrm xmlns:a="http://schemas.openxmlformats.org/drawingml/2006/main">
            <a:off x="704850" y="2571750"/>
            <a:ext cx="106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183247"/>
                </a:solidFill>
                <a:latin typeface="Microsoft YaHei"/>
                <a:ea typeface="Microsoft YaHei"/>
                <a:cs typeface="Microsoft YaHei"/>
              </a:defRPr>
            </a:pPr>
            <a:r>
              <a:rPr sz="1200" b="1">
                <a:solidFill>
                  <a:srgbClr val="183247"/>
                </a:solidFill>
                <a:latin typeface="Microsoft YaHei"/>
                <a:ea typeface="Microsoft YaHei"/>
                <a:cs typeface="Microsoft YaHei"/>
              </a:rPr>
              <a:t>质疑出现</a:t>
            </a:r>
          </a:p>
        </p:txBody>
      </p:sp>
      <p:sp>
        <p:nvSpPr>
          <p:cNvPr id="12" name="">
            <a:extLst xmlns:a="http://schemas.openxmlformats.org/drawingml/2006/main">
              <a:ext uri="{FF2B5EF4-FFF2-40B4-BE49-F238E27FC236}">
                <a16:creationId xmlns:a16="http://schemas.microsoft.com/office/drawing/2014/main" id="{62BDC398-9020-479D-8B69-74B60515D1F8}"/>
              </a:ext>
            </a:extLst>
          </p:cNvPr>
          <p:cNvSpPr>
            <a:spLocks xmlns:a="http://schemas.openxmlformats.org/drawingml/2006/main" noGrp="1"/>
          </p:cNvSpPr>
          <p:nvPr/>
        </p:nvSpPr>
        <p:spPr>
          <a:xfrm xmlns:a="http://schemas.openxmlformats.org/drawingml/2006/main">
            <a:off x="2495550" y="2533650"/>
            <a:ext cx="800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F2A30"/>
                </a:solidFill>
                <a:latin typeface="Microsoft YaHei"/>
                <a:ea typeface="Microsoft YaHei"/>
                <a:cs typeface="Microsoft YaHei"/>
              </a:defRPr>
            </a:pPr>
            <a:r>
              <a:rPr sz="1350" b="0">
                <a:solidFill>
                  <a:srgbClr val="1F2A30"/>
                </a:solidFill>
                <a:latin typeface="Microsoft YaHei"/>
                <a:ea typeface="Microsoft YaHei"/>
                <a:cs typeface="Microsoft YaHei"/>
              </a:rPr>
              <a:t>同行发现图像、文字和实验复现方面的异常。</a:t>
            </a:r>
          </a:p>
        </p:txBody>
      </p:sp>
      <p:sp>
        <p:nvSpPr>
          <p:cNvPr id="13" name="">
            <a:extLst xmlns:a="http://schemas.openxmlformats.org/drawingml/2006/main">
              <a:ext uri="{FF2B5EF4-FFF2-40B4-BE49-F238E27FC236}">
                <a16:creationId xmlns:a16="http://schemas.microsoft.com/office/drawing/2014/main" id="{79139E43-30CE-4309-B00A-D71738331A04}"/>
              </a:ext>
            </a:extLst>
          </p:cNvPr>
          <p:cNvSpPr>
            <a:spLocks xmlns:a="http://schemas.openxmlformats.org/drawingml/2006/main" noGrp="1"/>
          </p:cNvSpPr>
          <p:nvPr/>
        </p:nvSpPr>
        <p:spPr>
          <a:xfrm xmlns:a="http://schemas.openxmlformats.org/drawingml/2006/main">
            <a:off x="1876425" y="3524250"/>
            <a:ext cx="323850" cy="323850"/>
          </a:xfrm>
          <a:prstGeom xmlns:a="http://schemas.openxmlformats.org/drawingml/2006/main" prst="roundRect">
            <a:avLst>
              <a:gd name="adj" fmla="val 23529"/>
            </a:avLst>
          </a:prstGeom>
          <a:solidFill xmlns:a="http://schemas.openxmlformats.org/drawingml/2006/main">
            <a:srgbClr val="B45C3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CC55252-0F1D-4D6C-A7A9-C16736AAB1D8}"/>
              </a:ext>
            </a:extLst>
          </p:cNvPr>
          <p:cNvSpPr>
            <a:spLocks xmlns:a="http://schemas.openxmlformats.org/drawingml/2006/main" noGrp="1"/>
          </p:cNvSpPr>
          <p:nvPr/>
        </p:nvSpPr>
        <p:spPr>
          <a:xfrm xmlns:a="http://schemas.openxmlformats.org/drawingml/2006/main">
            <a:off x="704850" y="3467100"/>
            <a:ext cx="106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183247"/>
                </a:solidFill>
                <a:latin typeface="Microsoft YaHei"/>
                <a:ea typeface="Microsoft YaHei"/>
                <a:cs typeface="Microsoft YaHei"/>
              </a:defRPr>
            </a:pPr>
            <a:r>
              <a:rPr sz="1200" b="1">
                <a:solidFill>
                  <a:srgbClr val="183247"/>
                </a:solidFill>
                <a:latin typeface="Microsoft YaHei"/>
                <a:ea typeface="Microsoft YaHei"/>
                <a:cs typeface="Microsoft YaHei"/>
              </a:rPr>
              <a:t>调查与撤稿</a:t>
            </a:r>
          </a:p>
        </p:txBody>
      </p:sp>
      <p:sp>
        <p:nvSpPr>
          <p:cNvPr id="15" name="">
            <a:extLst xmlns:a="http://schemas.openxmlformats.org/drawingml/2006/main">
              <a:ext uri="{FF2B5EF4-FFF2-40B4-BE49-F238E27FC236}">
                <a16:creationId xmlns:a16="http://schemas.microsoft.com/office/drawing/2014/main" id="{7751687C-F456-4992-8DD2-2D5AB61A708B}"/>
              </a:ext>
            </a:extLst>
          </p:cNvPr>
          <p:cNvSpPr>
            <a:spLocks xmlns:a="http://schemas.openxmlformats.org/drawingml/2006/main" noGrp="1"/>
          </p:cNvSpPr>
          <p:nvPr/>
        </p:nvSpPr>
        <p:spPr>
          <a:xfrm xmlns:a="http://schemas.openxmlformats.org/drawingml/2006/main">
            <a:off x="2495550" y="3429000"/>
            <a:ext cx="800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F2A30"/>
                </a:solidFill>
                <a:latin typeface="Microsoft YaHei"/>
                <a:ea typeface="Microsoft YaHei"/>
                <a:cs typeface="Microsoft YaHei"/>
              </a:defRPr>
            </a:pPr>
            <a:r>
              <a:rPr sz="1350" b="0">
                <a:solidFill>
                  <a:srgbClr val="1F2A30"/>
                </a:solidFill>
                <a:latin typeface="Microsoft YaHei"/>
                <a:ea typeface="Microsoft YaHei"/>
                <a:cs typeface="Microsoft YaHei"/>
              </a:rPr>
              <a:t>理化学研究所调查，论文于 2014 年撤回。</a:t>
            </a:r>
          </a:p>
        </p:txBody>
      </p:sp>
      <p:sp>
        <p:nvSpPr>
          <p:cNvPr id="16" name="">
            <a:extLst xmlns:a="http://schemas.openxmlformats.org/drawingml/2006/main">
              <a:ext uri="{FF2B5EF4-FFF2-40B4-BE49-F238E27FC236}">
                <a16:creationId xmlns:a16="http://schemas.microsoft.com/office/drawing/2014/main" id="{0D15972A-2FBD-4555-BE67-0EBC957DB7E3}"/>
              </a:ext>
            </a:extLst>
          </p:cNvPr>
          <p:cNvSpPr>
            <a:spLocks xmlns:a="http://schemas.openxmlformats.org/drawingml/2006/main" noGrp="1"/>
          </p:cNvSpPr>
          <p:nvPr/>
        </p:nvSpPr>
        <p:spPr>
          <a:xfrm xmlns:a="http://schemas.openxmlformats.org/drawingml/2006/main">
            <a:off x="1876425" y="4419600"/>
            <a:ext cx="323850" cy="323850"/>
          </a:xfrm>
          <a:prstGeom xmlns:a="http://schemas.openxmlformats.org/drawingml/2006/main" prst="roundRect">
            <a:avLst>
              <a:gd name="adj" fmla="val 23529"/>
            </a:avLst>
          </a:prstGeom>
          <a:solidFill xmlns:a="http://schemas.openxmlformats.org/drawingml/2006/main">
            <a:srgbClr val="478C8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D3508F7-5FF8-4858-A4AD-81CFCD6DC9C4}"/>
              </a:ext>
            </a:extLst>
          </p:cNvPr>
          <p:cNvSpPr>
            <a:spLocks xmlns:a="http://schemas.openxmlformats.org/drawingml/2006/main" noGrp="1"/>
          </p:cNvSpPr>
          <p:nvPr/>
        </p:nvSpPr>
        <p:spPr>
          <a:xfrm xmlns:a="http://schemas.openxmlformats.org/drawingml/2006/main">
            <a:off x="704850" y="4362450"/>
            <a:ext cx="106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183247"/>
                </a:solidFill>
                <a:latin typeface="Microsoft YaHei"/>
                <a:ea typeface="Microsoft YaHei"/>
                <a:cs typeface="Microsoft YaHei"/>
              </a:defRPr>
            </a:pPr>
            <a:r>
              <a:rPr sz="1200" b="1">
                <a:solidFill>
                  <a:srgbClr val="183247"/>
                </a:solidFill>
                <a:latin typeface="Microsoft YaHei"/>
                <a:ea typeface="Microsoft YaHei"/>
                <a:cs typeface="Microsoft YaHei"/>
              </a:rPr>
              <a:t>后续验证</a:t>
            </a:r>
          </a:p>
        </p:txBody>
      </p:sp>
      <p:sp>
        <p:nvSpPr>
          <p:cNvPr id="18" name="">
            <a:extLst xmlns:a="http://schemas.openxmlformats.org/drawingml/2006/main">
              <a:ext uri="{FF2B5EF4-FFF2-40B4-BE49-F238E27FC236}">
                <a16:creationId xmlns:a16="http://schemas.microsoft.com/office/drawing/2014/main" id="{CCE15843-2665-4C25-A596-458A834C4C6F}"/>
              </a:ext>
            </a:extLst>
          </p:cNvPr>
          <p:cNvSpPr>
            <a:spLocks xmlns:a="http://schemas.openxmlformats.org/drawingml/2006/main" noGrp="1"/>
          </p:cNvSpPr>
          <p:nvPr/>
        </p:nvSpPr>
        <p:spPr>
          <a:xfrm xmlns:a="http://schemas.openxmlformats.org/drawingml/2006/main">
            <a:off x="2495550" y="4324350"/>
            <a:ext cx="800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F2A30"/>
                </a:solidFill>
                <a:latin typeface="Microsoft YaHei"/>
                <a:ea typeface="Microsoft YaHei"/>
                <a:cs typeface="Microsoft YaHei"/>
              </a:defRPr>
            </a:pPr>
            <a:r>
              <a:rPr sz="1350" b="0">
                <a:solidFill>
                  <a:srgbClr val="1F2A30"/>
                </a:solidFill>
                <a:latin typeface="Microsoft YaHei"/>
                <a:ea typeface="Microsoft YaHei"/>
                <a:cs typeface="Microsoft YaHei"/>
              </a:rPr>
              <a:t>基因组分析显示所谓 STAP 细胞系来自胚胎干细胞污染，独立实验未能复现现象。</a:t>
            </a:r>
          </a:p>
        </p:txBody>
      </p:sp>
      <p:sp>
        <p:nvSpPr>
          <p:cNvPr id="19" name="">
            <a:extLst xmlns:a="http://schemas.openxmlformats.org/drawingml/2006/main">
              <a:ext uri="{FF2B5EF4-FFF2-40B4-BE49-F238E27FC236}">
                <a16:creationId xmlns:a16="http://schemas.microsoft.com/office/drawing/2014/main" id="{288D281E-D665-44E6-9013-9BB254D78AAB}"/>
              </a:ext>
            </a:extLst>
          </p:cNvPr>
          <p:cNvSpPr>
            <a:spLocks xmlns:a="http://schemas.openxmlformats.org/drawingml/2006/main" noGrp="1"/>
          </p:cNvSpPr>
          <p:nvPr/>
        </p:nvSpPr>
        <p:spPr>
          <a:xfrm xmlns:a="http://schemas.openxmlformats.org/drawingml/2006/main">
            <a:off x="723900" y="5467350"/>
            <a:ext cx="10287000" cy="514350"/>
          </a:xfrm>
          <a:prstGeom xmlns:a="http://schemas.openxmlformats.org/drawingml/2006/main" prst="roundRect">
            <a:avLst>
              <a:gd name="adj" fmla="val 14815"/>
            </a:avLst>
          </a:prstGeom>
          <a:solidFill xmlns:a="http://schemas.openxmlformats.org/drawingml/2006/main">
            <a:srgbClr val="EEF3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AAA2B56-B3D7-42FE-AAC9-710A67BDA0E3}"/>
              </a:ext>
            </a:extLst>
          </p:cNvPr>
          <p:cNvSpPr>
            <a:spLocks xmlns:a="http://schemas.openxmlformats.org/drawingml/2006/main" noGrp="1"/>
          </p:cNvSpPr>
          <p:nvPr/>
        </p:nvSpPr>
        <p:spPr>
          <a:xfrm xmlns:a="http://schemas.openxmlformats.org/drawingml/2006/main">
            <a:off x="914400" y="55626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D6280"/>
                </a:solidFill>
                <a:latin typeface="Microsoft YaHei"/>
                <a:ea typeface="Microsoft YaHei"/>
                <a:cs typeface="Microsoft YaHei"/>
              </a:defRPr>
            </a:pPr>
            <a:r>
              <a:rPr sz="1350" b="1">
                <a:solidFill>
                  <a:srgbClr val="2D6280"/>
                </a:solidFill>
                <a:latin typeface="Microsoft YaHei"/>
                <a:ea typeface="Microsoft YaHei"/>
                <a:cs typeface="Microsoft YaHei"/>
              </a:rPr>
              <a:t>核心教训：图片检查只能发现表征层异常，样本谱系、原始记录和独立复现才能检验主张本身</a:t>
            </a:r>
          </a:p>
        </p:txBody>
      </p:sp>
    </p:spTree>
    <p:extLst>
      <p:ext uri="{BB962C8B-B14F-4D97-AF65-F5344CB8AC3E}">
        <p14:creationId xmlns:p14="http://schemas.microsoft.com/office/powerpoint/2010/main" val="190778656"/>
      </p:ext>
    </p:extLst>
  </p:cSld>
</p:sld>
</file>

<file path=ppt/slides/slide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10B9810-485D-47EF-87BE-14A334507BD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A14EE4-10BF-4886-B6E8-951E48E9F021}"/>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认识论成因：证据链在何处断裂</a:t>
            </a:r>
          </a:p>
        </p:txBody>
      </p:sp>
      <p:sp>
        <p:nvSpPr>
          <p:cNvPr id="3" name="">
            <a:extLst xmlns:a="http://schemas.openxmlformats.org/drawingml/2006/main">
              <a:ext uri="{FF2B5EF4-FFF2-40B4-BE49-F238E27FC236}">
                <a16:creationId xmlns:a16="http://schemas.microsoft.com/office/drawing/2014/main" id="{24DF5ADC-EA57-43F6-A220-6EF687B0C150}"/>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科研知识依赖可检验的推理链，而非单个漂亮结论</a:t>
            </a:r>
          </a:p>
        </p:txBody>
      </p:sp>
      <p:sp>
        <p:nvSpPr>
          <p:cNvPr id="4" name="">
            <a:extLst xmlns:a="http://schemas.openxmlformats.org/drawingml/2006/main">
              <a:ext uri="{FF2B5EF4-FFF2-40B4-BE49-F238E27FC236}">
                <a16:creationId xmlns:a16="http://schemas.microsoft.com/office/drawing/2014/main" id="{4BD05A3C-076A-4191-8C50-DBE43210F2E6}"/>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08</a:t>
            </a:r>
          </a:p>
        </p:txBody>
      </p:sp>
      <p:sp>
        <p:nvSpPr>
          <p:cNvPr id="5" name="">
            <a:extLst xmlns:a="http://schemas.openxmlformats.org/drawingml/2006/main">
              <a:ext uri="{FF2B5EF4-FFF2-40B4-BE49-F238E27FC236}">
                <a16:creationId xmlns:a16="http://schemas.microsoft.com/office/drawing/2014/main" id="{38750095-AABE-4F6D-9F83-35654318A26A}"/>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39581F66-DB09-4D4B-892B-1139B95F6576}"/>
              </a:ext>
            </a:extLst>
          </p:cNvPr>
          <p:cNvSpPr>
            <a:spLocks xmlns:a="http://schemas.openxmlformats.org/drawingml/2006/main" noGrp="1"/>
          </p:cNvSpPr>
          <p:nvPr/>
        </p:nvSpPr>
        <p:spPr>
          <a:xfrm xmlns:a="http://schemas.openxmlformats.org/drawingml/2006/main">
            <a:off x="666750" y="1695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问题与假设</a:t>
            </a:r>
          </a:p>
        </p:txBody>
      </p:sp>
      <p:sp>
        <p:nvSpPr>
          <p:cNvPr id="7" name="">
            <a:extLst xmlns:a="http://schemas.openxmlformats.org/drawingml/2006/main">
              <a:ext uri="{FF2B5EF4-FFF2-40B4-BE49-F238E27FC236}">
                <a16:creationId xmlns:a16="http://schemas.microsoft.com/office/drawing/2014/main" id="{873016A5-0CC5-49BB-8AB9-3FC78CE8C498}"/>
              </a:ext>
            </a:extLst>
          </p:cNvPr>
          <p:cNvSpPr>
            <a:spLocks xmlns:a="http://schemas.openxmlformats.org/drawingml/2006/main" noGrp="1"/>
          </p:cNvSpPr>
          <p:nvPr/>
        </p:nvSpPr>
        <p:spPr>
          <a:xfrm xmlns:a="http://schemas.openxmlformats.org/drawingml/2006/main">
            <a:off x="1047750" y="2209800"/>
            <a:ext cx="1047750" cy="1047750"/>
          </a:xfrm>
          <a:prstGeom xmlns:a="http://schemas.openxmlformats.org/drawingml/2006/main" prst="roundRect">
            <a:avLst>
              <a:gd name="adj" fmla="val 7273"/>
            </a:avLst>
          </a:prstGeom>
          <a:solidFill xmlns:a="http://schemas.openxmlformats.org/drawingml/2006/main">
            <a:srgbClr val="EE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B4A0FDF-F80E-41BA-B204-863597582439}"/>
              </a:ext>
            </a:extLst>
          </p:cNvPr>
          <p:cNvSpPr>
            <a:spLocks xmlns:a="http://schemas.openxmlformats.org/drawingml/2006/main" noGrp="1"/>
          </p:cNvSpPr>
          <p:nvPr/>
        </p:nvSpPr>
        <p:spPr>
          <a:xfrm xmlns:a="http://schemas.openxmlformats.org/drawingml/2006/main">
            <a:off x="1314450" y="24574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478C88"/>
                </a:solidFill>
                <a:latin typeface="Microsoft YaHei"/>
                <a:ea typeface="Microsoft YaHei"/>
                <a:cs typeface="Microsoft YaHei"/>
              </a:defRPr>
            </a:pPr>
            <a:r>
              <a:rPr sz="2250" b="1">
                <a:solidFill>
                  <a:srgbClr val="478C88"/>
                </a:solidFill>
                <a:latin typeface="Microsoft YaHei"/>
                <a:ea typeface="Microsoft YaHei"/>
                <a:cs typeface="Microsoft YaHei"/>
              </a:rPr>
              <a:t>1</a:t>
            </a:r>
          </a:p>
        </p:txBody>
      </p:sp>
      <p:sp>
        <p:nvSpPr>
          <p:cNvPr id="9" name="">
            <a:extLst xmlns:a="http://schemas.openxmlformats.org/drawingml/2006/main">
              <a:ext uri="{FF2B5EF4-FFF2-40B4-BE49-F238E27FC236}">
                <a16:creationId xmlns:a16="http://schemas.microsoft.com/office/drawing/2014/main" id="{397BBD28-A2C8-492B-977B-4CB24172BD5D}"/>
              </a:ext>
            </a:extLst>
          </p:cNvPr>
          <p:cNvSpPr>
            <a:spLocks xmlns:a="http://schemas.openxmlformats.org/drawingml/2006/main" noGrp="1"/>
          </p:cNvSpPr>
          <p:nvPr/>
        </p:nvSpPr>
        <p:spPr>
          <a:xfrm xmlns:a="http://schemas.openxmlformats.org/drawingml/2006/main">
            <a:off x="666750" y="3486150"/>
            <a:ext cx="180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追逐热点</a:t>
            </a:r>
          </a:p>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把期待当事实</a:t>
            </a:r>
          </a:p>
        </p:txBody>
      </p:sp>
      <p:sp>
        <p:nvSpPr>
          <p:cNvPr id="10" name="">
            <a:extLst xmlns:a="http://schemas.openxmlformats.org/drawingml/2006/main">
              <a:ext uri="{FF2B5EF4-FFF2-40B4-BE49-F238E27FC236}">
                <a16:creationId xmlns:a16="http://schemas.microsoft.com/office/drawing/2014/main" id="{8F5259F9-F8A7-4265-9C03-3305D434A68E}"/>
              </a:ext>
            </a:extLst>
          </p:cNvPr>
          <p:cNvSpPr>
            <a:spLocks xmlns:a="http://schemas.openxmlformats.org/drawingml/2006/main" noGrp="1"/>
          </p:cNvSpPr>
          <p:nvPr/>
        </p:nvSpPr>
        <p:spPr>
          <a:xfrm xmlns:a="http://schemas.openxmlformats.org/drawingml/2006/main">
            <a:off x="2095500" y="2733675"/>
            <a:ext cx="781050" cy="0"/>
          </a:xfrm>
          <a:prstGeom xmlns:a="http://schemas.openxmlformats.org/drawingml/2006/main" prst="line">
            <a:avLst/>
          </a:prstGeom>
          <a:ln xmlns:a="http://schemas.openxmlformats.org/drawingml/2006/main" w="28575">
            <a:solidFill>
              <a:srgbClr val="CAD5D8"/>
            </a:solidFill>
          </a:ln>
        </p:spPr>
      </p:sp>
      <p:sp>
        <p:nvSpPr>
          <p:cNvPr id="11" name="">
            <a:extLst xmlns:a="http://schemas.openxmlformats.org/drawingml/2006/main">
              <a:ext uri="{FF2B5EF4-FFF2-40B4-BE49-F238E27FC236}">
                <a16:creationId xmlns:a16="http://schemas.microsoft.com/office/drawing/2014/main" id="{05B5E241-3627-4680-BF51-6FCCAB721671}"/>
              </a:ext>
            </a:extLst>
          </p:cNvPr>
          <p:cNvSpPr>
            <a:spLocks xmlns:a="http://schemas.openxmlformats.org/drawingml/2006/main" noGrp="1"/>
          </p:cNvSpPr>
          <p:nvPr/>
        </p:nvSpPr>
        <p:spPr>
          <a:xfrm xmlns:a="http://schemas.openxmlformats.org/drawingml/2006/main">
            <a:off x="2876550" y="1695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采集与记录</a:t>
            </a:r>
          </a:p>
        </p:txBody>
      </p:sp>
      <p:sp>
        <p:nvSpPr>
          <p:cNvPr id="12" name="">
            <a:extLst xmlns:a="http://schemas.openxmlformats.org/drawingml/2006/main">
              <a:ext uri="{FF2B5EF4-FFF2-40B4-BE49-F238E27FC236}">
                <a16:creationId xmlns:a16="http://schemas.microsoft.com/office/drawing/2014/main" id="{CE14EE83-838F-49D0-8643-5495D10D1519}"/>
              </a:ext>
            </a:extLst>
          </p:cNvPr>
          <p:cNvSpPr>
            <a:spLocks xmlns:a="http://schemas.openxmlformats.org/drawingml/2006/main" noGrp="1"/>
          </p:cNvSpPr>
          <p:nvPr/>
        </p:nvSpPr>
        <p:spPr>
          <a:xfrm xmlns:a="http://schemas.openxmlformats.org/drawingml/2006/main">
            <a:off x="3257550" y="2209800"/>
            <a:ext cx="1047750" cy="1047750"/>
          </a:xfrm>
          <a:prstGeom xmlns:a="http://schemas.openxmlformats.org/drawingml/2006/main" prst="roundRect">
            <a:avLst>
              <a:gd name="adj" fmla="val 7273"/>
            </a:avLst>
          </a:prstGeom>
          <a:solidFill xmlns:a="http://schemas.openxmlformats.org/drawingml/2006/main">
            <a:srgbClr val="EEF3F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59D08F3-2760-4934-AD4E-B74A73836754}"/>
              </a:ext>
            </a:extLst>
          </p:cNvPr>
          <p:cNvSpPr>
            <a:spLocks xmlns:a="http://schemas.openxmlformats.org/drawingml/2006/main" noGrp="1"/>
          </p:cNvSpPr>
          <p:nvPr/>
        </p:nvSpPr>
        <p:spPr>
          <a:xfrm xmlns:a="http://schemas.openxmlformats.org/drawingml/2006/main">
            <a:off x="3524250" y="24574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478C88"/>
                </a:solidFill>
                <a:latin typeface="Microsoft YaHei"/>
                <a:ea typeface="Microsoft YaHei"/>
                <a:cs typeface="Microsoft YaHei"/>
              </a:defRPr>
            </a:pPr>
            <a:r>
              <a:rPr sz="2250" b="1">
                <a:solidFill>
                  <a:srgbClr val="478C88"/>
                </a:solidFill>
                <a:latin typeface="Microsoft YaHei"/>
                <a:ea typeface="Microsoft YaHei"/>
                <a:cs typeface="Microsoft YaHei"/>
              </a:rPr>
              <a:t>2</a:t>
            </a:r>
          </a:p>
        </p:txBody>
      </p:sp>
      <p:sp>
        <p:nvSpPr>
          <p:cNvPr id="14" name="">
            <a:extLst xmlns:a="http://schemas.openxmlformats.org/drawingml/2006/main">
              <a:ext uri="{FF2B5EF4-FFF2-40B4-BE49-F238E27FC236}">
                <a16:creationId xmlns:a16="http://schemas.microsoft.com/office/drawing/2014/main" id="{49A46ACC-1E3B-4196-A454-39BD84EECCB8}"/>
              </a:ext>
            </a:extLst>
          </p:cNvPr>
          <p:cNvSpPr>
            <a:spLocks xmlns:a="http://schemas.openxmlformats.org/drawingml/2006/main" noGrp="1"/>
          </p:cNvSpPr>
          <p:nvPr/>
        </p:nvSpPr>
        <p:spPr>
          <a:xfrm xmlns:a="http://schemas.openxmlformats.org/drawingml/2006/main">
            <a:off x="2876550" y="3486150"/>
            <a:ext cx="180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原始数据缺失</a:t>
            </a:r>
          </a:p>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选择性留存</a:t>
            </a:r>
          </a:p>
        </p:txBody>
      </p:sp>
      <p:sp>
        <p:nvSpPr>
          <p:cNvPr id="15" name="">
            <a:extLst xmlns:a="http://schemas.openxmlformats.org/drawingml/2006/main">
              <a:ext uri="{FF2B5EF4-FFF2-40B4-BE49-F238E27FC236}">
                <a16:creationId xmlns:a16="http://schemas.microsoft.com/office/drawing/2014/main" id="{B1861FAD-CA85-45BA-AEA8-415BD0262E7A}"/>
              </a:ext>
            </a:extLst>
          </p:cNvPr>
          <p:cNvSpPr>
            <a:spLocks xmlns:a="http://schemas.openxmlformats.org/drawingml/2006/main" noGrp="1"/>
          </p:cNvSpPr>
          <p:nvPr/>
        </p:nvSpPr>
        <p:spPr>
          <a:xfrm xmlns:a="http://schemas.openxmlformats.org/drawingml/2006/main">
            <a:off x="4305300" y="2733675"/>
            <a:ext cx="781050" cy="0"/>
          </a:xfrm>
          <a:prstGeom xmlns:a="http://schemas.openxmlformats.org/drawingml/2006/main" prst="line">
            <a:avLst/>
          </a:prstGeom>
          <a:ln xmlns:a="http://schemas.openxmlformats.org/drawingml/2006/main" w="28575">
            <a:solidFill>
              <a:srgbClr val="CAD5D8"/>
            </a:solidFill>
          </a:ln>
        </p:spPr>
      </p:sp>
      <p:sp>
        <p:nvSpPr>
          <p:cNvPr id="16" name="">
            <a:extLst xmlns:a="http://schemas.openxmlformats.org/drawingml/2006/main">
              <a:ext uri="{FF2B5EF4-FFF2-40B4-BE49-F238E27FC236}">
                <a16:creationId xmlns:a16="http://schemas.microsoft.com/office/drawing/2014/main" id="{5374CCD5-F4B3-4F87-A60B-5208A881A6DC}"/>
              </a:ext>
            </a:extLst>
          </p:cNvPr>
          <p:cNvSpPr>
            <a:spLocks xmlns:a="http://schemas.openxmlformats.org/drawingml/2006/main" noGrp="1"/>
          </p:cNvSpPr>
          <p:nvPr/>
        </p:nvSpPr>
        <p:spPr>
          <a:xfrm xmlns:a="http://schemas.openxmlformats.org/drawingml/2006/main">
            <a:off x="5086350" y="1695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处理与统计</a:t>
            </a:r>
          </a:p>
        </p:txBody>
      </p:sp>
      <p:sp>
        <p:nvSpPr>
          <p:cNvPr id="17" name="">
            <a:extLst xmlns:a="http://schemas.openxmlformats.org/drawingml/2006/main">
              <a:ext uri="{FF2B5EF4-FFF2-40B4-BE49-F238E27FC236}">
                <a16:creationId xmlns:a16="http://schemas.microsoft.com/office/drawing/2014/main" id="{29687CE5-1CD7-484B-97F4-CF64422D4F37}"/>
              </a:ext>
            </a:extLst>
          </p:cNvPr>
          <p:cNvSpPr>
            <a:spLocks xmlns:a="http://schemas.openxmlformats.org/drawingml/2006/main" noGrp="1"/>
          </p:cNvSpPr>
          <p:nvPr/>
        </p:nvSpPr>
        <p:spPr>
          <a:xfrm xmlns:a="http://schemas.openxmlformats.org/drawingml/2006/main">
            <a:off x="5467350" y="2209800"/>
            <a:ext cx="1047750" cy="1047750"/>
          </a:xfrm>
          <a:prstGeom xmlns:a="http://schemas.openxmlformats.org/drawingml/2006/main" prst="roundRect">
            <a:avLst>
              <a:gd name="adj" fmla="val 7273"/>
            </a:avLst>
          </a:prstGeom>
          <a:solidFill xmlns:a="http://schemas.openxmlformats.org/drawingml/2006/main">
            <a:srgbClr val="F1DED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DA6EACC-DA47-47E8-B111-BF3D53F22FF0}"/>
              </a:ext>
            </a:extLst>
          </p:cNvPr>
          <p:cNvSpPr>
            <a:spLocks xmlns:a="http://schemas.openxmlformats.org/drawingml/2006/main" noGrp="1"/>
          </p:cNvSpPr>
          <p:nvPr/>
        </p:nvSpPr>
        <p:spPr>
          <a:xfrm xmlns:a="http://schemas.openxmlformats.org/drawingml/2006/main">
            <a:off x="5734050" y="24574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B45C3E"/>
                </a:solidFill>
                <a:latin typeface="Microsoft YaHei"/>
                <a:ea typeface="Microsoft YaHei"/>
                <a:cs typeface="Microsoft YaHei"/>
              </a:defRPr>
            </a:pPr>
            <a:r>
              <a:rPr sz="2250" b="1">
                <a:solidFill>
                  <a:srgbClr val="B45C3E"/>
                </a:solidFill>
                <a:latin typeface="Microsoft YaHei"/>
                <a:ea typeface="Microsoft YaHei"/>
                <a:cs typeface="Microsoft YaHei"/>
              </a:rPr>
              <a:t>3</a:t>
            </a:r>
          </a:p>
        </p:txBody>
      </p:sp>
      <p:sp>
        <p:nvSpPr>
          <p:cNvPr id="19" name="">
            <a:extLst xmlns:a="http://schemas.openxmlformats.org/drawingml/2006/main">
              <a:ext uri="{FF2B5EF4-FFF2-40B4-BE49-F238E27FC236}">
                <a16:creationId xmlns:a16="http://schemas.microsoft.com/office/drawing/2014/main" id="{48425F91-4A90-4942-95BE-A887F3794935}"/>
              </a:ext>
            </a:extLst>
          </p:cNvPr>
          <p:cNvSpPr>
            <a:spLocks xmlns:a="http://schemas.openxmlformats.org/drawingml/2006/main" noGrp="1"/>
          </p:cNvSpPr>
          <p:nvPr/>
        </p:nvSpPr>
        <p:spPr>
          <a:xfrm xmlns:a="http://schemas.openxmlformats.org/drawingml/2006/main">
            <a:off x="5086350" y="3486150"/>
            <a:ext cx="180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过度拟合</a:t>
            </a:r>
          </a:p>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排除不利数据</a:t>
            </a:r>
          </a:p>
        </p:txBody>
      </p:sp>
      <p:sp>
        <p:nvSpPr>
          <p:cNvPr id="20" name="">
            <a:extLst xmlns:a="http://schemas.openxmlformats.org/drawingml/2006/main">
              <a:ext uri="{FF2B5EF4-FFF2-40B4-BE49-F238E27FC236}">
                <a16:creationId xmlns:a16="http://schemas.microsoft.com/office/drawing/2014/main" id="{77DAC74E-6B12-4F58-B974-2A0541F39ADE}"/>
              </a:ext>
            </a:extLst>
          </p:cNvPr>
          <p:cNvSpPr>
            <a:spLocks xmlns:a="http://schemas.openxmlformats.org/drawingml/2006/main" noGrp="1"/>
          </p:cNvSpPr>
          <p:nvPr/>
        </p:nvSpPr>
        <p:spPr>
          <a:xfrm xmlns:a="http://schemas.openxmlformats.org/drawingml/2006/main">
            <a:off x="6515100" y="2733675"/>
            <a:ext cx="781050" cy="0"/>
          </a:xfrm>
          <a:prstGeom xmlns:a="http://schemas.openxmlformats.org/drawingml/2006/main" prst="line">
            <a:avLst/>
          </a:prstGeom>
          <a:ln xmlns:a="http://schemas.openxmlformats.org/drawingml/2006/main" w="28575">
            <a:solidFill>
              <a:srgbClr val="CAD5D8"/>
            </a:solidFill>
          </a:ln>
        </p:spPr>
      </p:sp>
      <p:sp>
        <p:nvSpPr>
          <p:cNvPr id="21" name="">
            <a:extLst xmlns:a="http://schemas.openxmlformats.org/drawingml/2006/main">
              <a:ext uri="{FF2B5EF4-FFF2-40B4-BE49-F238E27FC236}">
                <a16:creationId xmlns:a16="http://schemas.microsoft.com/office/drawing/2014/main" id="{B126B695-8F43-484D-BFFF-FF55B0FF5EE0}"/>
              </a:ext>
            </a:extLst>
          </p:cNvPr>
          <p:cNvSpPr>
            <a:spLocks xmlns:a="http://schemas.openxmlformats.org/drawingml/2006/main" noGrp="1"/>
          </p:cNvSpPr>
          <p:nvPr/>
        </p:nvSpPr>
        <p:spPr>
          <a:xfrm xmlns:a="http://schemas.openxmlformats.org/drawingml/2006/main">
            <a:off x="7296150" y="1695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解释与发表</a:t>
            </a:r>
          </a:p>
        </p:txBody>
      </p:sp>
      <p:sp>
        <p:nvSpPr>
          <p:cNvPr id="22" name="">
            <a:extLst xmlns:a="http://schemas.openxmlformats.org/drawingml/2006/main">
              <a:ext uri="{FF2B5EF4-FFF2-40B4-BE49-F238E27FC236}">
                <a16:creationId xmlns:a16="http://schemas.microsoft.com/office/drawing/2014/main" id="{381DB8FD-BF2B-457E-90D3-4D8DCEE0E4C2}"/>
              </a:ext>
            </a:extLst>
          </p:cNvPr>
          <p:cNvSpPr>
            <a:spLocks xmlns:a="http://schemas.openxmlformats.org/drawingml/2006/main" noGrp="1"/>
          </p:cNvSpPr>
          <p:nvPr/>
        </p:nvSpPr>
        <p:spPr>
          <a:xfrm xmlns:a="http://schemas.openxmlformats.org/drawingml/2006/main">
            <a:off x="7677150" y="2209800"/>
            <a:ext cx="1047750" cy="1047750"/>
          </a:xfrm>
          <a:prstGeom xmlns:a="http://schemas.openxmlformats.org/drawingml/2006/main" prst="roundRect">
            <a:avLst>
              <a:gd name="adj" fmla="val 7273"/>
            </a:avLst>
          </a:prstGeom>
          <a:solidFill xmlns:a="http://schemas.openxmlformats.org/drawingml/2006/main">
            <a:srgbClr val="EEF3F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3E3ECB4-5458-44FA-96A2-6A6299458655}"/>
              </a:ext>
            </a:extLst>
          </p:cNvPr>
          <p:cNvSpPr>
            <a:spLocks xmlns:a="http://schemas.openxmlformats.org/drawingml/2006/main" noGrp="1"/>
          </p:cNvSpPr>
          <p:nvPr/>
        </p:nvSpPr>
        <p:spPr>
          <a:xfrm xmlns:a="http://schemas.openxmlformats.org/drawingml/2006/main">
            <a:off x="7943850" y="24574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478C88"/>
                </a:solidFill>
                <a:latin typeface="Microsoft YaHei"/>
                <a:ea typeface="Microsoft YaHei"/>
                <a:cs typeface="Microsoft YaHei"/>
              </a:defRPr>
            </a:pPr>
            <a:r>
              <a:rPr sz="2250" b="1">
                <a:solidFill>
                  <a:srgbClr val="478C88"/>
                </a:solidFill>
                <a:latin typeface="Microsoft YaHei"/>
                <a:ea typeface="Microsoft YaHei"/>
                <a:cs typeface="Microsoft YaHei"/>
              </a:rPr>
              <a:t>4</a:t>
            </a:r>
          </a:p>
        </p:txBody>
      </p:sp>
      <p:sp>
        <p:nvSpPr>
          <p:cNvPr id="24" name="">
            <a:extLst xmlns:a="http://schemas.openxmlformats.org/drawingml/2006/main">
              <a:ext uri="{FF2B5EF4-FFF2-40B4-BE49-F238E27FC236}">
                <a16:creationId xmlns:a16="http://schemas.microsoft.com/office/drawing/2014/main" id="{33338407-E0F3-45B4-93BB-EA9AEA1802D8}"/>
              </a:ext>
            </a:extLst>
          </p:cNvPr>
          <p:cNvSpPr>
            <a:spLocks xmlns:a="http://schemas.openxmlformats.org/drawingml/2006/main" noGrp="1"/>
          </p:cNvSpPr>
          <p:nvPr/>
        </p:nvSpPr>
        <p:spPr>
          <a:xfrm xmlns:a="http://schemas.openxmlformats.org/drawingml/2006/main">
            <a:off x="7296150" y="3486150"/>
            <a:ext cx="180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叙事先行</a:t>
            </a:r>
          </a:p>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不确定性被压低</a:t>
            </a:r>
          </a:p>
        </p:txBody>
      </p:sp>
      <p:sp>
        <p:nvSpPr>
          <p:cNvPr id="25" name="">
            <a:extLst xmlns:a="http://schemas.openxmlformats.org/drawingml/2006/main">
              <a:ext uri="{FF2B5EF4-FFF2-40B4-BE49-F238E27FC236}">
                <a16:creationId xmlns:a16="http://schemas.microsoft.com/office/drawing/2014/main" id="{31724677-BF5E-46BC-B9CF-603D2B9F01C1}"/>
              </a:ext>
            </a:extLst>
          </p:cNvPr>
          <p:cNvSpPr>
            <a:spLocks xmlns:a="http://schemas.openxmlformats.org/drawingml/2006/main" noGrp="1"/>
          </p:cNvSpPr>
          <p:nvPr/>
        </p:nvSpPr>
        <p:spPr>
          <a:xfrm xmlns:a="http://schemas.openxmlformats.org/drawingml/2006/main">
            <a:off x="8724900" y="2733675"/>
            <a:ext cx="781050" cy="0"/>
          </a:xfrm>
          <a:prstGeom xmlns:a="http://schemas.openxmlformats.org/drawingml/2006/main" prst="line">
            <a:avLst/>
          </a:prstGeom>
          <a:ln xmlns:a="http://schemas.openxmlformats.org/drawingml/2006/main" w="28575">
            <a:solidFill>
              <a:srgbClr val="CAD5D8"/>
            </a:solidFill>
          </a:ln>
        </p:spPr>
      </p:sp>
      <p:sp>
        <p:nvSpPr>
          <p:cNvPr id="26" name="">
            <a:extLst xmlns:a="http://schemas.openxmlformats.org/drawingml/2006/main">
              <a:ext uri="{FF2B5EF4-FFF2-40B4-BE49-F238E27FC236}">
                <a16:creationId xmlns:a16="http://schemas.microsoft.com/office/drawing/2014/main" id="{CF3DB542-4780-4262-8F98-462472B4E9B1}"/>
              </a:ext>
            </a:extLst>
          </p:cNvPr>
          <p:cNvSpPr>
            <a:spLocks xmlns:a="http://schemas.openxmlformats.org/drawingml/2006/main" noGrp="1"/>
          </p:cNvSpPr>
          <p:nvPr/>
        </p:nvSpPr>
        <p:spPr>
          <a:xfrm xmlns:a="http://schemas.openxmlformats.org/drawingml/2006/main">
            <a:off x="9505950" y="16954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重复与批判</a:t>
            </a:r>
          </a:p>
        </p:txBody>
      </p:sp>
      <p:sp>
        <p:nvSpPr>
          <p:cNvPr id="27" name="">
            <a:extLst xmlns:a="http://schemas.openxmlformats.org/drawingml/2006/main">
              <a:ext uri="{FF2B5EF4-FFF2-40B4-BE49-F238E27FC236}">
                <a16:creationId xmlns:a16="http://schemas.microsoft.com/office/drawing/2014/main" id="{AB3C8692-7888-47C6-8385-5DBA14149C86}"/>
              </a:ext>
            </a:extLst>
          </p:cNvPr>
          <p:cNvSpPr>
            <a:spLocks xmlns:a="http://schemas.openxmlformats.org/drawingml/2006/main" noGrp="1"/>
          </p:cNvSpPr>
          <p:nvPr/>
        </p:nvSpPr>
        <p:spPr>
          <a:xfrm xmlns:a="http://schemas.openxmlformats.org/drawingml/2006/main">
            <a:off x="9886950" y="2209800"/>
            <a:ext cx="1047750" cy="1047750"/>
          </a:xfrm>
          <a:prstGeom xmlns:a="http://schemas.openxmlformats.org/drawingml/2006/main" prst="roundRect">
            <a:avLst>
              <a:gd name="adj" fmla="val 7273"/>
            </a:avLst>
          </a:prstGeom>
          <a:solidFill xmlns:a="http://schemas.openxmlformats.org/drawingml/2006/main">
            <a:srgbClr val="EEF3F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C1FE78B-880C-4B23-8B48-35B01A554B7B}"/>
              </a:ext>
            </a:extLst>
          </p:cNvPr>
          <p:cNvSpPr>
            <a:spLocks xmlns:a="http://schemas.openxmlformats.org/drawingml/2006/main" noGrp="1"/>
          </p:cNvSpPr>
          <p:nvPr/>
        </p:nvSpPr>
        <p:spPr>
          <a:xfrm xmlns:a="http://schemas.openxmlformats.org/drawingml/2006/main">
            <a:off x="10153650" y="24574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478C88"/>
                </a:solidFill>
                <a:latin typeface="Microsoft YaHei"/>
                <a:ea typeface="Microsoft YaHei"/>
                <a:cs typeface="Microsoft YaHei"/>
              </a:defRPr>
            </a:pPr>
            <a:r>
              <a:rPr sz="2250" b="1">
                <a:solidFill>
                  <a:srgbClr val="478C88"/>
                </a:solidFill>
                <a:latin typeface="Microsoft YaHei"/>
                <a:ea typeface="Microsoft YaHei"/>
                <a:cs typeface="Microsoft YaHei"/>
              </a:rPr>
              <a:t>5</a:t>
            </a:r>
          </a:p>
        </p:txBody>
      </p:sp>
      <p:sp>
        <p:nvSpPr>
          <p:cNvPr id="29" name="">
            <a:extLst xmlns:a="http://schemas.openxmlformats.org/drawingml/2006/main">
              <a:ext uri="{FF2B5EF4-FFF2-40B4-BE49-F238E27FC236}">
                <a16:creationId xmlns:a16="http://schemas.microsoft.com/office/drawing/2014/main" id="{9DD366EB-E44D-4936-8D2E-898136210A1E}"/>
              </a:ext>
            </a:extLst>
          </p:cNvPr>
          <p:cNvSpPr>
            <a:spLocks xmlns:a="http://schemas.openxmlformats.org/drawingml/2006/main" noGrp="1"/>
          </p:cNvSpPr>
          <p:nvPr/>
        </p:nvSpPr>
        <p:spPr>
          <a:xfrm xmlns:a="http://schemas.openxmlformats.org/drawingml/2006/main">
            <a:off x="9505950" y="3486150"/>
            <a:ext cx="180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复现成本高</a:t>
            </a:r>
          </a:p>
          <a:p xmlns:a="http://schemas.openxmlformats.org/drawingml/2006/main">
            <a:pPr algn="ctr">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负结果不传播</a:t>
            </a:r>
          </a:p>
        </p:txBody>
      </p:sp>
      <p:sp>
        <p:nvSpPr>
          <p:cNvPr id="30" name="">
            <a:extLst xmlns:a="http://schemas.openxmlformats.org/drawingml/2006/main">
              <a:ext uri="{FF2B5EF4-FFF2-40B4-BE49-F238E27FC236}">
                <a16:creationId xmlns:a16="http://schemas.microsoft.com/office/drawing/2014/main" id="{FD6E5F7C-991F-4739-B7DE-15ADB7B4CB33}"/>
              </a:ext>
            </a:extLst>
          </p:cNvPr>
          <p:cNvSpPr>
            <a:spLocks xmlns:a="http://schemas.openxmlformats.org/drawingml/2006/main" noGrp="1"/>
          </p:cNvSpPr>
          <p:nvPr/>
        </p:nvSpPr>
        <p:spPr>
          <a:xfrm xmlns:a="http://schemas.openxmlformats.org/drawingml/2006/main">
            <a:off x="857250" y="4705350"/>
            <a:ext cx="10191750" cy="0"/>
          </a:xfrm>
          <a:prstGeom xmlns:a="http://schemas.openxmlformats.org/drawingml/2006/main" prst="line">
            <a:avLst/>
          </a:prstGeom>
          <a:ln xmlns:a="http://schemas.openxmlformats.org/drawingml/2006/main" w="19050">
            <a:solidFill>
              <a:srgbClr val="B45C3E"/>
            </a:solidFill>
          </a:ln>
        </p:spPr>
      </p:sp>
      <p:sp>
        <p:nvSpPr>
          <p:cNvPr id="31" name="">
            <a:extLst xmlns:a="http://schemas.openxmlformats.org/drawingml/2006/main">
              <a:ext uri="{FF2B5EF4-FFF2-40B4-BE49-F238E27FC236}">
                <a16:creationId xmlns:a16="http://schemas.microsoft.com/office/drawing/2014/main" id="{897F76A2-29CB-4FCE-82A2-92772F05716B}"/>
              </a:ext>
            </a:extLst>
          </p:cNvPr>
          <p:cNvSpPr>
            <a:spLocks xmlns:a="http://schemas.openxmlformats.org/drawingml/2006/main" noGrp="1"/>
          </p:cNvSpPr>
          <p:nvPr/>
        </p:nvSpPr>
        <p:spPr>
          <a:xfrm xmlns:a="http://schemas.openxmlformats.org/drawingml/2006/main">
            <a:off x="723900" y="495300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B45C3E"/>
                </a:solidFill>
                <a:latin typeface="Microsoft YaHei"/>
                <a:ea typeface="Microsoft YaHei"/>
                <a:cs typeface="Microsoft YaHei"/>
              </a:defRPr>
            </a:pPr>
            <a:r>
              <a:rPr sz="1500" b="1">
                <a:solidFill>
                  <a:srgbClr val="B45C3E"/>
                </a:solidFill>
                <a:latin typeface="Microsoft YaHei"/>
                <a:ea typeface="Microsoft YaHei"/>
                <a:cs typeface="Microsoft YaHei"/>
              </a:rPr>
              <a:t>三种认知偏差会放大风险</a:t>
            </a:r>
          </a:p>
        </p:txBody>
      </p:sp>
      <p:sp>
        <p:nvSpPr>
          <p:cNvPr id="32" name="">
            <a:extLst xmlns:a="http://schemas.openxmlformats.org/drawingml/2006/main">
              <a:ext uri="{FF2B5EF4-FFF2-40B4-BE49-F238E27FC236}">
                <a16:creationId xmlns:a16="http://schemas.microsoft.com/office/drawing/2014/main" id="{5ED76C28-8D4C-4010-AD88-BA1658436811}"/>
              </a:ext>
            </a:extLst>
          </p:cNvPr>
          <p:cNvSpPr>
            <a:spLocks xmlns:a="http://schemas.openxmlformats.org/drawingml/2006/main" noGrp="1"/>
          </p:cNvSpPr>
          <p:nvPr/>
        </p:nvSpPr>
        <p:spPr>
          <a:xfrm xmlns:a="http://schemas.openxmlformats.org/drawingml/2006/main">
            <a:off x="857250" y="5429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确认偏误：偏爱支持假设的证据</a:t>
            </a:r>
          </a:p>
        </p:txBody>
      </p:sp>
      <p:sp>
        <p:nvSpPr>
          <p:cNvPr id="33" name="">
            <a:extLst xmlns:a="http://schemas.openxmlformats.org/drawingml/2006/main">
              <a:ext uri="{FF2B5EF4-FFF2-40B4-BE49-F238E27FC236}">
                <a16:creationId xmlns:a16="http://schemas.microsoft.com/office/drawing/2014/main" id="{C07DB192-B25A-4117-9217-000A4C518C9C}"/>
              </a:ext>
            </a:extLst>
          </p:cNvPr>
          <p:cNvSpPr>
            <a:spLocks xmlns:a="http://schemas.openxmlformats.org/drawingml/2006/main" noGrp="1"/>
          </p:cNvSpPr>
          <p:nvPr/>
        </p:nvSpPr>
        <p:spPr>
          <a:xfrm xmlns:a="http://schemas.openxmlformats.org/drawingml/2006/main">
            <a:off x="4429125" y="5429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权威效应：声望替代证据审查</a:t>
            </a:r>
          </a:p>
        </p:txBody>
      </p:sp>
      <p:sp>
        <p:nvSpPr>
          <p:cNvPr id="34" name="">
            <a:extLst xmlns:a="http://schemas.openxmlformats.org/drawingml/2006/main">
              <a:ext uri="{FF2B5EF4-FFF2-40B4-BE49-F238E27FC236}">
                <a16:creationId xmlns:a16="http://schemas.microsoft.com/office/drawing/2014/main" id="{41F76CB6-90C1-4DB8-8768-677F1A5439D1}"/>
              </a:ext>
            </a:extLst>
          </p:cNvPr>
          <p:cNvSpPr>
            <a:spLocks xmlns:a="http://schemas.openxmlformats.org/drawingml/2006/main" noGrp="1"/>
          </p:cNvSpPr>
          <p:nvPr/>
        </p:nvSpPr>
        <p:spPr>
          <a:xfrm xmlns:a="http://schemas.openxmlformats.org/drawingml/2006/main">
            <a:off x="8001000" y="54292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结果导向：以结论显著性评价过程</a:t>
            </a:r>
          </a:p>
        </p:txBody>
      </p:sp>
    </p:spTree>
    <p:extLst>
      <p:ext uri="{BB962C8B-B14F-4D97-AF65-F5344CB8AC3E}">
        <p14:creationId xmlns:p14="http://schemas.microsoft.com/office/powerpoint/2010/main" val="717628674"/>
      </p:ext>
    </p:extLst>
  </p:cSld>
</p:sld>
</file>

<file path=ppt/slides/slide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6980ABB-EB19-41E4-A29E-C376C3883F6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87F823-B95F-4B2B-ACFE-7C4B0E231FC2}"/>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制度成因：激励、监督与权力结构</a:t>
            </a:r>
          </a:p>
        </p:txBody>
      </p:sp>
      <p:sp>
        <p:nvSpPr>
          <p:cNvPr id="3" name="">
            <a:extLst xmlns:a="http://schemas.openxmlformats.org/drawingml/2006/main">
              <a:ext uri="{FF2B5EF4-FFF2-40B4-BE49-F238E27FC236}">
                <a16:creationId xmlns:a16="http://schemas.microsoft.com/office/drawing/2014/main" id="{EF202A72-5567-43FE-AD84-3D422684BDF3}"/>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制度通过改变收益、风险和发声成本塑造个体选择</a:t>
            </a:r>
          </a:p>
        </p:txBody>
      </p:sp>
      <p:sp>
        <p:nvSpPr>
          <p:cNvPr id="4" name="">
            <a:extLst xmlns:a="http://schemas.openxmlformats.org/drawingml/2006/main">
              <a:ext uri="{FF2B5EF4-FFF2-40B4-BE49-F238E27FC236}">
                <a16:creationId xmlns:a16="http://schemas.microsoft.com/office/drawing/2014/main" id="{E32B3FC2-3BEA-4C83-BB4C-E3F558551938}"/>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09</a:t>
            </a:r>
          </a:p>
        </p:txBody>
      </p:sp>
      <p:sp>
        <p:nvSpPr>
          <p:cNvPr id="5" name="">
            <a:extLst xmlns:a="http://schemas.openxmlformats.org/drawingml/2006/main">
              <a:ext uri="{FF2B5EF4-FFF2-40B4-BE49-F238E27FC236}">
                <a16:creationId xmlns:a16="http://schemas.microsoft.com/office/drawing/2014/main" id="{9EF4A2FC-F5BF-487C-ADAC-626DFED98A90}"/>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214FF3CA-4F82-41E8-B410-F7982F02B713}"/>
              </a:ext>
            </a:extLst>
          </p:cNvPr>
          <p:cNvSpPr>
            <a:spLocks xmlns:a="http://schemas.openxmlformats.org/drawingml/2006/main" noGrp="1"/>
          </p:cNvSpPr>
          <p:nvPr/>
        </p:nvSpPr>
        <p:spPr>
          <a:xfrm xmlns:a="http://schemas.openxmlformats.org/drawingml/2006/main">
            <a:off x="723900" y="15811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制度环节</a:t>
            </a:r>
          </a:p>
        </p:txBody>
      </p:sp>
      <p:sp>
        <p:nvSpPr>
          <p:cNvPr id="7" name="">
            <a:extLst xmlns:a="http://schemas.openxmlformats.org/drawingml/2006/main">
              <a:ext uri="{FF2B5EF4-FFF2-40B4-BE49-F238E27FC236}">
                <a16:creationId xmlns:a16="http://schemas.microsoft.com/office/drawing/2014/main" id="{113146DB-FF07-4220-9363-D79CA2F33FC6}"/>
              </a:ext>
            </a:extLst>
          </p:cNvPr>
          <p:cNvSpPr>
            <a:spLocks xmlns:a="http://schemas.openxmlformats.org/drawingml/2006/main" noGrp="1"/>
          </p:cNvSpPr>
          <p:nvPr/>
        </p:nvSpPr>
        <p:spPr>
          <a:xfrm xmlns:a="http://schemas.openxmlformats.org/drawingml/2006/main">
            <a:off x="666750" y="1504950"/>
            <a:ext cx="1809750" cy="457200"/>
          </a:xfrm>
          <a:prstGeom xmlns:a="http://schemas.openxmlformats.org/drawingml/2006/main" prst="roundRect">
            <a:avLst>
              <a:gd name="adj" fmla="val 16667"/>
            </a:avLst>
          </a:prstGeom>
          <a:solidFill xmlns:a="http://schemas.openxmlformats.org/drawingml/2006/main">
            <a:srgbClr val="18324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A71355-A1B9-4768-BF62-7F9EEEA05830}"/>
              </a:ext>
            </a:extLst>
          </p:cNvPr>
          <p:cNvSpPr>
            <a:spLocks xmlns:a="http://schemas.openxmlformats.org/drawingml/2006/main" noGrp="1"/>
          </p:cNvSpPr>
          <p:nvPr/>
        </p:nvSpPr>
        <p:spPr>
          <a:xfrm xmlns:a="http://schemas.openxmlformats.org/drawingml/2006/main">
            <a:off x="2724150" y="15811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具体表现</a:t>
            </a:r>
          </a:p>
        </p:txBody>
      </p:sp>
      <p:sp>
        <p:nvSpPr>
          <p:cNvPr id="9" name="">
            <a:extLst xmlns:a="http://schemas.openxmlformats.org/drawingml/2006/main">
              <a:ext uri="{FF2B5EF4-FFF2-40B4-BE49-F238E27FC236}">
                <a16:creationId xmlns:a16="http://schemas.microsoft.com/office/drawing/2014/main" id="{E29B9AF7-F90E-4E83-9820-9D54F04F1129}"/>
              </a:ext>
            </a:extLst>
          </p:cNvPr>
          <p:cNvSpPr>
            <a:spLocks xmlns:a="http://schemas.openxmlformats.org/drawingml/2006/main" noGrp="1"/>
          </p:cNvSpPr>
          <p:nvPr/>
        </p:nvSpPr>
        <p:spPr>
          <a:xfrm xmlns:a="http://schemas.openxmlformats.org/drawingml/2006/main">
            <a:off x="2667000" y="1504950"/>
            <a:ext cx="4095750" cy="457200"/>
          </a:xfrm>
          <a:prstGeom xmlns:a="http://schemas.openxmlformats.org/drawingml/2006/main" prst="roundRect">
            <a:avLst>
              <a:gd name="adj" fmla="val 16667"/>
            </a:avLst>
          </a:prstGeom>
          <a:solidFill xmlns:a="http://schemas.openxmlformats.org/drawingml/2006/main">
            <a:srgbClr val="2D628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952707A-D0C0-4DB3-8768-F16D66DBE339}"/>
              </a:ext>
            </a:extLst>
          </p:cNvPr>
          <p:cNvSpPr>
            <a:spLocks xmlns:a="http://schemas.openxmlformats.org/drawingml/2006/main" noGrp="1"/>
          </p:cNvSpPr>
          <p:nvPr/>
        </p:nvSpPr>
        <p:spPr>
          <a:xfrm xmlns:a="http://schemas.openxmlformats.org/drawingml/2006/main">
            <a:off x="7010400" y="15811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行为后果</a:t>
            </a:r>
          </a:p>
        </p:txBody>
      </p:sp>
      <p:sp>
        <p:nvSpPr>
          <p:cNvPr id="11" name="">
            <a:extLst xmlns:a="http://schemas.openxmlformats.org/drawingml/2006/main">
              <a:ext uri="{FF2B5EF4-FFF2-40B4-BE49-F238E27FC236}">
                <a16:creationId xmlns:a16="http://schemas.microsoft.com/office/drawing/2014/main" id="{BE256917-722F-4469-9171-3647CD069BE6}"/>
              </a:ext>
            </a:extLst>
          </p:cNvPr>
          <p:cNvSpPr>
            <a:spLocks xmlns:a="http://schemas.openxmlformats.org/drawingml/2006/main" noGrp="1"/>
          </p:cNvSpPr>
          <p:nvPr/>
        </p:nvSpPr>
        <p:spPr>
          <a:xfrm xmlns:a="http://schemas.openxmlformats.org/drawingml/2006/main">
            <a:off x="6953250" y="1504950"/>
            <a:ext cx="4286250" cy="457200"/>
          </a:xfrm>
          <a:prstGeom xmlns:a="http://schemas.openxmlformats.org/drawingml/2006/main" prst="roundRect">
            <a:avLst>
              <a:gd name="adj" fmla="val 16667"/>
            </a:avLst>
          </a:prstGeom>
          <a:solidFill xmlns:a="http://schemas.openxmlformats.org/drawingml/2006/main">
            <a:srgbClr val="478C8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F79152-8876-45FB-BE05-205D8CE4C2C2}"/>
              </a:ext>
            </a:extLst>
          </p:cNvPr>
          <p:cNvSpPr>
            <a:spLocks xmlns:a="http://schemas.openxmlformats.org/drawingml/2006/main" noGrp="1"/>
          </p:cNvSpPr>
          <p:nvPr/>
        </p:nvSpPr>
        <p:spPr>
          <a:xfrm xmlns:a="http://schemas.openxmlformats.org/drawingml/2006/main">
            <a:off x="666750" y="2076450"/>
            <a:ext cx="10572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371A522-1A40-47A7-B034-A5C238AD280F}"/>
              </a:ext>
            </a:extLst>
          </p:cNvPr>
          <p:cNvSpPr>
            <a:spLocks xmlns:a="http://schemas.openxmlformats.org/drawingml/2006/main" noGrp="1"/>
          </p:cNvSpPr>
          <p:nvPr/>
        </p:nvSpPr>
        <p:spPr>
          <a:xfrm xmlns:a="http://schemas.openxmlformats.org/drawingml/2006/main">
            <a:off x="819150" y="2152650"/>
            <a:ext cx="1504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评价激励</a:t>
            </a:r>
          </a:p>
        </p:txBody>
      </p:sp>
      <p:sp>
        <p:nvSpPr>
          <p:cNvPr id="14" name="">
            <a:extLst xmlns:a="http://schemas.openxmlformats.org/drawingml/2006/main">
              <a:ext uri="{FF2B5EF4-FFF2-40B4-BE49-F238E27FC236}">
                <a16:creationId xmlns:a16="http://schemas.microsoft.com/office/drawing/2014/main" id="{002382B9-252D-44F4-9559-F5E0E3214E63}"/>
              </a:ext>
            </a:extLst>
          </p:cNvPr>
          <p:cNvSpPr>
            <a:spLocks xmlns:a="http://schemas.openxmlformats.org/drawingml/2006/main" noGrp="1"/>
          </p:cNvSpPr>
          <p:nvPr/>
        </p:nvSpPr>
        <p:spPr>
          <a:xfrm xmlns:a="http://schemas.openxmlformats.org/drawingml/2006/main">
            <a:off x="2838450" y="2152650"/>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论文数量、期刊层级与短周期考核被过度绑定</a:t>
            </a:r>
          </a:p>
        </p:txBody>
      </p:sp>
      <p:sp>
        <p:nvSpPr>
          <p:cNvPr id="15" name="">
            <a:extLst xmlns:a="http://schemas.openxmlformats.org/drawingml/2006/main">
              <a:ext uri="{FF2B5EF4-FFF2-40B4-BE49-F238E27FC236}">
                <a16:creationId xmlns:a16="http://schemas.microsoft.com/office/drawing/2014/main" id="{E2C89C8C-0F85-49A5-BF9F-EDBBF9362557}"/>
              </a:ext>
            </a:extLst>
          </p:cNvPr>
          <p:cNvSpPr>
            <a:spLocks xmlns:a="http://schemas.openxmlformats.org/drawingml/2006/main" noGrp="1"/>
          </p:cNvSpPr>
          <p:nvPr/>
        </p:nvSpPr>
        <p:spPr>
          <a:xfrm xmlns:a="http://schemas.openxmlformats.org/drawingml/2006/main">
            <a:off x="7143750" y="21526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显著结果和“快速成功”获得更高回报</a:t>
            </a:r>
          </a:p>
        </p:txBody>
      </p:sp>
      <p:sp>
        <p:nvSpPr>
          <p:cNvPr id="16" name="">
            <a:extLst xmlns:a="http://schemas.openxmlformats.org/drawingml/2006/main">
              <a:ext uri="{FF2B5EF4-FFF2-40B4-BE49-F238E27FC236}">
                <a16:creationId xmlns:a16="http://schemas.microsoft.com/office/drawing/2014/main" id="{CED401D0-B999-45BA-B547-DE4D247436E6}"/>
              </a:ext>
            </a:extLst>
          </p:cNvPr>
          <p:cNvSpPr>
            <a:spLocks xmlns:a="http://schemas.openxmlformats.org/drawingml/2006/main" noGrp="1"/>
          </p:cNvSpPr>
          <p:nvPr/>
        </p:nvSpPr>
        <p:spPr>
          <a:xfrm xmlns:a="http://schemas.openxmlformats.org/drawingml/2006/main">
            <a:off x="666750" y="2819400"/>
            <a:ext cx="10572750" cy="628650"/>
          </a:xfrm>
          <a:prstGeom xmlns:a="http://schemas.openxmlformats.org/drawingml/2006/main" prst="roundRect">
            <a:avLst>
              <a:gd name="adj" fmla="val 12121"/>
            </a:avLst>
          </a:prstGeom>
          <a:solidFill xmlns:a="http://schemas.openxmlformats.org/drawingml/2006/main">
            <a:srgbClr val="EEF3F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88653A1-65E7-42BD-B6DC-6234BE04DE2C}"/>
              </a:ext>
            </a:extLst>
          </p:cNvPr>
          <p:cNvSpPr>
            <a:spLocks xmlns:a="http://schemas.openxmlformats.org/drawingml/2006/main" noGrp="1"/>
          </p:cNvSpPr>
          <p:nvPr/>
        </p:nvSpPr>
        <p:spPr>
          <a:xfrm xmlns:a="http://schemas.openxmlformats.org/drawingml/2006/main">
            <a:off x="819150" y="2895600"/>
            <a:ext cx="1504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组织监督</a:t>
            </a:r>
          </a:p>
        </p:txBody>
      </p:sp>
      <p:sp>
        <p:nvSpPr>
          <p:cNvPr id="18" name="">
            <a:extLst xmlns:a="http://schemas.openxmlformats.org/drawingml/2006/main">
              <a:ext uri="{FF2B5EF4-FFF2-40B4-BE49-F238E27FC236}">
                <a16:creationId xmlns:a16="http://schemas.microsoft.com/office/drawing/2014/main" id="{6D45A420-CC3A-440D-9954-1900E54763AA}"/>
              </a:ext>
            </a:extLst>
          </p:cNvPr>
          <p:cNvSpPr>
            <a:spLocks xmlns:a="http://schemas.openxmlformats.org/drawingml/2006/main" noGrp="1"/>
          </p:cNvSpPr>
          <p:nvPr/>
        </p:nvSpPr>
        <p:spPr>
          <a:xfrm xmlns:a="http://schemas.openxmlformats.org/drawingml/2006/main">
            <a:off x="2838450" y="2895600"/>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原始数据无人复核，共同作者责任边界模糊</a:t>
            </a:r>
          </a:p>
        </p:txBody>
      </p:sp>
      <p:sp>
        <p:nvSpPr>
          <p:cNvPr id="19" name="">
            <a:extLst xmlns:a="http://schemas.openxmlformats.org/drawingml/2006/main">
              <a:ext uri="{FF2B5EF4-FFF2-40B4-BE49-F238E27FC236}">
                <a16:creationId xmlns:a16="http://schemas.microsoft.com/office/drawing/2014/main" id="{D82C3B00-E674-4030-B99B-69FFE3A9AEF8}"/>
              </a:ext>
            </a:extLst>
          </p:cNvPr>
          <p:cNvSpPr>
            <a:spLocks xmlns:a="http://schemas.openxmlformats.org/drawingml/2006/main" noGrp="1"/>
          </p:cNvSpPr>
          <p:nvPr/>
        </p:nvSpPr>
        <p:spPr>
          <a:xfrm xmlns:a="http://schemas.openxmlformats.org/drawingml/2006/main">
            <a:off x="7143750" y="28956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造假被发现的概率和成本降低</a:t>
            </a:r>
          </a:p>
        </p:txBody>
      </p:sp>
      <p:sp>
        <p:nvSpPr>
          <p:cNvPr id="20" name="">
            <a:extLst xmlns:a="http://schemas.openxmlformats.org/drawingml/2006/main">
              <a:ext uri="{FF2B5EF4-FFF2-40B4-BE49-F238E27FC236}">
                <a16:creationId xmlns:a16="http://schemas.microsoft.com/office/drawing/2014/main" id="{BAF20BFF-15E5-49D2-B491-D36840AEA04C}"/>
              </a:ext>
            </a:extLst>
          </p:cNvPr>
          <p:cNvSpPr>
            <a:spLocks xmlns:a="http://schemas.openxmlformats.org/drawingml/2006/main" noGrp="1"/>
          </p:cNvSpPr>
          <p:nvPr/>
        </p:nvSpPr>
        <p:spPr>
          <a:xfrm xmlns:a="http://schemas.openxmlformats.org/drawingml/2006/main">
            <a:off x="666750" y="3562350"/>
            <a:ext cx="10572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6A8E511-CBC9-40BD-87B4-F7EC84BF89A5}"/>
              </a:ext>
            </a:extLst>
          </p:cNvPr>
          <p:cNvSpPr>
            <a:spLocks xmlns:a="http://schemas.openxmlformats.org/drawingml/2006/main" noGrp="1"/>
          </p:cNvSpPr>
          <p:nvPr/>
        </p:nvSpPr>
        <p:spPr>
          <a:xfrm xmlns:a="http://schemas.openxmlformats.org/drawingml/2006/main">
            <a:off x="819150" y="3638550"/>
            <a:ext cx="1504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资源竞争</a:t>
            </a:r>
          </a:p>
        </p:txBody>
      </p:sp>
      <p:sp>
        <p:nvSpPr>
          <p:cNvPr id="22" name="">
            <a:extLst xmlns:a="http://schemas.openxmlformats.org/drawingml/2006/main">
              <a:ext uri="{FF2B5EF4-FFF2-40B4-BE49-F238E27FC236}">
                <a16:creationId xmlns:a16="http://schemas.microsoft.com/office/drawing/2014/main" id="{BC8EE169-B88B-40B9-8D64-25E9DFFDCB9C}"/>
              </a:ext>
            </a:extLst>
          </p:cNvPr>
          <p:cNvSpPr>
            <a:spLocks xmlns:a="http://schemas.openxmlformats.org/drawingml/2006/main" noGrp="1"/>
          </p:cNvSpPr>
          <p:nvPr/>
        </p:nvSpPr>
        <p:spPr>
          <a:xfrm xmlns:a="http://schemas.openxmlformats.org/drawingml/2006/main">
            <a:off x="2838450" y="3638550"/>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职位、经费和项目高度稀缺，失败容忍度低</a:t>
            </a:r>
          </a:p>
        </p:txBody>
      </p:sp>
      <p:sp>
        <p:nvSpPr>
          <p:cNvPr id="23" name="">
            <a:extLst xmlns:a="http://schemas.openxmlformats.org/drawingml/2006/main">
              <a:ext uri="{FF2B5EF4-FFF2-40B4-BE49-F238E27FC236}">
                <a16:creationId xmlns:a16="http://schemas.microsoft.com/office/drawing/2014/main" id="{D948ED36-66E0-4A09-AF1A-1AE73B98D88A}"/>
              </a:ext>
            </a:extLst>
          </p:cNvPr>
          <p:cNvSpPr>
            <a:spLocks xmlns:a="http://schemas.openxmlformats.org/drawingml/2006/main" noGrp="1"/>
          </p:cNvSpPr>
          <p:nvPr/>
        </p:nvSpPr>
        <p:spPr>
          <a:xfrm xmlns:a="http://schemas.openxmlformats.org/drawingml/2006/main">
            <a:off x="7143750" y="36385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选择性报告与抢发倾向增强</a:t>
            </a:r>
          </a:p>
        </p:txBody>
      </p:sp>
      <p:sp>
        <p:nvSpPr>
          <p:cNvPr id="24" name="">
            <a:extLst xmlns:a="http://schemas.openxmlformats.org/drawingml/2006/main">
              <a:ext uri="{FF2B5EF4-FFF2-40B4-BE49-F238E27FC236}">
                <a16:creationId xmlns:a16="http://schemas.microsoft.com/office/drawing/2014/main" id="{A2FC4CEC-C6AE-423E-909B-CC1AA30723B9}"/>
              </a:ext>
            </a:extLst>
          </p:cNvPr>
          <p:cNvSpPr>
            <a:spLocks xmlns:a="http://schemas.openxmlformats.org/drawingml/2006/main" noGrp="1"/>
          </p:cNvSpPr>
          <p:nvPr/>
        </p:nvSpPr>
        <p:spPr>
          <a:xfrm xmlns:a="http://schemas.openxmlformats.org/drawingml/2006/main">
            <a:off x="666750" y="4305300"/>
            <a:ext cx="10572750" cy="628650"/>
          </a:xfrm>
          <a:prstGeom xmlns:a="http://schemas.openxmlformats.org/drawingml/2006/main" prst="roundRect">
            <a:avLst>
              <a:gd name="adj" fmla="val 12121"/>
            </a:avLst>
          </a:prstGeom>
          <a:solidFill xmlns:a="http://schemas.openxmlformats.org/drawingml/2006/main">
            <a:srgbClr val="EEF3F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DA82395-C5E2-44CD-9B3B-13FF416E6AA0}"/>
              </a:ext>
            </a:extLst>
          </p:cNvPr>
          <p:cNvSpPr>
            <a:spLocks xmlns:a="http://schemas.openxmlformats.org/drawingml/2006/main" noGrp="1"/>
          </p:cNvSpPr>
          <p:nvPr/>
        </p:nvSpPr>
        <p:spPr>
          <a:xfrm xmlns:a="http://schemas.openxmlformats.org/drawingml/2006/main">
            <a:off x="819150" y="4381500"/>
            <a:ext cx="1504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权力关系</a:t>
            </a:r>
          </a:p>
        </p:txBody>
      </p:sp>
      <p:sp>
        <p:nvSpPr>
          <p:cNvPr id="26" name="">
            <a:extLst xmlns:a="http://schemas.openxmlformats.org/drawingml/2006/main">
              <a:ext uri="{FF2B5EF4-FFF2-40B4-BE49-F238E27FC236}">
                <a16:creationId xmlns:a16="http://schemas.microsoft.com/office/drawing/2014/main" id="{965BC6CB-7E9D-47C9-B671-81364801BC3F}"/>
              </a:ext>
            </a:extLst>
          </p:cNvPr>
          <p:cNvSpPr>
            <a:spLocks xmlns:a="http://schemas.openxmlformats.org/drawingml/2006/main" noGrp="1"/>
          </p:cNvSpPr>
          <p:nvPr/>
        </p:nvSpPr>
        <p:spPr>
          <a:xfrm xmlns:a="http://schemas.openxmlformats.org/drawingml/2006/main">
            <a:off x="2838450" y="4381500"/>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学生依附导师，举报渠道缺乏独立性</a:t>
            </a:r>
          </a:p>
        </p:txBody>
      </p:sp>
      <p:sp>
        <p:nvSpPr>
          <p:cNvPr id="27" name="">
            <a:extLst xmlns:a="http://schemas.openxmlformats.org/drawingml/2006/main">
              <a:ext uri="{FF2B5EF4-FFF2-40B4-BE49-F238E27FC236}">
                <a16:creationId xmlns:a16="http://schemas.microsoft.com/office/drawing/2014/main" id="{A9C8FD51-54E3-4B67-9019-CFA8A6E21C5F}"/>
              </a:ext>
            </a:extLst>
          </p:cNvPr>
          <p:cNvSpPr>
            <a:spLocks xmlns:a="http://schemas.openxmlformats.org/drawingml/2006/main" noGrp="1"/>
          </p:cNvSpPr>
          <p:nvPr/>
        </p:nvSpPr>
        <p:spPr>
          <a:xfrm xmlns:a="http://schemas.openxmlformats.org/drawingml/2006/main">
            <a:off x="7143750" y="4381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知情者沉默，问题长期积累</a:t>
            </a:r>
          </a:p>
        </p:txBody>
      </p:sp>
      <p:sp>
        <p:nvSpPr>
          <p:cNvPr id="28" name="">
            <a:extLst xmlns:a="http://schemas.openxmlformats.org/drawingml/2006/main">
              <a:ext uri="{FF2B5EF4-FFF2-40B4-BE49-F238E27FC236}">
                <a16:creationId xmlns:a16="http://schemas.microsoft.com/office/drawing/2014/main" id="{C477EFCD-6F4A-4BFE-BC9C-2E85D101C918}"/>
              </a:ext>
            </a:extLst>
          </p:cNvPr>
          <p:cNvSpPr>
            <a:spLocks xmlns:a="http://schemas.openxmlformats.org/drawingml/2006/main" noGrp="1"/>
          </p:cNvSpPr>
          <p:nvPr/>
        </p:nvSpPr>
        <p:spPr>
          <a:xfrm xmlns:a="http://schemas.openxmlformats.org/drawingml/2006/main">
            <a:off x="666750" y="5048250"/>
            <a:ext cx="10572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4AC4E00-F0F2-4567-ADF7-5F988E75EDCE}"/>
              </a:ext>
            </a:extLst>
          </p:cNvPr>
          <p:cNvSpPr>
            <a:spLocks xmlns:a="http://schemas.openxmlformats.org/drawingml/2006/main" noGrp="1"/>
          </p:cNvSpPr>
          <p:nvPr/>
        </p:nvSpPr>
        <p:spPr>
          <a:xfrm xmlns:a="http://schemas.openxmlformats.org/drawingml/2006/main">
            <a:off x="819150" y="5124450"/>
            <a:ext cx="1504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出版机制</a:t>
            </a:r>
          </a:p>
        </p:txBody>
      </p:sp>
      <p:sp>
        <p:nvSpPr>
          <p:cNvPr id="30" name="">
            <a:extLst xmlns:a="http://schemas.openxmlformats.org/drawingml/2006/main">
              <a:ext uri="{FF2B5EF4-FFF2-40B4-BE49-F238E27FC236}">
                <a16:creationId xmlns:a16="http://schemas.microsoft.com/office/drawing/2014/main" id="{B7D282C5-3F46-4CA9-ABDA-57347ADC0177}"/>
              </a:ext>
            </a:extLst>
          </p:cNvPr>
          <p:cNvSpPr>
            <a:spLocks xmlns:a="http://schemas.openxmlformats.org/drawingml/2006/main" noGrp="1"/>
          </p:cNvSpPr>
          <p:nvPr/>
        </p:nvSpPr>
        <p:spPr>
          <a:xfrm xmlns:a="http://schemas.openxmlformats.org/drawingml/2006/main">
            <a:off x="2838450" y="5124450"/>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负结果难发表，期刊偏好新奇与显著性</a:t>
            </a:r>
          </a:p>
        </p:txBody>
      </p:sp>
      <p:sp>
        <p:nvSpPr>
          <p:cNvPr id="31" name="">
            <a:extLst xmlns:a="http://schemas.openxmlformats.org/drawingml/2006/main">
              <a:ext uri="{FF2B5EF4-FFF2-40B4-BE49-F238E27FC236}">
                <a16:creationId xmlns:a16="http://schemas.microsoft.com/office/drawing/2014/main" id="{71E1F20F-EFB5-452E-8814-F67B43510720}"/>
              </a:ext>
            </a:extLst>
          </p:cNvPr>
          <p:cNvSpPr>
            <a:spLocks xmlns:a="http://schemas.openxmlformats.org/drawingml/2006/main" noGrp="1"/>
          </p:cNvSpPr>
          <p:nvPr/>
        </p:nvSpPr>
        <p:spPr>
          <a:xfrm xmlns:a="http://schemas.openxmlformats.org/drawingml/2006/main">
            <a:off x="7143750" y="51244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文献形成系统性偏差</a:t>
            </a:r>
          </a:p>
        </p:txBody>
      </p:sp>
    </p:spTree>
    <p:extLst>
      <p:ext uri="{BB962C8B-B14F-4D97-AF65-F5344CB8AC3E}">
        <p14:creationId xmlns:p14="http://schemas.microsoft.com/office/powerpoint/2010/main" val="572632327"/>
      </p:ext>
    </p:extLst>
  </p:cSld>
</p:sld>
</file>

<file path=ppt/slides/slide1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9F341EB-F87D-4034-AFBE-2CB751E920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E3C87D-5634-49BC-9FE1-04CFA6B99C01}"/>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越轨的生成机制：认识与制度相互放大</a:t>
            </a:r>
          </a:p>
        </p:txBody>
      </p:sp>
      <p:sp>
        <p:nvSpPr>
          <p:cNvPr id="3" name="">
            <a:extLst xmlns:a="http://schemas.openxmlformats.org/drawingml/2006/main">
              <a:ext uri="{FF2B5EF4-FFF2-40B4-BE49-F238E27FC236}">
                <a16:creationId xmlns:a16="http://schemas.microsoft.com/office/drawing/2014/main" id="{D12AF2CC-1254-4B13-9EEB-C82F077B3D28}"/>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科研越轨常由“认知脆弱性”与“制度机会结构”共同产生</a:t>
            </a:r>
          </a:p>
        </p:txBody>
      </p:sp>
      <p:sp>
        <p:nvSpPr>
          <p:cNvPr id="4" name="">
            <a:extLst xmlns:a="http://schemas.openxmlformats.org/drawingml/2006/main">
              <a:ext uri="{FF2B5EF4-FFF2-40B4-BE49-F238E27FC236}">
                <a16:creationId xmlns:a16="http://schemas.microsoft.com/office/drawing/2014/main" id="{31AD686C-206A-42DB-8D0C-310276D822D7}"/>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10</a:t>
            </a:r>
          </a:p>
        </p:txBody>
      </p:sp>
      <p:sp>
        <p:nvSpPr>
          <p:cNvPr id="5" name="">
            <a:extLst xmlns:a="http://schemas.openxmlformats.org/drawingml/2006/main">
              <a:ext uri="{FF2B5EF4-FFF2-40B4-BE49-F238E27FC236}">
                <a16:creationId xmlns:a16="http://schemas.microsoft.com/office/drawing/2014/main" id="{59C5415D-EA8C-4E1D-9FCA-1122894A1194}"/>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FB8A0079-5837-4582-816D-47BF0C36F7CE}"/>
              </a:ext>
            </a:extLst>
          </p:cNvPr>
          <p:cNvSpPr>
            <a:spLocks xmlns:a="http://schemas.openxmlformats.org/drawingml/2006/main" noGrp="1"/>
          </p:cNvSpPr>
          <p:nvPr/>
        </p:nvSpPr>
        <p:spPr>
          <a:xfrm xmlns:a="http://schemas.openxmlformats.org/drawingml/2006/main">
            <a:off x="4476750" y="2647950"/>
            <a:ext cx="3238500" cy="1371600"/>
          </a:xfrm>
          <a:prstGeom xmlns:a="http://schemas.openxmlformats.org/drawingml/2006/main" prst="roundRect">
            <a:avLst>
              <a:gd name="adj" fmla="val 5556"/>
            </a:avLst>
          </a:prstGeom>
          <a:solidFill xmlns:a="http://schemas.openxmlformats.org/drawingml/2006/main">
            <a:srgbClr val="18324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B2FD6A-7751-43D3-81B3-047D4AE93AC4}"/>
              </a:ext>
            </a:extLst>
          </p:cNvPr>
          <p:cNvSpPr>
            <a:spLocks xmlns:a="http://schemas.openxmlformats.org/drawingml/2006/main" noGrp="1"/>
          </p:cNvSpPr>
          <p:nvPr/>
        </p:nvSpPr>
        <p:spPr>
          <a:xfrm xmlns:a="http://schemas.openxmlformats.org/drawingml/2006/main">
            <a:off x="4762500" y="29908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越轨风险上升</a:t>
            </a:r>
          </a:p>
        </p:txBody>
      </p:sp>
      <p:sp>
        <p:nvSpPr>
          <p:cNvPr id="8" name="">
            <a:extLst xmlns:a="http://schemas.openxmlformats.org/drawingml/2006/main">
              <a:ext uri="{FF2B5EF4-FFF2-40B4-BE49-F238E27FC236}">
                <a16:creationId xmlns:a16="http://schemas.microsoft.com/office/drawing/2014/main" id="{5B48872A-97FA-4162-944D-85908A379340}"/>
              </a:ext>
            </a:extLst>
          </p:cNvPr>
          <p:cNvSpPr>
            <a:spLocks xmlns:a="http://schemas.openxmlformats.org/drawingml/2006/main" noGrp="1"/>
          </p:cNvSpPr>
          <p:nvPr/>
        </p:nvSpPr>
        <p:spPr>
          <a:xfrm xmlns:a="http://schemas.openxmlformats.org/drawingml/2006/main">
            <a:off x="4762500" y="34766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DCE7EB"/>
                </a:solidFill>
                <a:latin typeface="Microsoft YaHei"/>
                <a:ea typeface="Microsoft YaHei"/>
                <a:cs typeface="Microsoft YaHei"/>
              </a:defRPr>
            </a:pPr>
            <a:r>
              <a:rPr sz="1200" b="0">
                <a:solidFill>
                  <a:srgbClr val="DCE7EB"/>
                </a:solidFill>
                <a:latin typeface="Microsoft YaHei"/>
                <a:ea typeface="Microsoft YaHei"/>
                <a:cs typeface="Microsoft YaHei"/>
              </a:rPr>
              <a:t>错误被掩盖，违规获得收益</a:t>
            </a:r>
          </a:p>
        </p:txBody>
      </p:sp>
      <p:sp>
        <p:nvSpPr>
          <p:cNvPr id="9" name="">
            <a:extLst xmlns:a="http://schemas.openxmlformats.org/drawingml/2006/main">
              <a:ext uri="{FF2B5EF4-FFF2-40B4-BE49-F238E27FC236}">
                <a16:creationId xmlns:a16="http://schemas.microsoft.com/office/drawing/2014/main" id="{54ADA534-5B3A-4B44-AEB1-8C99EF78C43F}"/>
              </a:ext>
            </a:extLst>
          </p:cNvPr>
          <p:cNvSpPr>
            <a:spLocks xmlns:a="http://schemas.openxmlformats.org/drawingml/2006/main" noGrp="1"/>
          </p:cNvSpPr>
          <p:nvPr/>
        </p:nvSpPr>
        <p:spPr>
          <a:xfrm xmlns:a="http://schemas.openxmlformats.org/drawingml/2006/main">
            <a:off x="1047750" y="1790700"/>
            <a:ext cx="2571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AD5D8"/>
            </a:solidFill>
          </a:ln>
        </p:spPr>
      </p:sp>
      <p:sp>
        <p:nvSpPr>
          <p:cNvPr id="10" name="">
            <a:extLst xmlns:a="http://schemas.openxmlformats.org/drawingml/2006/main">
              <a:ext uri="{FF2B5EF4-FFF2-40B4-BE49-F238E27FC236}">
                <a16:creationId xmlns:a16="http://schemas.microsoft.com/office/drawing/2014/main" id="{B44B6F5A-B78A-4BC0-9D2B-EA60D2C53CA7}"/>
              </a:ext>
            </a:extLst>
          </p:cNvPr>
          <p:cNvSpPr>
            <a:spLocks xmlns:a="http://schemas.openxmlformats.org/drawingml/2006/main" noGrp="1"/>
          </p:cNvSpPr>
          <p:nvPr/>
        </p:nvSpPr>
        <p:spPr>
          <a:xfrm xmlns:a="http://schemas.openxmlformats.org/drawingml/2006/main">
            <a:off x="1047750" y="1790700"/>
            <a:ext cx="95250" cy="1104900"/>
          </a:xfrm>
          <a:prstGeom xmlns:a="http://schemas.openxmlformats.org/drawingml/2006/main" prst="roundRect">
            <a:avLst>
              <a:gd name="adj" fmla="val 50000"/>
            </a:avLst>
          </a:prstGeom>
          <a:solidFill xmlns:a="http://schemas.openxmlformats.org/drawingml/2006/main">
            <a:srgbClr val="478C8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16B5EB4-5370-4FE1-A2FC-0D9A6EB5F5D7}"/>
              </a:ext>
            </a:extLst>
          </p:cNvPr>
          <p:cNvSpPr>
            <a:spLocks xmlns:a="http://schemas.openxmlformats.org/drawingml/2006/main" noGrp="1"/>
          </p:cNvSpPr>
          <p:nvPr/>
        </p:nvSpPr>
        <p:spPr>
          <a:xfrm xmlns:a="http://schemas.openxmlformats.org/drawingml/2006/main">
            <a:off x="1314450" y="1924050"/>
            <a:ext cx="2076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证据不透明</a:t>
            </a:r>
          </a:p>
        </p:txBody>
      </p:sp>
      <p:sp>
        <p:nvSpPr>
          <p:cNvPr id="12" name="">
            <a:extLst xmlns:a="http://schemas.openxmlformats.org/drawingml/2006/main">
              <a:ext uri="{FF2B5EF4-FFF2-40B4-BE49-F238E27FC236}">
                <a16:creationId xmlns:a16="http://schemas.microsoft.com/office/drawing/2014/main" id="{D67CC51B-0742-4CAC-A406-3B4A93709827}"/>
              </a:ext>
            </a:extLst>
          </p:cNvPr>
          <p:cNvSpPr>
            <a:spLocks xmlns:a="http://schemas.openxmlformats.org/drawingml/2006/main" noGrp="1"/>
          </p:cNvSpPr>
          <p:nvPr/>
        </p:nvSpPr>
        <p:spPr>
          <a:xfrm xmlns:a="http://schemas.openxmlformats.org/drawingml/2006/main">
            <a:off x="1314450" y="2295525"/>
            <a:ext cx="2076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原始数据不可追溯</a:t>
            </a:r>
          </a:p>
        </p:txBody>
      </p:sp>
      <p:sp>
        <p:nvSpPr>
          <p:cNvPr id="13" name="">
            <a:extLst xmlns:a="http://schemas.openxmlformats.org/drawingml/2006/main">
              <a:ext uri="{FF2B5EF4-FFF2-40B4-BE49-F238E27FC236}">
                <a16:creationId xmlns:a16="http://schemas.microsoft.com/office/drawing/2014/main" id="{0C97C35E-9A4F-42F1-947C-3C5FEFE4705C}"/>
              </a:ext>
            </a:extLst>
          </p:cNvPr>
          <p:cNvSpPr>
            <a:spLocks xmlns:a="http://schemas.openxmlformats.org/drawingml/2006/main" noGrp="1"/>
          </p:cNvSpPr>
          <p:nvPr/>
        </p:nvSpPr>
        <p:spPr>
          <a:xfrm xmlns:a="http://schemas.openxmlformats.org/drawingml/2006/main">
            <a:off x="1047750" y="4495800"/>
            <a:ext cx="2571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AD5D8"/>
            </a:solidFill>
          </a:ln>
        </p:spPr>
      </p:sp>
      <p:sp>
        <p:nvSpPr>
          <p:cNvPr id="14" name="">
            <a:extLst xmlns:a="http://schemas.openxmlformats.org/drawingml/2006/main">
              <a:ext uri="{FF2B5EF4-FFF2-40B4-BE49-F238E27FC236}">
                <a16:creationId xmlns:a16="http://schemas.microsoft.com/office/drawing/2014/main" id="{7FC4C4F4-348B-46E6-B14F-230FDED846E6}"/>
              </a:ext>
            </a:extLst>
          </p:cNvPr>
          <p:cNvSpPr>
            <a:spLocks xmlns:a="http://schemas.openxmlformats.org/drawingml/2006/main" noGrp="1"/>
          </p:cNvSpPr>
          <p:nvPr/>
        </p:nvSpPr>
        <p:spPr>
          <a:xfrm xmlns:a="http://schemas.openxmlformats.org/drawingml/2006/main">
            <a:off x="1047750" y="4495800"/>
            <a:ext cx="95250" cy="1104900"/>
          </a:xfrm>
          <a:prstGeom xmlns:a="http://schemas.openxmlformats.org/drawingml/2006/main" prst="roundRect">
            <a:avLst>
              <a:gd name="adj" fmla="val 50000"/>
            </a:avLst>
          </a:prstGeom>
          <a:solidFill xmlns:a="http://schemas.openxmlformats.org/drawingml/2006/main">
            <a:srgbClr val="C49A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F829A96-BDF3-496E-BC06-A418F790501F}"/>
              </a:ext>
            </a:extLst>
          </p:cNvPr>
          <p:cNvSpPr>
            <a:spLocks xmlns:a="http://schemas.openxmlformats.org/drawingml/2006/main" noGrp="1"/>
          </p:cNvSpPr>
          <p:nvPr/>
        </p:nvSpPr>
        <p:spPr>
          <a:xfrm xmlns:a="http://schemas.openxmlformats.org/drawingml/2006/main">
            <a:off x="1314450" y="4629150"/>
            <a:ext cx="2076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确认偏误</a:t>
            </a:r>
          </a:p>
        </p:txBody>
      </p:sp>
      <p:sp>
        <p:nvSpPr>
          <p:cNvPr id="16" name="">
            <a:extLst xmlns:a="http://schemas.openxmlformats.org/drawingml/2006/main">
              <a:ext uri="{FF2B5EF4-FFF2-40B4-BE49-F238E27FC236}">
                <a16:creationId xmlns:a16="http://schemas.microsoft.com/office/drawing/2014/main" id="{CF0D15CB-CAB8-462D-87E2-897B14812014}"/>
              </a:ext>
            </a:extLst>
          </p:cNvPr>
          <p:cNvSpPr>
            <a:spLocks xmlns:a="http://schemas.openxmlformats.org/drawingml/2006/main" noGrp="1"/>
          </p:cNvSpPr>
          <p:nvPr/>
        </p:nvSpPr>
        <p:spPr>
          <a:xfrm xmlns:a="http://schemas.openxmlformats.org/drawingml/2006/main">
            <a:off x="1314450" y="5000625"/>
            <a:ext cx="2076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异常结果缺少反证</a:t>
            </a:r>
          </a:p>
        </p:txBody>
      </p:sp>
      <p:sp>
        <p:nvSpPr>
          <p:cNvPr id="17" name="">
            <a:extLst xmlns:a="http://schemas.openxmlformats.org/drawingml/2006/main">
              <a:ext uri="{FF2B5EF4-FFF2-40B4-BE49-F238E27FC236}">
                <a16:creationId xmlns:a16="http://schemas.microsoft.com/office/drawing/2014/main" id="{6C949821-2183-4F61-9E65-BAA349A73B25}"/>
              </a:ext>
            </a:extLst>
          </p:cNvPr>
          <p:cNvSpPr>
            <a:spLocks xmlns:a="http://schemas.openxmlformats.org/drawingml/2006/main" noGrp="1"/>
          </p:cNvSpPr>
          <p:nvPr/>
        </p:nvSpPr>
        <p:spPr>
          <a:xfrm xmlns:a="http://schemas.openxmlformats.org/drawingml/2006/main">
            <a:off x="8572500" y="1790700"/>
            <a:ext cx="2571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AD5D8"/>
            </a:solidFill>
          </a:ln>
        </p:spPr>
      </p:sp>
      <p:sp>
        <p:nvSpPr>
          <p:cNvPr id="18" name="">
            <a:extLst xmlns:a="http://schemas.openxmlformats.org/drawingml/2006/main">
              <a:ext uri="{FF2B5EF4-FFF2-40B4-BE49-F238E27FC236}">
                <a16:creationId xmlns:a16="http://schemas.microsoft.com/office/drawing/2014/main" id="{D11F6F87-3772-4AE5-A545-DE870944BFBB}"/>
              </a:ext>
            </a:extLst>
          </p:cNvPr>
          <p:cNvSpPr>
            <a:spLocks xmlns:a="http://schemas.openxmlformats.org/drawingml/2006/main" noGrp="1"/>
          </p:cNvSpPr>
          <p:nvPr/>
        </p:nvSpPr>
        <p:spPr>
          <a:xfrm xmlns:a="http://schemas.openxmlformats.org/drawingml/2006/main">
            <a:off x="8572500" y="1790700"/>
            <a:ext cx="95250" cy="1104900"/>
          </a:xfrm>
          <a:prstGeom xmlns:a="http://schemas.openxmlformats.org/drawingml/2006/main" prst="roundRect">
            <a:avLst>
              <a:gd name="adj" fmla="val 50000"/>
            </a:avLst>
          </a:prstGeom>
          <a:solidFill xmlns:a="http://schemas.openxmlformats.org/drawingml/2006/main">
            <a:srgbClr val="B45C3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26C6EDF-8E6A-4DB4-9CD7-6305538D613A}"/>
              </a:ext>
            </a:extLst>
          </p:cNvPr>
          <p:cNvSpPr>
            <a:spLocks xmlns:a="http://schemas.openxmlformats.org/drawingml/2006/main" noGrp="1"/>
          </p:cNvSpPr>
          <p:nvPr/>
        </p:nvSpPr>
        <p:spPr>
          <a:xfrm xmlns:a="http://schemas.openxmlformats.org/drawingml/2006/main">
            <a:off x="8839200" y="1924050"/>
            <a:ext cx="2076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评价单一</a:t>
            </a:r>
          </a:p>
        </p:txBody>
      </p:sp>
      <p:sp>
        <p:nvSpPr>
          <p:cNvPr id="20" name="">
            <a:extLst xmlns:a="http://schemas.openxmlformats.org/drawingml/2006/main">
              <a:ext uri="{FF2B5EF4-FFF2-40B4-BE49-F238E27FC236}">
                <a16:creationId xmlns:a16="http://schemas.microsoft.com/office/drawing/2014/main" id="{1B64699B-8D0E-4A14-8495-3F607E88D250}"/>
              </a:ext>
            </a:extLst>
          </p:cNvPr>
          <p:cNvSpPr>
            <a:spLocks xmlns:a="http://schemas.openxmlformats.org/drawingml/2006/main" noGrp="1"/>
          </p:cNvSpPr>
          <p:nvPr/>
        </p:nvSpPr>
        <p:spPr>
          <a:xfrm xmlns:a="http://schemas.openxmlformats.org/drawingml/2006/main">
            <a:off x="8839200" y="2295525"/>
            <a:ext cx="2076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数量和影响因子主导</a:t>
            </a:r>
          </a:p>
        </p:txBody>
      </p:sp>
      <p:sp>
        <p:nvSpPr>
          <p:cNvPr id="21" name="">
            <a:extLst xmlns:a="http://schemas.openxmlformats.org/drawingml/2006/main">
              <a:ext uri="{FF2B5EF4-FFF2-40B4-BE49-F238E27FC236}">
                <a16:creationId xmlns:a16="http://schemas.microsoft.com/office/drawing/2014/main" id="{93F809B3-F8AB-4644-BB64-6A46208EB5C8}"/>
              </a:ext>
            </a:extLst>
          </p:cNvPr>
          <p:cNvSpPr>
            <a:spLocks xmlns:a="http://schemas.openxmlformats.org/drawingml/2006/main" noGrp="1"/>
          </p:cNvSpPr>
          <p:nvPr/>
        </p:nvSpPr>
        <p:spPr>
          <a:xfrm xmlns:a="http://schemas.openxmlformats.org/drawingml/2006/main">
            <a:off x="8572500" y="4495800"/>
            <a:ext cx="2571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AD5D8"/>
            </a:solidFill>
          </a:ln>
        </p:spPr>
      </p:sp>
      <p:sp>
        <p:nvSpPr>
          <p:cNvPr id="22" name="">
            <a:extLst xmlns:a="http://schemas.openxmlformats.org/drawingml/2006/main">
              <a:ext uri="{FF2B5EF4-FFF2-40B4-BE49-F238E27FC236}">
                <a16:creationId xmlns:a16="http://schemas.microsoft.com/office/drawing/2014/main" id="{68A06A7C-956B-4998-98FB-DE049707DE87}"/>
              </a:ext>
            </a:extLst>
          </p:cNvPr>
          <p:cNvSpPr>
            <a:spLocks xmlns:a="http://schemas.openxmlformats.org/drawingml/2006/main" noGrp="1"/>
          </p:cNvSpPr>
          <p:nvPr/>
        </p:nvSpPr>
        <p:spPr>
          <a:xfrm xmlns:a="http://schemas.openxmlformats.org/drawingml/2006/main">
            <a:off x="8572500" y="4495800"/>
            <a:ext cx="95250" cy="1104900"/>
          </a:xfrm>
          <a:prstGeom xmlns:a="http://schemas.openxmlformats.org/drawingml/2006/main" prst="roundRect">
            <a:avLst>
              <a:gd name="adj" fmla="val 50000"/>
            </a:avLst>
          </a:prstGeom>
          <a:solidFill xmlns:a="http://schemas.openxmlformats.org/drawingml/2006/main">
            <a:srgbClr val="9B3F3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E9460C6-633B-4AD5-B5C5-06F0B87FD827}"/>
              </a:ext>
            </a:extLst>
          </p:cNvPr>
          <p:cNvSpPr>
            <a:spLocks xmlns:a="http://schemas.openxmlformats.org/drawingml/2006/main" noGrp="1"/>
          </p:cNvSpPr>
          <p:nvPr/>
        </p:nvSpPr>
        <p:spPr>
          <a:xfrm xmlns:a="http://schemas.openxmlformats.org/drawingml/2006/main">
            <a:off x="8839200" y="4629150"/>
            <a:ext cx="2076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权力不对称</a:t>
            </a:r>
          </a:p>
        </p:txBody>
      </p:sp>
      <p:sp>
        <p:nvSpPr>
          <p:cNvPr id="24" name="">
            <a:extLst xmlns:a="http://schemas.openxmlformats.org/drawingml/2006/main">
              <a:ext uri="{FF2B5EF4-FFF2-40B4-BE49-F238E27FC236}">
                <a16:creationId xmlns:a16="http://schemas.microsoft.com/office/drawing/2014/main" id="{D2C0F68E-B8F1-4DA1-B6B8-ED41AC846D42}"/>
              </a:ext>
            </a:extLst>
          </p:cNvPr>
          <p:cNvSpPr>
            <a:spLocks xmlns:a="http://schemas.openxmlformats.org/drawingml/2006/main" noGrp="1"/>
          </p:cNvSpPr>
          <p:nvPr/>
        </p:nvSpPr>
        <p:spPr>
          <a:xfrm xmlns:a="http://schemas.openxmlformats.org/drawingml/2006/main">
            <a:off x="8839200" y="5000625"/>
            <a:ext cx="2076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质疑与举报成本高</a:t>
            </a:r>
          </a:p>
        </p:txBody>
      </p:sp>
      <p:sp>
        <p:nvSpPr>
          <p:cNvPr id="25" name="">
            <a:extLst xmlns:a="http://schemas.openxmlformats.org/drawingml/2006/main">
              <a:ext uri="{FF2B5EF4-FFF2-40B4-BE49-F238E27FC236}">
                <a16:creationId xmlns:a16="http://schemas.microsoft.com/office/drawing/2014/main" id="{6519EE69-63A4-4B08-89FE-57890EC86E86}"/>
              </a:ext>
            </a:extLst>
          </p:cNvPr>
          <p:cNvSpPr>
            <a:spLocks xmlns:a="http://schemas.openxmlformats.org/drawingml/2006/main" noGrp="1"/>
          </p:cNvSpPr>
          <p:nvPr/>
        </p:nvSpPr>
        <p:spPr>
          <a:xfrm xmlns:a="http://schemas.openxmlformats.org/drawingml/2006/main">
            <a:off x="3619500" y="2343150"/>
            <a:ext cx="857250" cy="647700"/>
          </a:xfrm>
          <a:prstGeom xmlns:a="http://schemas.openxmlformats.org/drawingml/2006/main" prst="line">
            <a:avLst/>
          </a:prstGeom>
          <a:ln xmlns:a="http://schemas.openxmlformats.org/drawingml/2006/main" w="38100">
            <a:solidFill>
              <a:srgbClr val="478C88"/>
            </a:solidFill>
          </a:ln>
        </p:spPr>
      </p:sp>
      <p:sp>
        <p:nvSpPr>
          <p:cNvPr id="26" name="">
            <a:extLst xmlns:a="http://schemas.openxmlformats.org/drawingml/2006/main">
              <a:ext uri="{FF2B5EF4-FFF2-40B4-BE49-F238E27FC236}">
                <a16:creationId xmlns:a16="http://schemas.microsoft.com/office/drawing/2014/main" id="{74DB5130-9D96-43C1-A8A9-414905D3A8C2}"/>
              </a:ext>
            </a:extLst>
          </p:cNvPr>
          <p:cNvSpPr>
            <a:spLocks xmlns:a="http://schemas.openxmlformats.org/drawingml/2006/main" noGrp="1"/>
          </p:cNvSpPr>
          <p:nvPr/>
        </p:nvSpPr>
        <p:spPr>
          <a:xfrm xmlns:a="http://schemas.openxmlformats.org/drawingml/2006/main">
            <a:off x="3619500" y="3867150"/>
            <a:ext cx="857250" cy="1181100"/>
          </a:xfrm>
          <a:prstGeom xmlns:a="http://schemas.openxmlformats.org/drawingml/2006/main" prst="line">
            <a:avLst/>
          </a:prstGeom>
          <a:ln xmlns:a="http://schemas.openxmlformats.org/drawingml/2006/main" w="38100">
            <a:solidFill>
              <a:srgbClr val="C49A4A"/>
            </a:solidFill>
          </a:ln>
        </p:spPr>
      </p:sp>
      <p:sp>
        <p:nvSpPr>
          <p:cNvPr id="27" name="">
            <a:extLst xmlns:a="http://schemas.openxmlformats.org/drawingml/2006/main">
              <a:ext uri="{FF2B5EF4-FFF2-40B4-BE49-F238E27FC236}">
                <a16:creationId xmlns:a16="http://schemas.microsoft.com/office/drawing/2014/main" id="{1FD81C5C-E566-4B06-9B62-49EE6D90807E}"/>
              </a:ext>
            </a:extLst>
          </p:cNvPr>
          <p:cNvSpPr>
            <a:spLocks xmlns:a="http://schemas.openxmlformats.org/drawingml/2006/main" noGrp="1"/>
          </p:cNvSpPr>
          <p:nvPr/>
        </p:nvSpPr>
        <p:spPr>
          <a:xfrm xmlns:a="http://schemas.openxmlformats.org/drawingml/2006/main">
            <a:off x="7715250" y="2343150"/>
            <a:ext cx="857250" cy="647700"/>
          </a:xfrm>
          <a:prstGeom xmlns:a="http://schemas.openxmlformats.org/drawingml/2006/main" prst="line">
            <a:avLst/>
          </a:prstGeom>
          <a:ln xmlns:a="http://schemas.openxmlformats.org/drawingml/2006/main" w="38100">
            <a:solidFill>
              <a:srgbClr val="B45C3E"/>
            </a:solidFill>
          </a:ln>
        </p:spPr>
      </p:sp>
      <p:sp>
        <p:nvSpPr>
          <p:cNvPr id="28" name="">
            <a:extLst xmlns:a="http://schemas.openxmlformats.org/drawingml/2006/main">
              <a:ext uri="{FF2B5EF4-FFF2-40B4-BE49-F238E27FC236}">
                <a16:creationId xmlns:a16="http://schemas.microsoft.com/office/drawing/2014/main" id="{DF58B1F1-4521-4AA2-A45D-B0121EBC08F7}"/>
              </a:ext>
            </a:extLst>
          </p:cNvPr>
          <p:cNvSpPr>
            <a:spLocks xmlns:a="http://schemas.openxmlformats.org/drawingml/2006/main" noGrp="1"/>
          </p:cNvSpPr>
          <p:nvPr/>
        </p:nvSpPr>
        <p:spPr>
          <a:xfrm xmlns:a="http://schemas.openxmlformats.org/drawingml/2006/main">
            <a:off x="7715250" y="3867150"/>
            <a:ext cx="857250" cy="1181100"/>
          </a:xfrm>
          <a:prstGeom xmlns:a="http://schemas.openxmlformats.org/drawingml/2006/main" prst="line">
            <a:avLst/>
          </a:prstGeom>
          <a:ln xmlns:a="http://schemas.openxmlformats.org/drawingml/2006/main" w="38100">
            <a:solidFill>
              <a:srgbClr val="9B3F34"/>
            </a:solidFill>
          </a:ln>
        </p:spPr>
      </p:sp>
      <p:sp>
        <p:nvSpPr>
          <p:cNvPr id="29" name="">
            <a:extLst xmlns:a="http://schemas.openxmlformats.org/drawingml/2006/main">
              <a:ext uri="{FF2B5EF4-FFF2-40B4-BE49-F238E27FC236}">
                <a16:creationId xmlns:a16="http://schemas.microsoft.com/office/drawing/2014/main" id="{70D68FC7-CE86-4BB6-9FB0-6DFB252E9DC1}"/>
              </a:ext>
            </a:extLst>
          </p:cNvPr>
          <p:cNvSpPr>
            <a:spLocks xmlns:a="http://schemas.openxmlformats.org/drawingml/2006/main" noGrp="1"/>
          </p:cNvSpPr>
          <p:nvPr/>
        </p:nvSpPr>
        <p:spPr>
          <a:xfrm xmlns:a="http://schemas.openxmlformats.org/drawingml/2006/main">
            <a:off x="4667250" y="45148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B45C3E"/>
                </a:solidFill>
                <a:latin typeface="Microsoft YaHei"/>
                <a:ea typeface="Microsoft YaHei"/>
                <a:cs typeface="Microsoft YaHei"/>
              </a:defRPr>
            </a:pPr>
            <a:r>
              <a:rPr sz="1350" b="1">
                <a:solidFill>
                  <a:srgbClr val="B45C3E"/>
                </a:solidFill>
                <a:latin typeface="Microsoft YaHei"/>
                <a:ea typeface="Microsoft YaHei"/>
                <a:cs typeface="Microsoft YaHei"/>
              </a:rPr>
              <a:t>关键判断</a:t>
            </a:r>
          </a:p>
        </p:txBody>
      </p:sp>
      <p:sp>
        <p:nvSpPr>
          <p:cNvPr id="30" name="">
            <a:extLst xmlns:a="http://schemas.openxmlformats.org/drawingml/2006/main">
              <a:ext uri="{FF2B5EF4-FFF2-40B4-BE49-F238E27FC236}">
                <a16:creationId xmlns:a16="http://schemas.microsoft.com/office/drawing/2014/main" id="{74393BF4-1F6F-456F-B862-82F366D05C50}"/>
              </a:ext>
            </a:extLst>
          </p:cNvPr>
          <p:cNvSpPr>
            <a:spLocks xmlns:a="http://schemas.openxmlformats.org/drawingml/2006/main" noGrp="1"/>
          </p:cNvSpPr>
          <p:nvPr/>
        </p:nvSpPr>
        <p:spPr>
          <a:xfrm xmlns:a="http://schemas.openxmlformats.org/drawingml/2006/main">
            <a:off x="3714750" y="485775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F2A30"/>
                </a:solidFill>
                <a:latin typeface="Microsoft YaHei"/>
                <a:ea typeface="Microsoft YaHei"/>
                <a:cs typeface="Microsoft YaHei"/>
              </a:defRPr>
            </a:pPr>
            <a:r>
              <a:rPr sz="1575" b="1">
                <a:solidFill>
                  <a:srgbClr val="1F2A30"/>
                </a:solidFill>
                <a:latin typeface="Microsoft YaHei"/>
                <a:ea typeface="Microsoft YaHei"/>
                <a:cs typeface="Microsoft YaHei"/>
              </a:rPr>
              <a:t>治理必须同时修复知识生产过程与组织激励结构</a:t>
            </a:r>
          </a:p>
        </p:txBody>
      </p:sp>
    </p:spTree>
    <p:extLst>
      <p:ext uri="{BB962C8B-B14F-4D97-AF65-F5344CB8AC3E}">
        <p14:creationId xmlns:p14="http://schemas.microsoft.com/office/powerpoint/2010/main" val="1414978744"/>
      </p:ext>
    </p:extLst>
  </p:cSld>
</p:sld>
</file>

<file path=ppt/slides/slide1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4F3E11F-0E2E-4587-8554-F42B9F0C57D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FA260C-F8CB-4165-A708-384B62269DB7}"/>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认识论治理：让证据可追溯、可质疑、可复核</a:t>
            </a:r>
          </a:p>
        </p:txBody>
      </p:sp>
      <p:sp>
        <p:nvSpPr>
          <p:cNvPr id="3" name="">
            <a:extLst xmlns:a="http://schemas.openxmlformats.org/drawingml/2006/main">
              <a:ext uri="{FF2B5EF4-FFF2-40B4-BE49-F238E27FC236}">
                <a16:creationId xmlns:a16="http://schemas.microsoft.com/office/drawing/2014/main" id="{9F9E6B1E-F426-46B8-A9F8-FE3E4D4EADF5}"/>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治理目标不是消除错误，而是缩短错误暴露和纠正的时间</a:t>
            </a:r>
          </a:p>
        </p:txBody>
      </p:sp>
      <p:sp>
        <p:nvSpPr>
          <p:cNvPr id="4" name="">
            <a:extLst xmlns:a="http://schemas.openxmlformats.org/drawingml/2006/main">
              <a:ext uri="{FF2B5EF4-FFF2-40B4-BE49-F238E27FC236}">
                <a16:creationId xmlns:a16="http://schemas.microsoft.com/office/drawing/2014/main" id="{F5CC53A6-E632-4226-95EF-D8FF3F7DA149}"/>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11</a:t>
            </a:r>
          </a:p>
        </p:txBody>
      </p:sp>
      <p:sp>
        <p:nvSpPr>
          <p:cNvPr id="5" name="">
            <a:extLst xmlns:a="http://schemas.openxmlformats.org/drawingml/2006/main">
              <a:ext uri="{FF2B5EF4-FFF2-40B4-BE49-F238E27FC236}">
                <a16:creationId xmlns:a16="http://schemas.microsoft.com/office/drawing/2014/main" id="{A6E6C351-1CC2-4A9B-BFE9-EAF9F57F7FA1}"/>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A454052E-0169-40D5-9B67-DFE603623888}"/>
              </a:ext>
            </a:extLst>
          </p:cNvPr>
          <p:cNvSpPr>
            <a:spLocks xmlns:a="http://schemas.openxmlformats.org/drawingml/2006/main" noGrp="1"/>
          </p:cNvSpPr>
          <p:nvPr/>
        </p:nvSpPr>
        <p:spPr>
          <a:xfrm xmlns:a="http://schemas.openxmlformats.org/drawingml/2006/main">
            <a:off x="733425" y="1609725"/>
            <a:ext cx="476250" cy="476250"/>
          </a:xfrm>
          <a:prstGeom xmlns:a="http://schemas.openxmlformats.org/drawingml/2006/main" prst="roundRect">
            <a:avLst>
              <a:gd name="adj" fmla="val 16000"/>
            </a:avLst>
          </a:prstGeom>
          <a:solidFill xmlns:a="http://schemas.openxmlformats.org/drawingml/2006/main">
            <a:srgbClr val="478C8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B1DB86-B56A-4165-9492-B04AE660B5C2}"/>
              </a:ext>
            </a:extLst>
          </p:cNvPr>
          <p:cNvSpPr>
            <a:spLocks xmlns:a="http://schemas.openxmlformats.org/drawingml/2006/main" noGrp="1"/>
          </p:cNvSpPr>
          <p:nvPr/>
        </p:nvSpPr>
        <p:spPr>
          <a:xfrm xmlns:a="http://schemas.openxmlformats.org/drawingml/2006/main">
            <a:off x="762000" y="163830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Microsoft YaHei"/>
                <a:ea typeface="Microsoft YaHei"/>
                <a:cs typeface="Microsoft YaHei"/>
              </a:defRPr>
            </a:pPr>
            <a:r>
              <a:rPr sz="1650" b="1">
                <a:solidFill>
                  <a:srgbClr val="FFFFFF"/>
                </a:solidFill>
                <a:latin typeface="Microsoft YaHei"/>
                <a:ea typeface="Microsoft YaHei"/>
                <a:cs typeface="Microsoft YaHei"/>
              </a:rPr>
              <a:t>1</a:t>
            </a:r>
          </a:p>
        </p:txBody>
      </p:sp>
      <p:sp>
        <p:nvSpPr>
          <p:cNvPr id="8" name="">
            <a:extLst xmlns:a="http://schemas.openxmlformats.org/drawingml/2006/main">
              <a:ext uri="{FF2B5EF4-FFF2-40B4-BE49-F238E27FC236}">
                <a16:creationId xmlns:a16="http://schemas.microsoft.com/office/drawing/2014/main" id="{FADB6080-873D-4D06-8C49-7E7BFFD9E1FD}"/>
              </a:ext>
            </a:extLst>
          </p:cNvPr>
          <p:cNvSpPr>
            <a:spLocks xmlns:a="http://schemas.openxmlformats.org/drawingml/2006/main" noGrp="1"/>
          </p:cNvSpPr>
          <p:nvPr/>
        </p:nvSpPr>
        <p:spPr>
          <a:xfrm xmlns:a="http://schemas.openxmlformats.org/drawingml/2006/main">
            <a:off x="1447800" y="15621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全过程留痕</a:t>
            </a:r>
          </a:p>
        </p:txBody>
      </p:sp>
      <p:sp>
        <p:nvSpPr>
          <p:cNvPr id="9" name="">
            <a:extLst xmlns:a="http://schemas.openxmlformats.org/drawingml/2006/main">
              <a:ext uri="{FF2B5EF4-FFF2-40B4-BE49-F238E27FC236}">
                <a16:creationId xmlns:a16="http://schemas.microsoft.com/office/drawing/2014/main" id="{FFB1EAA2-7EBA-48CB-A87F-B9FF9DB97EEC}"/>
              </a:ext>
            </a:extLst>
          </p:cNvPr>
          <p:cNvSpPr>
            <a:spLocks xmlns:a="http://schemas.openxmlformats.org/drawingml/2006/main" noGrp="1"/>
          </p:cNvSpPr>
          <p:nvPr/>
        </p:nvSpPr>
        <p:spPr>
          <a:xfrm xmlns:a="http://schemas.openxmlformats.org/drawingml/2006/main">
            <a:off x="4095750" y="1543050"/>
            <a:ext cx="685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建立数据管理计划，保存原始数据、样本来源、分析代码和版本记录。</a:t>
            </a:r>
          </a:p>
        </p:txBody>
      </p:sp>
      <p:sp>
        <p:nvSpPr>
          <p:cNvPr id="10" name="">
            <a:extLst xmlns:a="http://schemas.openxmlformats.org/drawingml/2006/main">
              <a:ext uri="{FF2B5EF4-FFF2-40B4-BE49-F238E27FC236}">
                <a16:creationId xmlns:a16="http://schemas.microsoft.com/office/drawing/2014/main" id="{C54AA151-04DD-4C2F-BB34-DF522C6D14D2}"/>
              </a:ext>
            </a:extLst>
          </p:cNvPr>
          <p:cNvSpPr>
            <a:spLocks xmlns:a="http://schemas.openxmlformats.org/drawingml/2006/main" noGrp="1"/>
          </p:cNvSpPr>
          <p:nvPr/>
        </p:nvSpPr>
        <p:spPr>
          <a:xfrm xmlns:a="http://schemas.openxmlformats.org/drawingml/2006/main">
            <a:off x="1428750" y="2228850"/>
            <a:ext cx="9563100" cy="0"/>
          </a:xfrm>
          <a:prstGeom xmlns:a="http://schemas.openxmlformats.org/drawingml/2006/main" prst="line">
            <a:avLst/>
          </a:prstGeom>
          <a:ln xmlns:a="http://schemas.openxmlformats.org/drawingml/2006/main" w="9525">
            <a:solidFill>
              <a:srgbClr val="CAD5D8"/>
            </a:solidFill>
          </a:ln>
        </p:spPr>
      </p:sp>
      <p:sp>
        <p:nvSpPr>
          <p:cNvPr id="11" name="">
            <a:extLst xmlns:a="http://schemas.openxmlformats.org/drawingml/2006/main">
              <a:ext uri="{FF2B5EF4-FFF2-40B4-BE49-F238E27FC236}">
                <a16:creationId xmlns:a16="http://schemas.microsoft.com/office/drawing/2014/main" id="{95324E46-CE53-49AC-A255-00B466B01909}"/>
              </a:ext>
            </a:extLst>
          </p:cNvPr>
          <p:cNvSpPr>
            <a:spLocks xmlns:a="http://schemas.openxmlformats.org/drawingml/2006/main" noGrp="1"/>
          </p:cNvSpPr>
          <p:nvPr/>
        </p:nvSpPr>
        <p:spPr>
          <a:xfrm xmlns:a="http://schemas.openxmlformats.org/drawingml/2006/main">
            <a:off x="733425" y="2486025"/>
            <a:ext cx="476250" cy="476250"/>
          </a:xfrm>
          <a:prstGeom xmlns:a="http://schemas.openxmlformats.org/drawingml/2006/main" prst="roundRect">
            <a:avLst>
              <a:gd name="adj" fmla="val 16000"/>
            </a:avLst>
          </a:prstGeom>
          <a:solidFill xmlns:a="http://schemas.openxmlformats.org/drawingml/2006/main">
            <a:srgbClr val="478C8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C911266-CD70-4F8E-A4C5-340AA673710E}"/>
              </a:ext>
            </a:extLst>
          </p:cNvPr>
          <p:cNvSpPr>
            <a:spLocks xmlns:a="http://schemas.openxmlformats.org/drawingml/2006/main" noGrp="1"/>
          </p:cNvSpPr>
          <p:nvPr/>
        </p:nvSpPr>
        <p:spPr>
          <a:xfrm xmlns:a="http://schemas.openxmlformats.org/drawingml/2006/main">
            <a:off x="762000" y="251460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Microsoft YaHei"/>
                <a:ea typeface="Microsoft YaHei"/>
                <a:cs typeface="Microsoft YaHei"/>
              </a:defRPr>
            </a:pPr>
            <a:r>
              <a:rPr sz="1650" b="1">
                <a:solidFill>
                  <a:srgbClr val="FFFFFF"/>
                </a:solidFill>
                <a:latin typeface="Microsoft YaHei"/>
                <a:ea typeface="Microsoft YaHei"/>
                <a:cs typeface="Microsoft YaHei"/>
              </a:rPr>
              <a:t>2</a:t>
            </a:r>
          </a:p>
        </p:txBody>
      </p:sp>
      <p:sp>
        <p:nvSpPr>
          <p:cNvPr id="13" name="">
            <a:extLst xmlns:a="http://schemas.openxmlformats.org/drawingml/2006/main">
              <a:ext uri="{FF2B5EF4-FFF2-40B4-BE49-F238E27FC236}">
                <a16:creationId xmlns:a16="http://schemas.microsoft.com/office/drawing/2014/main" id="{D8E575C4-8E58-4CE2-94C4-7476EB9D93C0}"/>
              </a:ext>
            </a:extLst>
          </p:cNvPr>
          <p:cNvSpPr>
            <a:spLocks xmlns:a="http://schemas.openxmlformats.org/drawingml/2006/main" noGrp="1"/>
          </p:cNvSpPr>
          <p:nvPr/>
        </p:nvSpPr>
        <p:spPr>
          <a:xfrm xmlns:a="http://schemas.openxmlformats.org/drawingml/2006/main">
            <a:off x="1447800" y="24384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预先约束分析自由度</a:t>
            </a:r>
          </a:p>
        </p:txBody>
      </p:sp>
      <p:sp>
        <p:nvSpPr>
          <p:cNvPr id="14" name="">
            <a:extLst xmlns:a="http://schemas.openxmlformats.org/drawingml/2006/main">
              <a:ext uri="{FF2B5EF4-FFF2-40B4-BE49-F238E27FC236}">
                <a16:creationId xmlns:a16="http://schemas.microsoft.com/office/drawing/2014/main" id="{A5FDF33B-C794-4562-98D0-ACC82CA08926}"/>
              </a:ext>
            </a:extLst>
          </p:cNvPr>
          <p:cNvSpPr>
            <a:spLocks xmlns:a="http://schemas.openxmlformats.org/drawingml/2006/main" noGrp="1"/>
          </p:cNvSpPr>
          <p:nvPr/>
        </p:nvSpPr>
        <p:spPr>
          <a:xfrm xmlns:a="http://schemas.openxmlformats.org/drawingml/2006/main">
            <a:off x="4095750" y="2419350"/>
            <a:ext cx="685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在条件允许时预注册假设、主要指标和排除规则，区分探索性与验证性分析。</a:t>
            </a:r>
          </a:p>
        </p:txBody>
      </p:sp>
      <p:sp>
        <p:nvSpPr>
          <p:cNvPr id="15" name="">
            <a:extLst xmlns:a="http://schemas.openxmlformats.org/drawingml/2006/main">
              <a:ext uri="{FF2B5EF4-FFF2-40B4-BE49-F238E27FC236}">
                <a16:creationId xmlns:a16="http://schemas.microsoft.com/office/drawing/2014/main" id="{587961BA-9169-4A22-87D4-5A03B51AB3E6}"/>
              </a:ext>
            </a:extLst>
          </p:cNvPr>
          <p:cNvSpPr>
            <a:spLocks xmlns:a="http://schemas.openxmlformats.org/drawingml/2006/main" noGrp="1"/>
          </p:cNvSpPr>
          <p:nvPr/>
        </p:nvSpPr>
        <p:spPr>
          <a:xfrm xmlns:a="http://schemas.openxmlformats.org/drawingml/2006/main">
            <a:off x="1428750" y="3105150"/>
            <a:ext cx="9563100" cy="0"/>
          </a:xfrm>
          <a:prstGeom xmlns:a="http://schemas.openxmlformats.org/drawingml/2006/main" prst="line">
            <a:avLst/>
          </a:prstGeom>
          <a:ln xmlns:a="http://schemas.openxmlformats.org/drawingml/2006/main" w="9525">
            <a:solidFill>
              <a:srgbClr val="CAD5D8"/>
            </a:solidFill>
          </a:ln>
        </p:spPr>
      </p:sp>
      <p:sp>
        <p:nvSpPr>
          <p:cNvPr id="16" name="">
            <a:extLst xmlns:a="http://schemas.openxmlformats.org/drawingml/2006/main">
              <a:ext uri="{FF2B5EF4-FFF2-40B4-BE49-F238E27FC236}">
                <a16:creationId xmlns:a16="http://schemas.microsoft.com/office/drawing/2014/main" id="{5454317B-29DC-40ED-AA80-56BFF7D23041}"/>
              </a:ext>
            </a:extLst>
          </p:cNvPr>
          <p:cNvSpPr>
            <a:spLocks xmlns:a="http://schemas.openxmlformats.org/drawingml/2006/main" noGrp="1"/>
          </p:cNvSpPr>
          <p:nvPr/>
        </p:nvSpPr>
        <p:spPr>
          <a:xfrm xmlns:a="http://schemas.openxmlformats.org/drawingml/2006/main">
            <a:off x="733425" y="3362325"/>
            <a:ext cx="476250" cy="476250"/>
          </a:xfrm>
          <a:prstGeom xmlns:a="http://schemas.openxmlformats.org/drawingml/2006/main" prst="roundRect">
            <a:avLst>
              <a:gd name="adj" fmla="val 16000"/>
            </a:avLst>
          </a:prstGeom>
          <a:solidFill xmlns:a="http://schemas.openxmlformats.org/drawingml/2006/main">
            <a:srgbClr val="B45C3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9007158-8253-4029-946C-8314640E9DA9}"/>
              </a:ext>
            </a:extLst>
          </p:cNvPr>
          <p:cNvSpPr>
            <a:spLocks xmlns:a="http://schemas.openxmlformats.org/drawingml/2006/main" noGrp="1"/>
          </p:cNvSpPr>
          <p:nvPr/>
        </p:nvSpPr>
        <p:spPr>
          <a:xfrm xmlns:a="http://schemas.openxmlformats.org/drawingml/2006/main">
            <a:off x="762000" y="339090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Microsoft YaHei"/>
                <a:ea typeface="Microsoft YaHei"/>
                <a:cs typeface="Microsoft YaHei"/>
              </a:defRPr>
            </a:pPr>
            <a:r>
              <a:rPr sz="1650" b="1">
                <a:solidFill>
                  <a:srgbClr val="FFFFFF"/>
                </a:solidFill>
                <a:latin typeface="Microsoft YaHei"/>
                <a:ea typeface="Microsoft YaHei"/>
                <a:cs typeface="Microsoft YaHei"/>
              </a:rPr>
              <a:t>3</a:t>
            </a:r>
          </a:p>
        </p:txBody>
      </p:sp>
      <p:sp>
        <p:nvSpPr>
          <p:cNvPr id="18" name="">
            <a:extLst xmlns:a="http://schemas.openxmlformats.org/drawingml/2006/main">
              <a:ext uri="{FF2B5EF4-FFF2-40B4-BE49-F238E27FC236}">
                <a16:creationId xmlns:a16="http://schemas.microsoft.com/office/drawing/2014/main" id="{8170B6BB-8770-4C90-9441-F5D0293F4DD8}"/>
              </a:ext>
            </a:extLst>
          </p:cNvPr>
          <p:cNvSpPr>
            <a:spLocks xmlns:a="http://schemas.openxmlformats.org/drawingml/2006/main" noGrp="1"/>
          </p:cNvSpPr>
          <p:nvPr/>
        </p:nvSpPr>
        <p:spPr>
          <a:xfrm xmlns:a="http://schemas.openxmlformats.org/drawingml/2006/main">
            <a:off x="1447800" y="33147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关键结果独立复核</a:t>
            </a:r>
          </a:p>
        </p:txBody>
      </p:sp>
      <p:sp>
        <p:nvSpPr>
          <p:cNvPr id="19" name="">
            <a:extLst xmlns:a="http://schemas.openxmlformats.org/drawingml/2006/main">
              <a:ext uri="{FF2B5EF4-FFF2-40B4-BE49-F238E27FC236}">
                <a16:creationId xmlns:a16="http://schemas.microsoft.com/office/drawing/2014/main" id="{BE237FFB-90F7-4135-99BD-CD7FCB4E1D43}"/>
              </a:ext>
            </a:extLst>
          </p:cNvPr>
          <p:cNvSpPr>
            <a:spLocks xmlns:a="http://schemas.openxmlformats.org/drawingml/2006/main" noGrp="1"/>
          </p:cNvSpPr>
          <p:nvPr/>
        </p:nvSpPr>
        <p:spPr>
          <a:xfrm xmlns:a="http://schemas.openxmlformats.org/drawingml/2006/main">
            <a:off x="4095750" y="3295650"/>
            <a:ext cx="685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发表前由非直接参与者复算关键图表，检查样本、图像和统计流程。</a:t>
            </a:r>
          </a:p>
        </p:txBody>
      </p:sp>
      <p:sp>
        <p:nvSpPr>
          <p:cNvPr id="20" name="">
            <a:extLst xmlns:a="http://schemas.openxmlformats.org/drawingml/2006/main">
              <a:ext uri="{FF2B5EF4-FFF2-40B4-BE49-F238E27FC236}">
                <a16:creationId xmlns:a16="http://schemas.microsoft.com/office/drawing/2014/main" id="{F57D1054-82E4-44B6-B4EE-49088DFD61FB}"/>
              </a:ext>
            </a:extLst>
          </p:cNvPr>
          <p:cNvSpPr>
            <a:spLocks xmlns:a="http://schemas.openxmlformats.org/drawingml/2006/main" noGrp="1"/>
          </p:cNvSpPr>
          <p:nvPr/>
        </p:nvSpPr>
        <p:spPr>
          <a:xfrm xmlns:a="http://schemas.openxmlformats.org/drawingml/2006/main">
            <a:off x="1428750" y="3981450"/>
            <a:ext cx="9563100" cy="0"/>
          </a:xfrm>
          <a:prstGeom xmlns:a="http://schemas.openxmlformats.org/drawingml/2006/main" prst="line">
            <a:avLst/>
          </a:prstGeom>
          <a:ln xmlns:a="http://schemas.openxmlformats.org/drawingml/2006/main" w="9525">
            <a:solidFill>
              <a:srgbClr val="CAD5D8"/>
            </a:solidFill>
          </a:ln>
        </p:spPr>
      </p:sp>
      <p:sp>
        <p:nvSpPr>
          <p:cNvPr id="21" name="">
            <a:extLst xmlns:a="http://schemas.openxmlformats.org/drawingml/2006/main">
              <a:ext uri="{FF2B5EF4-FFF2-40B4-BE49-F238E27FC236}">
                <a16:creationId xmlns:a16="http://schemas.microsoft.com/office/drawing/2014/main" id="{06A5106C-3197-4C21-9F98-CC0ECD4C5258}"/>
              </a:ext>
            </a:extLst>
          </p:cNvPr>
          <p:cNvSpPr>
            <a:spLocks xmlns:a="http://schemas.openxmlformats.org/drawingml/2006/main" noGrp="1"/>
          </p:cNvSpPr>
          <p:nvPr/>
        </p:nvSpPr>
        <p:spPr>
          <a:xfrm xmlns:a="http://schemas.openxmlformats.org/drawingml/2006/main">
            <a:off x="733425" y="4238625"/>
            <a:ext cx="476250" cy="476250"/>
          </a:xfrm>
          <a:prstGeom xmlns:a="http://schemas.openxmlformats.org/drawingml/2006/main" prst="roundRect">
            <a:avLst>
              <a:gd name="adj" fmla="val 16000"/>
            </a:avLst>
          </a:prstGeom>
          <a:solidFill xmlns:a="http://schemas.openxmlformats.org/drawingml/2006/main">
            <a:srgbClr val="478C8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35D5A92-08EF-4B2E-A60A-6EC21FA84D60}"/>
              </a:ext>
            </a:extLst>
          </p:cNvPr>
          <p:cNvSpPr>
            <a:spLocks xmlns:a="http://schemas.openxmlformats.org/drawingml/2006/main" noGrp="1"/>
          </p:cNvSpPr>
          <p:nvPr/>
        </p:nvSpPr>
        <p:spPr>
          <a:xfrm xmlns:a="http://schemas.openxmlformats.org/drawingml/2006/main">
            <a:off x="762000" y="426720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Microsoft YaHei"/>
                <a:ea typeface="Microsoft YaHei"/>
                <a:cs typeface="Microsoft YaHei"/>
              </a:defRPr>
            </a:pPr>
            <a:r>
              <a:rPr sz="1650" b="1">
                <a:solidFill>
                  <a:srgbClr val="FFFFFF"/>
                </a:solidFill>
                <a:latin typeface="Microsoft YaHei"/>
                <a:ea typeface="Microsoft YaHei"/>
                <a:cs typeface="Microsoft YaHei"/>
              </a:rPr>
              <a:t>4</a:t>
            </a:r>
          </a:p>
        </p:txBody>
      </p:sp>
      <p:sp>
        <p:nvSpPr>
          <p:cNvPr id="23" name="">
            <a:extLst xmlns:a="http://schemas.openxmlformats.org/drawingml/2006/main">
              <a:ext uri="{FF2B5EF4-FFF2-40B4-BE49-F238E27FC236}">
                <a16:creationId xmlns:a16="http://schemas.microsoft.com/office/drawing/2014/main" id="{EE3CE978-4B35-40F0-B4F1-1E405D60BF08}"/>
              </a:ext>
            </a:extLst>
          </p:cNvPr>
          <p:cNvSpPr>
            <a:spLocks xmlns:a="http://schemas.openxmlformats.org/drawingml/2006/main" noGrp="1"/>
          </p:cNvSpPr>
          <p:nvPr/>
        </p:nvSpPr>
        <p:spPr>
          <a:xfrm xmlns:a="http://schemas.openxmlformats.org/drawingml/2006/main">
            <a:off x="1447800" y="41910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提高可重复性</a:t>
            </a:r>
          </a:p>
        </p:txBody>
      </p:sp>
      <p:sp>
        <p:nvSpPr>
          <p:cNvPr id="24" name="">
            <a:extLst xmlns:a="http://schemas.openxmlformats.org/drawingml/2006/main">
              <a:ext uri="{FF2B5EF4-FFF2-40B4-BE49-F238E27FC236}">
                <a16:creationId xmlns:a16="http://schemas.microsoft.com/office/drawing/2014/main" id="{9F5FE9D0-0C0B-4CE2-A332-C58AB7444A57}"/>
              </a:ext>
            </a:extLst>
          </p:cNvPr>
          <p:cNvSpPr>
            <a:spLocks xmlns:a="http://schemas.openxmlformats.org/drawingml/2006/main" noGrp="1"/>
          </p:cNvSpPr>
          <p:nvPr/>
        </p:nvSpPr>
        <p:spPr>
          <a:xfrm xmlns:a="http://schemas.openxmlformats.org/drawingml/2006/main">
            <a:off x="4095750" y="4171950"/>
            <a:ext cx="685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共享数据、代码、材料与协议，支持重复实验和负结果传播。</a:t>
            </a:r>
          </a:p>
        </p:txBody>
      </p:sp>
      <p:sp>
        <p:nvSpPr>
          <p:cNvPr id="25" name="">
            <a:extLst xmlns:a="http://schemas.openxmlformats.org/drawingml/2006/main">
              <a:ext uri="{FF2B5EF4-FFF2-40B4-BE49-F238E27FC236}">
                <a16:creationId xmlns:a16="http://schemas.microsoft.com/office/drawing/2014/main" id="{CB0536AD-2CE2-4FEA-9C7A-CB6513601005}"/>
              </a:ext>
            </a:extLst>
          </p:cNvPr>
          <p:cNvSpPr>
            <a:spLocks xmlns:a="http://schemas.openxmlformats.org/drawingml/2006/main" noGrp="1"/>
          </p:cNvSpPr>
          <p:nvPr/>
        </p:nvSpPr>
        <p:spPr>
          <a:xfrm xmlns:a="http://schemas.openxmlformats.org/drawingml/2006/main">
            <a:off x="1428750" y="4857750"/>
            <a:ext cx="9563100" cy="0"/>
          </a:xfrm>
          <a:prstGeom xmlns:a="http://schemas.openxmlformats.org/drawingml/2006/main" prst="line">
            <a:avLst/>
          </a:prstGeom>
          <a:ln xmlns:a="http://schemas.openxmlformats.org/drawingml/2006/main" w="9525">
            <a:solidFill>
              <a:srgbClr val="CAD5D8"/>
            </a:solidFill>
          </a:ln>
        </p:spPr>
      </p:sp>
      <p:sp>
        <p:nvSpPr>
          <p:cNvPr id="26" name="">
            <a:extLst xmlns:a="http://schemas.openxmlformats.org/drawingml/2006/main">
              <a:ext uri="{FF2B5EF4-FFF2-40B4-BE49-F238E27FC236}">
                <a16:creationId xmlns:a16="http://schemas.microsoft.com/office/drawing/2014/main" id="{1D4EDB69-6D55-48BE-9D6C-95341B91E4BB}"/>
              </a:ext>
            </a:extLst>
          </p:cNvPr>
          <p:cNvSpPr>
            <a:spLocks xmlns:a="http://schemas.openxmlformats.org/drawingml/2006/main" noGrp="1"/>
          </p:cNvSpPr>
          <p:nvPr/>
        </p:nvSpPr>
        <p:spPr>
          <a:xfrm xmlns:a="http://schemas.openxmlformats.org/drawingml/2006/main">
            <a:off x="733425" y="5114925"/>
            <a:ext cx="476250" cy="476250"/>
          </a:xfrm>
          <a:prstGeom xmlns:a="http://schemas.openxmlformats.org/drawingml/2006/main" prst="roundRect">
            <a:avLst>
              <a:gd name="adj" fmla="val 16000"/>
            </a:avLst>
          </a:prstGeom>
          <a:solidFill xmlns:a="http://schemas.openxmlformats.org/drawingml/2006/main">
            <a:srgbClr val="478C8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4CBA5CC-7C8C-43F0-A7D7-B7A62610A44C}"/>
              </a:ext>
            </a:extLst>
          </p:cNvPr>
          <p:cNvSpPr>
            <a:spLocks xmlns:a="http://schemas.openxmlformats.org/drawingml/2006/main" noGrp="1"/>
          </p:cNvSpPr>
          <p:nvPr/>
        </p:nvSpPr>
        <p:spPr>
          <a:xfrm xmlns:a="http://schemas.openxmlformats.org/drawingml/2006/main">
            <a:off x="762000" y="514350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Microsoft YaHei"/>
                <a:ea typeface="Microsoft YaHei"/>
                <a:cs typeface="Microsoft YaHei"/>
              </a:defRPr>
            </a:pPr>
            <a:r>
              <a:rPr sz="1650" b="1">
                <a:solidFill>
                  <a:srgbClr val="FFFFFF"/>
                </a:solidFill>
                <a:latin typeface="Microsoft YaHei"/>
                <a:ea typeface="Microsoft YaHei"/>
                <a:cs typeface="Microsoft YaHei"/>
              </a:rPr>
              <a:t>5</a:t>
            </a:r>
          </a:p>
        </p:txBody>
      </p:sp>
      <p:sp>
        <p:nvSpPr>
          <p:cNvPr id="28" name="">
            <a:extLst xmlns:a="http://schemas.openxmlformats.org/drawingml/2006/main">
              <a:ext uri="{FF2B5EF4-FFF2-40B4-BE49-F238E27FC236}">
                <a16:creationId xmlns:a16="http://schemas.microsoft.com/office/drawing/2014/main" id="{DB3AB78E-F1BA-4EC0-B20C-7B8B7B9F3CF4}"/>
              </a:ext>
            </a:extLst>
          </p:cNvPr>
          <p:cNvSpPr>
            <a:spLocks xmlns:a="http://schemas.openxmlformats.org/drawingml/2006/main" noGrp="1"/>
          </p:cNvSpPr>
          <p:nvPr/>
        </p:nvSpPr>
        <p:spPr>
          <a:xfrm xmlns:a="http://schemas.openxmlformats.org/drawingml/2006/main">
            <a:off x="1447800" y="50673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83247"/>
                </a:solidFill>
                <a:latin typeface="Microsoft YaHei"/>
                <a:ea typeface="Microsoft YaHei"/>
                <a:cs typeface="Microsoft YaHei"/>
              </a:defRPr>
            </a:pPr>
            <a:r>
              <a:rPr sz="1500" b="1">
                <a:solidFill>
                  <a:srgbClr val="183247"/>
                </a:solidFill>
                <a:latin typeface="Microsoft YaHei"/>
                <a:ea typeface="Microsoft YaHei"/>
                <a:cs typeface="Microsoft YaHei"/>
              </a:rPr>
              <a:t>常态化批判训练</a:t>
            </a:r>
          </a:p>
        </p:txBody>
      </p:sp>
      <p:sp>
        <p:nvSpPr>
          <p:cNvPr id="29" name="">
            <a:extLst xmlns:a="http://schemas.openxmlformats.org/drawingml/2006/main">
              <a:ext uri="{FF2B5EF4-FFF2-40B4-BE49-F238E27FC236}">
                <a16:creationId xmlns:a16="http://schemas.microsoft.com/office/drawing/2014/main" id="{68E89B71-E738-4686-823A-87A3434BABDD}"/>
              </a:ext>
            </a:extLst>
          </p:cNvPr>
          <p:cNvSpPr>
            <a:spLocks xmlns:a="http://schemas.openxmlformats.org/drawingml/2006/main" noGrp="1"/>
          </p:cNvSpPr>
          <p:nvPr/>
        </p:nvSpPr>
        <p:spPr>
          <a:xfrm xmlns:a="http://schemas.openxmlformats.org/drawingml/2006/main">
            <a:off x="4095750" y="5048250"/>
            <a:ext cx="685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把图像规范、统计推断、科研记录和案例讨论纳入研究生培养。</a:t>
            </a:r>
          </a:p>
        </p:txBody>
      </p:sp>
      <p:sp>
        <p:nvSpPr>
          <p:cNvPr id="30" name="">
            <a:extLst xmlns:a="http://schemas.openxmlformats.org/drawingml/2006/main">
              <a:ext uri="{FF2B5EF4-FFF2-40B4-BE49-F238E27FC236}">
                <a16:creationId xmlns:a16="http://schemas.microsoft.com/office/drawing/2014/main" id="{23392D41-4386-498E-BC50-73209D93158D}"/>
              </a:ext>
            </a:extLst>
          </p:cNvPr>
          <p:cNvSpPr>
            <a:spLocks xmlns:a="http://schemas.openxmlformats.org/drawingml/2006/main" noGrp="1"/>
          </p:cNvSpPr>
          <p:nvPr/>
        </p:nvSpPr>
        <p:spPr>
          <a:xfrm xmlns:a="http://schemas.openxmlformats.org/drawingml/2006/main">
            <a:off x="1428750" y="5734050"/>
            <a:ext cx="9563100" cy="0"/>
          </a:xfrm>
          <a:prstGeom xmlns:a="http://schemas.openxmlformats.org/drawingml/2006/main" prst="line">
            <a:avLst/>
          </a:prstGeom>
          <a:ln xmlns:a="http://schemas.openxmlformats.org/drawingml/2006/main" w="9525">
            <a:solidFill>
              <a:srgbClr val="CAD5D8"/>
            </a:solidFill>
          </a:ln>
        </p:spPr>
      </p:sp>
    </p:spTree>
    <p:extLst>
      <p:ext uri="{BB962C8B-B14F-4D97-AF65-F5344CB8AC3E}">
        <p14:creationId xmlns:p14="http://schemas.microsoft.com/office/powerpoint/2010/main" val="1946054666"/>
      </p:ext>
    </p:extLst>
  </p:cSld>
</p:sld>
</file>

<file path=ppt/slides/slide1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C41362A-4A13-4A7E-A42A-EF998A97D68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CD676E-AB07-42D4-BE3C-9B46C97EF342}"/>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制度治理：重塑激励并建立独立问责</a:t>
            </a:r>
          </a:p>
        </p:txBody>
      </p:sp>
      <p:sp>
        <p:nvSpPr>
          <p:cNvPr id="3" name="">
            <a:extLst xmlns:a="http://schemas.openxmlformats.org/drawingml/2006/main">
              <a:ext uri="{FF2B5EF4-FFF2-40B4-BE49-F238E27FC236}">
                <a16:creationId xmlns:a16="http://schemas.microsoft.com/office/drawing/2014/main" id="{8150422B-1203-4E7A-AA37-43AB194F95C2}"/>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从事后惩戒转向预防、发现、纠正并重</a:t>
            </a:r>
          </a:p>
        </p:txBody>
      </p:sp>
      <p:sp>
        <p:nvSpPr>
          <p:cNvPr id="4" name="">
            <a:extLst xmlns:a="http://schemas.openxmlformats.org/drawingml/2006/main">
              <a:ext uri="{FF2B5EF4-FFF2-40B4-BE49-F238E27FC236}">
                <a16:creationId xmlns:a16="http://schemas.microsoft.com/office/drawing/2014/main" id="{CC5E74C3-900E-4AB2-B62A-63982F1AEFEB}"/>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12</a:t>
            </a:r>
          </a:p>
        </p:txBody>
      </p:sp>
      <p:sp>
        <p:nvSpPr>
          <p:cNvPr id="5" name="">
            <a:extLst xmlns:a="http://schemas.openxmlformats.org/drawingml/2006/main">
              <a:ext uri="{FF2B5EF4-FFF2-40B4-BE49-F238E27FC236}">
                <a16:creationId xmlns:a16="http://schemas.microsoft.com/office/drawing/2014/main" id="{AF6C7FB5-F2D9-4A1D-8905-254969C96DD7}"/>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F33BB6A6-0D24-4580-8F3E-91D4B89CF5CC}"/>
              </a:ext>
            </a:extLst>
          </p:cNvPr>
          <p:cNvSpPr>
            <a:spLocks xmlns:a="http://schemas.openxmlformats.org/drawingml/2006/main" noGrp="1"/>
          </p:cNvSpPr>
          <p:nvPr/>
        </p:nvSpPr>
        <p:spPr>
          <a:xfrm xmlns:a="http://schemas.openxmlformats.org/drawingml/2006/main">
            <a:off x="666750" y="1657350"/>
            <a:ext cx="2457450" cy="346710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CAD5D8"/>
            </a:solidFill>
          </a:ln>
        </p:spPr>
      </p:sp>
      <p:sp>
        <p:nvSpPr>
          <p:cNvPr id="7" name="">
            <a:extLst xmlns:a="http://schemas.openxmlformats.org/drawingml/2006/main">
              <a:ext uri="{FF2B5EF4-FFF2-40B4-BE49-F238E27FC236}">
                <a16:creationId xmlns:a16="http://schemas.microsoft.com/office/drawing/2014/main" id="{BA7F473E-B255-43C4-BAFE-38FD98F8C368}"/>
              </a:ext>
            </a:extLst>
          </p:cNvPr>
          <p:cNvSpPr>
            <a:spLocks xmlns:a="http://schemas.openxmlformats.org/drawingml/2006/main" noGrp="1"/>
          </p:cNvSpPr>
          <p:nvPr/>
        </p:nvSpPr>
        <p:spPr>
          <a:xfrm xmlns:a="http://schemas.openxmlformats.org/drawingml/2006/main">
            <a:off x="666750" y="1657350"/>
            <a:ext cx="2457450" cy="114300"/>
          </a:xfrm>
          <a:prstGeom xmlns:a="http://schemas.openxmlformats.org/drawingml/2006/main" prst="roundRect">
            <a:avLst>
              <a:gd name="adj" fmla="val 50000"/>
            </a:avLst>
          </a:prstGeom>
          <a:solidFill xmlns:a="http://schemas.openxmlformats.org/drawingml/2006/main">
            <a:srgbClr val="2D628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7F6958-F96A-4782-973F-AB8BC2E74380}"/>
              </a:ext>
            </a:extLst>
          </p:cNvPr>
          <p:cNvSpPr>
            <a:spLocks xmlns:a="http://schemas.openxmlformats.org/drawingml/2006/main" noGrp="1"/>
          </p:cNvSpPr>
          <p:nvPr/>
        </p:nvSpPr>
        <p:spPr>
          <a:xfrm xmlns:a="http://schemas.openxmlformats.org/drawingml/2006/main">
            <a:off x="876300" y="1924050"/>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3247"/>
                </a:solidFill>
                <a:latin typeface="Microsoft YaHei"/>
                <a:ea typeface="Microsoft YaHei"/>
                <a:cs typeface="Microsoft YaHei"/>
              </a:defRPr>
            </a:pPr>
            <a:r>
              <a:rPr sz="1650" b="1">
                <a:solidFill>
                  <a:srgbClr val="183247"/>
                </a:solidFill>
                <a:latin typeface="Microsoft YaHei"/>
                <a:ea typeface="Microsoft YaHei"/>
                <a:cs typeface="Microsoft YaHei"/>
              </a:rPr>
              <a:t>评价制度</a:t>
            </a:r>
          </a:p>
        </p:txBody>
      </p:sp>
      <p:sp>
        <p:nvSpPr>
          <p:cNvPr id="9" name="">
            <a:extLst xmlns:a="http://schemas.openxmlformats.org/drawingml/2006/main">
              <a:ext uri="{FF2B5EF4-FFF2-40B4-BE49-F238E27FC236}">
                <a16:creationId xmlns:a16="http://schemas.microsoft.com/office/drawing/2014/main" id="{FFE1D6F9-E233-429D-83EA-B4BAD59F8E65}"/>
              </a:ext>
            </a:extLst>
          </p:cNvPr>
          <p:cNvSpPr>
            <a:spLocks xmlns:a="http://schemas.openxmlformats.org/drawingml/2006/main" noGrp="1"/>
          </p:cNvSpPr>
          <p:nvPr/>
        </p:nvSpPr>
        <p:spPr>
          <a:xfrm xmlns:a="http://schemas.openxmlformats.org/drawingml/2006/main">
            <a:off x="933450" y="2571750"/>
            <a:ext cx="19240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减少唯论文、唯指标倾向</a:t>
            </a:r>
          </a:p>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考察数据质量与方法贡献</a:t>
            </a:r>
          </a:p>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承认重复研究和负结果</a:t>
            </a:r>
          </a:p>
        </p:txBody>
      </p:sp>
      <p:sp>
        <p:nvSpPr>
          <p:cNvPr id="10" name="">
            <a:extLst xmlns:a="http://schemas.openxmlformats.org/drawingml/2006/main">
              <a:ext uri="{FF2B5EF4-FFF2-40B4-BE49-F238E27FC236}">
                <a16:creationId xmlns:a16="http://schemas.microsoft.com/office/drawing/2014/main" id="{5626FA35-A5CB-4FBD-AC9B-99F0DD5FE91E}"/>
              </a:ext>
            </a:extLst>
          </p:cNvPr>
          <p:cNvSpPr>
            <a:spLocks xmlns:a="http://schemas.openxmlformats.org/drawingml/2006/main" noGrp="1"/>
          </p:cNvSpPr>
          <p:nvPr/>
        </p:nvSpPr>
        <p:spPr>
          <a:xfrm xmlns:a="http://schemas.openxmlformats.org/drawingml/2006/main">
            <a:off x="3448050" y="1657350"/>
            <a:ext cx="2457450" cy="346710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CAD5D8"/>
            </a:solidFill>
          </a:ln>
        </p:spPr>
      </p:sp>
      <p:sp>
        <p:nvSpPr>
          <p:cNvPr id="11" name="">
            <a:extLst xmlns:a="http://schemas.openxmlformats.org/drawingml/2006/main">
              <a:ext uri="{FF2B5EF4-FFF2-40B4-BE49-F238E27FC236}">
                <a16:creationId xmlns:a16="http://schemas.microsoft.com/office/drawing/2014/main" id="{BD37332B-BE90-475F-9F47-F7A5D0D53A9E}"/>
              </a:ext>
            </a:extLst>
          </p:cNvPr>
          <p:cNvSpPr>
            <a:spLocks xmlns:a="http://schemas.openxmlformats.org/drawingml/2006/main" noGrp="1"/>
          </p:cNvSpPr>
          <p:nvPr/>
        </p:nvSpPr>
        <p:spPr>
          <a:xfrm xmlns:a="http://schemas.openxmlformats.org/drawingml/2006/main">
            <a:off x="3448050" y="1657350"/>
            <a:ext cx="2457450" cy="114300"/>
          </a:xfrm>
          <a:prstGeom xmlns:a="http://schemas.openxmlformats.org/drawingml/2006/main" prst="roundRect">
            <a:avLst>
              <a:gd name="adj" fmla="val 50000"/>
            </a:avLst>
          </a:prstGeom>
          <a:solidFill xmlns:a="http://schemas.openxmlformats.org/drawingml/2006/main">
            <a:srgbClr val="478C8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DFB6EE-796F-442B-9354-AA6292D7EAC4}"/>
              </a:ext>
            </a:extLst>
          </p:cNvPr>
          <p:cNvSpPr>
            <a:spLocks xmlns:a="http://schemas.openxmlformats.org/drawingml/2006/main" noGrp="1"/>
          </p:cNvSpPr>
          <p:nvPr/>
        </p:nvSpPr>
        <p:spPr>
          <a:xfrm xmlns:a="http://schemas.openxmlformats.org/drawingml/2006/main">
            <a:off x="3657600" y="1924050"/>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3247"/>
                </a:solidFill>
                <a:latin typeface="Microsoft YaHei"/>
                <a:ea typeface="Microsoft YaHei"/>
                <a:cs typeface="Microsoft YaHei"/>
              </a:defRPr>
            </a:pPr>
            <a:r>
              <a:rPr sz="1650" b="1">
                <a:solidFill>
                  <a:srgbClr val="183247"/>
                </a:solidFill>
                <a:latin typeface="Microsoft YaHei"/>
                <a:ea typeface="Microsoft YaHei"/>
                <a:cs typeface="Microsoft YaHei"/>
              </a:rPr>
              <a:t>组织责任</a:t>
            </a:r>
          </a:p>
        </p:txBody>
      </p:sp>
      <p:sp>
        <p:nvSpPr>
          <p:cNvPr id="13" name="">
            <a:extLst xmlns:a="http://schemas.openxmlformats.org/drawingml/2006/main">
              <a:ext uri="{FF2B5EF4-FFF2-40B4-BE49-F238E27FC236}">
                <a16:creationId xmlns:a16="http://schemas.microsoft.com/office/drawing/2014/main" id="{ABD906D4-3579-4853-8C62-FBE273E2D924}"/>
              </a:ext>
            </a:extLst>
          </p:cNvPr>
          <p:cNvSpPr>
            <a:spLocks xmlns:a="http://schemas.openxmlformats.org/drawingml/2006/main" noGrp="1"/>
          </p:cNvSpPr>
          <p:nvPr/>
        </p:nvSpPr>
        <p:spPr>
          <a:xfrm xmlns:a="http://schemas.openxmlformats.org/drawingml/2006/main">
            <a:off x="3714750" y="2571750"/>
            <a:ext cx="19240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明确导师和共同作者责任</a:t>
            </a:r>
          </a:p>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设置数据管理员与内部审计</a:t>
            </a:r>
          </a:p>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对高风险环节开展抽查</a:t>
            </a:r>
          </a:p>
        </p:txBody>
      </p:sp>
      <p:sp>
        <p:nvSpPr>
          <p:cNvPr id="14" name="">
            <a:extLst xmlns:a="http://schemas.openxmlformats.org/drawingml/2006/main">
              <a:ext uri="{FF2B5EF4-FFF2-40B4-BE49-F238E27FC236}">
                <a16:creationId xmlns:a16="http://schemas.microsoft.com/office/drawing/2014/main" id="{34716199-1D97-4981-A007-661C6B0F7EC1}"/>
              </a:ext>
            </a:extLst>
          </p:cNvPr>
          <p:cNvSpPr>
            <a:spLocks xmlns:a="http://schemas.openxmlformats.org/drawingml/2006/main" noGrp="1"/>
          </p:cNvSpPr>
          <p:nvPr/>
        </p:nvSpPr>
        <p:spPr>
          <a:xfrm xmlns:a="http://schemas.openxmlformats.org/drawingml/2006/main">
            <a:off x="6229350" y="1657350"/>
            <a:ext cx="2457450" cy="346710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CAD5D8"/>
            </a:solidFill>
          </a:ln>
        </p:spPr>
      </p:sp>
      <p:sp>
        <p:nvSpPr>
          <p:cNvPr id="15" name="">
            <a:extLst xmlns:a="http://schemas.openxmlformats.org/drawingml/2006/main">
              <a:ext uri="{FF2B5EF4-FFF2-40B4-BE49-F238E27FC236}">
                <a16:creationId xmlns:a16="http://schemas.microsoft.com/office/drawing/2014/main" id="{912D9E25-5593-4302-BF8A-84DCD760C376}"/>
              </a:ext>
            </a:extLst>
          </p:cNvPr>
          <p:cNvSpPr>
            <a:spLocks xmlns:a="http://schemas.openxmlformats.org/drawingml/2006/main" noGrp="1"/>
          </p:cNvSpPr>
          <p:nvPr/>
        </p:nvSpPr>
        <p:spPr>
          <a:xfrm xmlns:a="http://schemas.openxmlformats.org/drawingml/2006/main">
            <a:off x="6229350" y="1657350"/>
            <a:ext cx="2457450" cy="114300"/>
          </a:xfrm>
          <a:prstGeom xmlns:a="http://schemas.openxmlformats.org/drawingml/2006/main" prst="roundRect">
            <a:avLst>
              <a:gd name="adj" fmla="val 50000"/>
            </a:avLst>
          </a:prstGeom>
          <a:solidFill xmlns:a="http://schemas.openxmlformats.org/drawingml/2006/main">
            <a:srgbClr val="B45C3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442CED9-D71A-4169-92B5-8329C74D341A}"/>
              </a:ext>
            </a:extLst>
          </p:cNvPr>
          <p:cNvSpPr>
            <a:spLocks xmlns:a="http://schemas.openxmlformats.org/drawingml/2006/main" noGrp="1"/>
          </p:cNvSpPr>
          <p:nvPr/>
        </p:nvSpPr>
        <p:spPr>
          <a:xfrm xmlns:a="http://schemas.openxmlformats.org/drawingml/2006/main">
            <a:off x="6438900" y="1924050"/>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3247"/>
                </a:solidFill>
                <a:latin typeface="Microsoft YaHei"/>
                <a:ea typeface="Microsoft YaHei"/>
                <a:cs typeface="Microsoft YaHei"/>
              </a:defRPr>
            </a:pPr>
            <a:r>
              <a:rPr sz="1650" b="1">
                <a:solidFill>
                  <a:srgbClr val="183247"/>
                </a:solidFill>
                <a:latin typeface="Microsoft YaHei"/>
                <a:ea typeface="Microsoft YaHei"/>
                <a:cs typeface="Microsoft YaHei"/>
              </a:rPr>
              <a:t>调查程序</a:t>
            </a:r>
          </a:p>
        </p:txBody>
      </p:sp>
      <p:sp>
        <p:nvSpPr>
          <p:cNvPr id="17" name="">
            <a:extLst xmlns:a="http://schemas.openxmlformats.org/drawingml/2006/main">
              <a:ext uri="{FF2B5EF4-FFF2-40B4-BE49-F238E27FC236}">
                <a16:creationId xmlns:a16="http://schemas.microsoft.com/office/drawing/2014/main" id="{36D97349-9F98-4D36-93B5-70D350245E6A}"/>
              </a:ext>
            </a:extLst>
          </p:cNvPr>
          <p:cNvSpPr>
            <a:spLocks xmlns:a="http://schemas.openxmlformats.org/drawingml/2006/main" noGrp="1"/>
          </p:cNvSpPr>
          <p:nvPr/>
        </p:nvSpPr>
        <p:spPr>
          <a:xfrm xmlns:a="http://schemas.openxmlformats.org/drawingml/2006/main">
            <a:off x="6496050" y="2571750"/>
            <a:ext cx="19240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受理与调查相对独立</a:t>
            </a:r>
          </a:p>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保护善意举报与被举报者程序权利</a:t>
            </a:r>
          </a:p>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公开纠错并修复科研记录</a:t>
            </a:r>
          </a:p>
        </p:txBody>
      </p:sp>
      <p:sp>
        <p:nvSpPr>
          <p:cNvPr id="18" name="">
            <a:extLst xmlns:a="http://schemas.openxmlformats.org/drawingml/2006/main">
              <a:ext uri="{FF2B5EF4-FFF2-40B4-BE49-F238E27FC236}">
                <a16:creationId xmlns:a16="http://schemas.microsoft.com/office/drawing/2014/main" id="{F21E862B-FD25-4733-B3D8-426A4AA4E567}"/>
              </a:ext>
            </a:extLst>
          </p:cNvPr>
          <p:cNvSpPr>
            <a:spLocks xmlns:a="http://schemas.openxmlformats.org/drawingml/2006/main" noGrp="1"/>
          </p:cNvSpPr>
          <p:nvPr/>
        </p:nvSpPr>
        <p:spPr>
          <a:xfrm xmlns:a="http://schemas.openxmlformats.org/drawingml/2006/main">
            <a:off x="9010650" y="1657350"/>
            <a:ext cx="2457450" cy="346710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CAD5D8"/>
            </a:solidFill>
          </a:ln>
        </p:spPr>
      </p:sp>
      <p:sp>
        <p:nvSpPr>
          <p:cNvPr id="19" name="">
            <a:extLst xmlns:a="http://schemas.openxmlformats.org/drawingml/2006/main">
              <a:ext uri="{FF2B5EF4-FFF2-40B4-BE49-F238E27FC236}">
                <a16:creationId xmlns:a16="http://schemas.microsoft.com/office/drawing/2014/main" id="{04E0F79F-3F2B-4F69-B5CB-47FE26E67554}"/>
              </a:ext>
            </a:extLst>
          </p:cNvPr>
          <p:cNvSpPr>
            <a:spLocks xmlns:a="http://schemas.openxmlformats.org/drawingml/2006/main" noGrp="1"/>
          </p:cNvSpPr>
          <p:nvPr/>
        </p:nvSpPr>
        <p:spPr>
          <a:xfrm xmlns:a="http://schemas.openxmlformats.org/drawingml/2006/main">
            <a:off x="9010650" y="1657350"/>
            <a:ext cx="2457450" cy="114300"/>
          </a:xfrm>
          <a:prstGeom xmlns:a="http://schemas.openxmlformats.org/drawingml/2006/main" prst="roundRect">
            <a:avLst>
              <a:gd name="adj" fmla="val 50000"/>
            </a:avLst>
          </a:prstGeom>
          <a:solidFill xmlns:a="http://schemas.openxmlformats.org/drawingml/2006/main">
            <a:srgbClr val="C49A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15C919B-B3CA-4227-B1F8-CF27971F0E9D}"/>
              </a:ext>
            </a:extLst>
          </p:cNvPr>
          <p:cNvSpPr>
            <a:spLocks xmlns:a="http://schemas.openxmlformats.org/drawingml/2006/main" noGrp="1"/>
          </p:cNvSpPr>
          <p:nvPr/>
        </p:nvSpPr>
        <p:spPr>
          <a:xfrm xmlns:a="http://schemas.openxmlformats.org/drawingml/2006/main">
            <a:off x="9220200" y="1924050"/>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3247"/>
                </a:solidFill>
                <a:latin typeface="Microsoft YaHei"/>
                <a:ea typeface="Microsoft YaHei"/>
                <a:cs typeface="Microsoft YaHei"/>
              </a:defRPr>
            </a:pPr>
            <a:r>
              <a:rPr sz="1650" b="1">
                <a:solidFill>
                  <a:srgbClr val="183247"/>
                </a:solidFill>
                <a:latin typeface="Microsoft YaHei"/>
                <a:ea typeface="Microsoft YaHei"/>
                <a:cs typeface="Microsoft YaHei"/>
              </a:rPr>
              <a:t>外部协同</a:t>
            </a:r>
          </a:p>
        </p:txBody>
      </p:sp>
      <p:sp>
        <p:nvSpPr>
          <p:cNvPr id="21" name="">
            <a:extLst xmlns:a="http://schemas.openxmlformats.org/drawingml/2006/main">
              <a:ext uri="{FF2B5EF4-FFF2-40B4-BE49-F238E27FC236}">
                <a16:creationId xmlns:a16="http://schemas.microsoft.com/office/drawing/2014/main" id="{E147BDAD-1390-41DB-9A21-1E4471471C68}"/>
              </a:ext>
            </a:extLst>
          </p:cNvPr>
          <p:cNvSpPr>
            <a:spLocks xmlns:a="http://schemas.openxmlformats.org/drawingml/2006/main" noGrp="1"/>
          </p:cNvSpPr>
          <p:nvPr/>
        </p:nvSpPr>
        <p:spPr>
          <a:xfrm xmlns:a="http://schemas.openxmlformats.org/drawingml/2006/main">
            <a:off x="9277350" y="2571750"/>
            <a:ext cx="19240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基金方、机构、期刊共享线索</a:t>
            </a:r>
          </a:p>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统一证据标准与处置衔接</a:t>
            </a:r>
          </a:p>
          <a:p xmlns:a="http://schemas.openxmlformats.org/drawingml/2006/main">
            <a:pPr algn="l">
              <a:defRPr sz="1275" b="0">
                <a:solidFill>
                  <a:srgbClr val="1F2A30"/>
                </a:solidFill>
                <a:latin typeface="Microsoft YaHei"/>
                <a:ea typeface="Microsoft YaHei"/>
                <a:cs typeface="Microsoft YaHei"/>
              </a:defRPr>
            </a:pPr>
            <a:r>
              <a:rPr sz="1275" b="0">
                <a:solidFill>
                  <a:srgbClr val="1F2A30"/>
                </a:solidFill>
                <a:latin typeface="Microsoft YaHei"/>
                <a:ea typeface="Microsoft YaHei"/>
                <a:cs typeface="Microsoft YaHei"/>
              </a:rPr>
              <a:t>对论文工厂实施联合治理</a:t>
            </a:r>
          </a:p>
        </p:txBody>
      </p:sp>
      <p:sp>
        <p:nvSpPr>
          <p:cNvPr id="22" name="">
            <a:extLst xmlns:a="http://schemas.openxmlformats.org/drawingml/2006/main">
              <a:ext uri="{FF2B5EF4-FFF2-40B4-BE49-F238E27FC236}">
                <a16:creationId xmlns:a16="http://schemas.microsoft.com/office/drawing/2014/main" id="{4E4496AC-176A-44B8-AF48-6E12D611ABA3}"/>
              </a:ext>
            </a:extLst>
          </p:cNvPr>
          <p:cNvSpPr>
            <a:spLocks xmlns:a="http://schemas.openxmlformats.org/drawingml/2006/main" noGrp="1"/>
          </p:cNvSpPr>
          <p:nvPr/>
        </p:nvSpPr>
        <p:spPr>
          <a:xfrm xmlns:a="http://schemas.openxmlformats.org/drawingml/2006/main">
            <a:off x="666750" y="5429250"/>
            <a:ext cx="10801350" cy="514350"/>
          </a:xfrm>
          <a:prstGeom xmlns:a="http://schemas.openxmlformats.org/drawingml/2006/main" prst="roundRect">
            <a:avLst>
              <a:gd name="adj" fmla="val 14815"/>
            </a:avLst>
          </a:prstGeom>
          <a:solidFill xmlns:a="http://schemas.openxmlformats.org/drawingml/2006/main">
            <a:srgbClr val="EEF3F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670575F-6FF6-464F-AEB5-936B07BE432F}"/>
              </a:ext>
            </a:extLst>
          </p:cNvPr>
          <p:cNvSpPr>
            <a:spLocks xmlns:a="http://schemas.openxmlformats.org/drawingml/2006/main" noGrp="1"/>
          </p:cNvSpPr>
          <p:nvPr/>
        </p:nvSpPr>
        <p:spPr>
          <a:xfrm xmlns:a="http://schemas.openxmlformats.org/drawingml/2006/main">
            <a:off x="876300" y="552450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D6280"/>
                </a:solidFill>
                <a:latin typeface="Microsoft YaHei"/>
                <a:ea typeface="Microsoft YaHei"/>
                <a:cs typeface="Microsoft YaHei"/>
              </a:defRPr>
            </a:pPr>
            <a:r>
              <a:rPr sz="1350" b="1">
                <a:solidFill>
                  <a:srgbClr val="2D6280"/>
                </a:solidFill>
                <a:latin typeface="Microsoft YaHei"/>
                <a:ea typeface="Microsoft YaHei"/>
                <a:cs typeface="Microsoft YaHei"/>
              </a:rPr>
              <a:t>制度设计原则：让守规矩者不吃亏，让提出质疑者不受惩罚，让违规收益明显低于预期成本</a:t>
            </a:r>
          </a:p>
        </p:txBody>
      </p:sp>
    </p:spTree>
    <p:extLst>
      <p:ext uri="{BB962C8B-B14F-4D97-AF65-F5344CB8AC3E}">
        <p14:creationId xmlns:p14="http://schemas.microsoft.com/office/powerpoint/2010/main" val="1848952210"/>
      </p:ext>
    </p:extLst>
  </p:cSld>
</p:sld>
</file>

<file path=ppt/slides/slide1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9E3FCC7-33D3-4F3B-A42A-33F2E0901D3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74A472-44FB-42B2-A18A-531789CA6EF3}"/>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跨学科科研的落地清单</a:t>
            </a:r>
          </a:p>
        </p:txBody>
      </p:sp>
      <p:sp>
        <p:nvSpPr>
          <p:cNvPr id="3" name="">
            <a:extLst xmlns:a="http://schemas.openxmlformats.org/drawingml/2006/main">
              <a:ext uri="{FF2B5EF4-FFF2-40B4-BE49-F238E27FC236}">
                <a16:creationId xmlns:a16="http://schemas.microsoft.com/office/drawing/2014/main" id="{2B6A4F44-9608-4BAC-8B94-A1452685111E}"/>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把抽象诚信原则嵌入实验、计算、临床与社会调查流程</a:t>
            </a:r>
          </a:p>
        </p:txBody>
      </p:sp>
      <p:sp>
        <p:nvSpPr>
          <p:cNvPr id="4" name="">
            <a:extLst xmlns:a="http://schemas.openxmlformats.org/drawingml/2006/main">
              <a:ext uri="{FF2B5EF4-FFF2-40B4-BE49-F238E27FC236}">
                <a16:creationId xmlns:a16="http://schemas.microsoft.com/office/drawing/2014/main" id="{82C0D4A7-35A2-4098-B86D-116459CFFA41}"/>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13</a:t>
            </a:r>
          </a:p>
        </p:txBody>
      </p:sp>
      <p:sp>
        <p:nvSpPr>
          <p:cNvPr id="5" name="">
            <a:extLst xmlns:a="http://schemas.openxmlformats.org/drawingml/2006/main">
              <a:ext uri="{FF2B5EF4-FFF2-40B4-BE49-F238E27FC236}">
                <a16:creationId xmlns:a16="http://schemas.microsoft.com/office/drawing/2014/main" id="{4DB8DD14-5C4C-42EA-8589-2AD9680A3317}"/>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E83F6D57-9732-4D13-91EC-B62C6C3F571A}"/>
              </a:ext>
            </a:extLst>
          </p:cNvPr>
          <p:cNvSpPr>
            <a:spLocks xmlns:a="http://schemas.openxmlformats.org/drawingml/2006/main" noGrp="1"/>
          </p:cNvSpPr>
          <p:nvPr/>
        </p:nvSpPr>
        <p:spPr>
          <a:xfrm xmlns:a="http://schemas.openxmlformats.org/drawingml/2006/main">
            <a:off x="742950" y="16097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B45C3E"/>
                </a:solidFill>
                <a:latin typeface="Microsoft YaHei"/>
                <a:ea typeface="Microsoft YaHei"/>
                <a:cs typeface="Microsoft YaHei"/>
              </a:defRPr>
            </a:pPr>
            <a:r>
              <a:rPr sz="1350" b="1">
                <a:solidFill>
                  <a:srgbClr val="B45C3E"/>
                </a:solidFill>
                <a:latin typeface="Microsoft YaHei"/>
                <a:ea typeface="Microsoft YaHei"/>
                <a:cs typeface="Microsoft YaHei"/>
              </a:rPr>
              <a:t>01</a:t>
            </a:r>
          </a:p>
        </p:txBody>
      </p:sp>
      <p:sp>
        <p:nvSpPr>
          <p:cNvPr id="7" name="">
            <a:extLst xmlns:a="http://schemas.openxmlformats.org/drawingml/2006/main">
              <a:ext uri="{FF2B5EF4-FFF2-40B4-BE49-F238E27FC236}">
                <a16:creationId xmlns:a16="http://schemas.microsoft.com/office/drawing/2014/main" id="{4A700795-A47E-4960-8371-1E01C6DA1BC3}"/>
              </a:ext>
            </a:extLst>
          </p:cNvPr>
          <p:cNvSpPr>
            <a:spLocks xmlns:a="http://schemas.openxmlformats.org/drawingml/2006/main" noGrp="1"/>
          </p:cNvSpPr>
          <p:nvPr/>
        </p:nvSpPr>
        <p:spPr>
          <a:xfrm xmlns:a="http://schemas.openxmlformats.org/drawingml/2006/main">
            <a:off x="1447800" y="15811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实验与样本</a:t>
            </a:r>
          </a:p>
        </p:txBody>
      </p:sp>
      <p:sp>
        <p:nvSpPr>
          <p:cNvPr id="8" name="">
            <a:extLst xmlns:a="http://schemas.openxmlformats.org/drawingml/2006/main">
              <a:ext uri="{FF2B5EF4-FFF2-40B4-BE49-F238E27FC236}">
                <a16:creationId xmlns:a16="http://schemas.microsoft.com/office/drawing/2014/main" id="{CB3E22EC-9E39-4E9F-9B11-DE8877E2B810}"/>
              </a:ext>
            </a:extLst>
          </p:cNvPr>
          <p:cNvSpPr>
            <a:spLocks xmlns:a="http://schemas.openxmlformats.org/drawingml/2006/main" noGrp="1"/>
          </p:cNvSpPr>
          <p:nvPr/>
        </p:nvSpPr>
        <p:spPr>
          <a:xfrm xmlns:a="http://schemas.openxmlformats.org/drawingml/2006/main">
            <a:off x="3048000" y="152400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原始文件只读归档，记录仪器校准、样本来源、批次信息和失败实验</a:t>
            </a:r>
          </a:p>
        </p:txBody>
      </p:sp>
      <p:sp>
        <p:nvSpPr>
          <p:cNvPr id="9" name="">
            <a:extLst xmlns:a="http://schemas.openxmlformats.org/drawingml/2006/main">
              <a:ext uri="{FF2B5EF4-FFF2-40B4-BE49-F238E27FC236}">
                <a16:creationId xmlns:a16="http://schemas.microsoft.com/office/drawing/2014/main" id="{3F56F669-3C50-4260-8391-EC595D33E1E7}"/>
              </a:ext>
            </a:extLst>
          </p:cNvPr>
          <p:cNvSpPr>
            <a:spLocks xmlns:a="http://schemas.openxmlformats.org/drawingml/2006/main" noGrp="1"/>
          </p:cNvSpPr>
          <p:nvPr/>
        </p:nvSpPr>
        <p:spPr>
          <a:xfrm xmlns:a="http://schemas.openxmlformats.org/drawingml/2006/main">
            <a:off x="1428750" y="2133600"/>
            <a:ext cx="9620250" cy="0"/>
          </a:xfrm>
          <a:prstGeom xmlns:a="http://schemas.openxmlformats.org/drawingml/2006/main" prst="line">
            <a:avLst/>
          </a:prstGeom>
          <a:ln xmlns:a="http://schemas.openxmlformats.org/drawingml/2006/main" w="9525">
            <a:solidFill>
              <a:srgbClr val="CAD5D8"/>
            </a:solidFill>
          </a:ln>
        </p:spPr>
      </p:sp>
      <p:sp>
        <p:nvSpPr>
          <p:cNvPr id="10" name="">
            <a:extLst xmlns:a="http://schemas.openxmlformats.org/drawingml/2006/main">
              <a:ext uri="{FF2B5EF4-FFF2-40B4-BE49-F238E27FC236}">
                <a16:creationId xmlns:a16="http://schemas.microsoft.com/office/drawing/2014/main" id="{90D921BE-D69D-4194-8B96-17466FFBEB9B}"/>
              </a:ext>
            </a:extLst>
          </p:cNvPr>
          <p:cNvSpPr>
            <a:spLocks xmlns:a="http://schemas.openxmlformats.org/drawingml/2006/main" noGrp="1"/>
          </p:cNvSpPr>
          <p:nvPr/>
        </p:nvSpPr>
        <p:spPr>
          <a:xfrm xmlns:a="http://schemas.openxmlformats.org/drawingml/2006/main">
            <a:off x="742950" y="23336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B45C3E"/>
                </a:solidFill>
                <a:latin typeface="Microsoft YaHei"/>
                <a:ea typeface="Microsoft YaHei"/>
                <a:cs typeface="Microsoft YaHei"/>
              </a:defRPr>
            </a:pPr>
            <a:r>
              <a:rPr sz="1350" b="1">
                <a:solidFill>
                  <a:srgbClr val="B45C3E"/>
                </a:solidFill>
                <a:latin typeface="Microsoft YaHei"/>
                <a:ea typeface="Microsoft YaHei"/>
                <a:cs typeface="Microsoft YaHei"/>
              </a:rPr>
              <a:t>02</a:t>
            </a:r>
          </a:p>
        </p:txBody>
      </p:sp>
      <p:sp>
        <p:nvSpPr>
          <p:cNvPr id="11" name="">
            <a:extLst xmlns:a="http://schemas.openxmlformats.org/drawingml/2006/main">
              <a:ext uri="{FF2B5EF4-FFF2-40B4-BE49-F238E27FC236}">
                <a16:creationId xmlns:a16="http://schemas.microsoft.com/office/drawing/2014/main" id="{AF34E5C5-0E1E-41C5-B3B2-673C15826102}"/>
              </a:ext>
            </a:extLst>
          </p:cNvPr>
          <p:cNvSpPr>
            <a:spLocks xmlns:a="http://schemas.openxmlformats.org/drawingml/2006/main" noGrp="1"/>
          </p:cNvSpPr>
          <p:nvPr/>
        </p:nvSpPr>
        <p:spPr>
          <a:xfrm xmlns:a="http://schemas.openxmlformats.org/drawingml/2006/main">
            <a:off x="1447800" y="23050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图像与组学</a:t>
            </a:r>
          </a:p>
        </p:txBody>
      </p:sp>
      <p:sp>
        <p:nvSpPr>
          <p:cNvPr id="12" name="">
            <a:extLst xmlns:a="http://schemas.openxmlformats.org/drawingml/2006/main">
              <a:ext uri="{FF2B5EF4-FFF2-40B4-BE49-F238E27FC236}">
                <a16:creationId xmlns:a16="http://schemas.microsoft.com/office/drawing/2014/main" id="{19904DF3-BFA6-4BA5-9125-F7FF4CBF2A61}"/>
              </a:ext>
            </a:extLst>
          </p:cNvPr>
          <p:cNvSpPr>
            <a:spLocks xmlns:a="http://schemas.openxmlformats.org/drawingml/2006/main" noGrp="1"/>
          </p:cNvSpPr>
          <p:nvPr/>
        </p:nvSpPr>
        <p:spPr>
          <a:xfrm xmlns:a="http://schemas.openxmlformats.org/drawingml/2006/main">
            <a:off x="3048000" y="224790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保存未处理数据，记录裁剪、归一化、背景扣除及生物信息流程</a:t>
            </a:r>
          </a:p>
        </p:txBody>
      </p:sp>
      <p:sp>
        <p:nvSpPr>
          <p:cNvPr id="13" name="">
            <a:extLst xmlns:a="http://schemas.openxmlformats.org/drawingml/2006/main">
              <a:ext uri="{FF2B5EF4-FFF2-40B4-BE49-F238E27FC236}">
                <a16:creationId xmlns:a16="http://schemas.microsoft.com/office/drawing/2014/main" id="{8851698F-3F6B-402C-B737-A2860F74ED5F}"/>
              </a:ext>
            </a:extLst>
          </p:cNvPr>
          <p:cNvSpPr>
            <a:spLocks xmlns:a="http://schemas.openxmlformats.org/drawingml/2006/main" noGrp="1"/>
          </p:cNvSpPr>
          <p:nvPr/>
        </p:nvSpPr>
        <p:spPr>
          <a:xfrm xmlns:a="http://schemas.openxmlformats.org/drawingml/2006/main">
            <a:off x="1428750" y="2857500"/>
            <a:ext cx="9620250" cy="0"/>
          </a:xfrm>
          <a:prstGeom xmlns:a="http://schemas.openxmlformats.org/drawingml/2006/main" prst="line">
            <a:avLst/>
          </a:prstGeom>
          <a:ln xmlns:a="http://schemas.openxmlformats.org/drawingml/2006/main" w="9525">
            <a:solidFill>
              <a:srgbClr val="CAD5D8"/>
            </a:solidFill>
          </a:ln>
        </p:spPr>
      </p:sp>
      <p:sp>
        <p:nvSpPr>
          <p:cNvPr id="14" name="">
            <a:extLst xmlns:a="http://schemas.openxmlformats.org/drawingml/2006/main">
              <a:ext uri="{FF2B5EF4-FFF2-40B4-BE49-F238E27FC236}">
                <a16:creationId xmlns:a16="http://schemas.microsoft.com/office/drawing/2014/main" id="{7B30AC07-4911-4156-8B77-B17A565E130D}"/>
              </a:ext>
            </a:extLst>
          </p:cNvPr>
          <p:cNvSpPr>
            <a:spLocks xmlns:a="http://schemas.openxmlformats.org/drawingml/2006/main" noGrp="1"/>
          </p:cNvSpPr>
          <p:nvPr/>
        </p:nvSpPr>
        <p:spPr>
          <a:xfrm xmlns:a="http://schemas.openxmlformats.org/drawingml/2006/main">
            <a:off x="742950" y="30575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478C88"/>
                </a:solidFill>
                <a:latin typeface="Microsoft YaHei"/>
                <a:ea typeface="Microsoft YaHei"/>
                <a:cs typeface="Microsoft YaHei"/>
              </a:defRPr>
            </a:pPr>
            <a:r>
              <a:rPr sz="1350" b="1">
                <a:solidFill>
                  <a:srgbClr val="478C88"/>
                </a:solidFill>
                <a:latin typeface="Microsoft YaHei"/>
                <a:ea typeface="Microsoft YaHei"/>
                <a:cs typeface="Microsoft YaHei"/>
              </a:rPr>
              <a:t>03</a:t>
            </a:r>
          </a:p>
        </p:txBody>
      </p:sp>
      <p:sp>
        <p:nvSpPr>
          <p:cNvPr id="15" name="">
            <a:extLst xmlns:a="http://schemas.openxmlformats.org/drawingml/2006/main">
              <a:ext uri="{FF2B5EF4-FFF2-40B4-BE49-F238E27FC236}">
                <a16:creationId xmlns:a16="http://schemas.microsoft.com/office/drawing/2014/main" id="{9E0AB567-A623-4E1A-B031-2738D11A18AC}"/>
              </a:ext>
            </a:extLst>
          </p:cNvPr>
          <p:cNvSpPr>
            <a:spLocks xmlns:a="http://schemas.openxmlformats.org/drawingml/2006/main" noGrp="1"/>
          </p:cNvSpPr>
          <p:nvPr/>
        </p:nvSpPr>
        <p:spPr>
          <a:xfrm xmlns:a="http://schemas.openxmlformats.org/drawingml/2006/main">
            <a:off x="1447800" y="30289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模型与计算</a:t>
            </a:r>
          </a:p>
        </p:txBody>
      </p:sp>
      <p:sp>
        <p:nvSpPr>
          <p:cNvPr id="16" name="">
            <a:extLst xmlns:a="http://schemas.openxmlformats.org/drawingml/2006/main">
              <a:ext uri="{FF2B5EF4-FFF2-40B4-BE49-F238E27FC236}">
                <a16:creationId xmlns:a16="http://schemas.microsoft.com/office/drawing/2014/main" id="{A42A8785-3F97-4BD4-BBE8-E71A50EA1D05}"/>
              </a:ext>
            </a:extLst>
          </p:cNvPr>
          <p:cNvSpPr>
            <a:spLocks xmlns:a="http://schemas.openxmlformats.org/drawingml/2006/main" noGrp="1"/>
          </p:cNvSpPr>
          <p:nvPr/>
        </p:nvSpPr>
        <p:spPr>
          <a:xfrm xmlns:a="http://schemas.openxmlformats.org/drawingml/2006/main">
            <a:off x="3048000" y="297180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锁定代码版本、依赖环境、训练数据、随机种子和输入参数</a:t>
            </a:r>
          </a:p>
        </p:txBody>
      </p:sp>
      <p:sp>
        <p:nvSpPr>
          <p:cNvPr id="17" name="">
            <a:extLst xmlns:a="http://schemas.openxmlformats.org/drawingml/2006/main">
              <a:ext uri="{FF2B5EF4-FFF2-40B4-BE49-F238E27FC236}">
                <a16:creationId xmlns:a16="http://schemas.microsoft.com/office/drawing/2014/main" id="{E365FA63-F210-4A65-87AD-ACF4200C8D74}"/>
              </a:ext>
            </a:extLst>
          </p:cNvPr>
          <p:cNvSpPr>
            <a:spLocks xmlns:a="http://schemas.openxmlformats.org/drawingml/2006/main" noGrp="1"/>
          </p:cNvSpPr>
          <p:nvPr/>
        </p:nvSpPr>
        <p:spPr>
          <a:xfrm xmlns:a="http://schemas.openxmlformats.org/drawingml/2006/main">
            <a:off x="1428750" y="3581400"/>
            <a:ext cx="9620250" cy="0"/>
          </a:xfrm>
          <a:prstGeom xmlns:a="http://schemas.openxmlformats.org/drawingml/2006/main" prst="line">
            <a:avLst/>
          </a:prstGeom>
          <a:ln xmlns:a="http://schemas.openxmlformats.org/drawingml/2006/main" w="9525">
            <a:solidFill>
              <a:srgbClr val="CAD5D8"/>
            </a:solidFill>
          </a:ln>
        </p:spPr>
      </p:sp>
      <p:sp>
        <p:nvSpPr>
          <p:cNvPr id="18" name="">
            <a:extLst xmlns:a="http://schemas.openxmlformats.org/drawingml/2006/main">
              <a:ext uri="{FF2B5EF4-FFF2-40B4-BE49-F238E27FC236}">
                <a16:creationId xmlns:a16="http://schemas.microsoft.com/office/drawing/2014/main" id="{23DC1988-5DE6-4E5B-9257-4E99CB006F10}"/>
              </a:ext>
            </a:extLst>
          </p:cNvPr>
          <p:cNvSpPr>
            <a:spLocks xmlns:a="http://schemas.openxmlformats.org/drawingml/2006/main" noGrp="1"/>
          </p:cNvSpPr>
          <p:nvPr/>
        </p:nvSpPr>
        <p:spPr>
          <a:xfrm xmlns:a="http://schemas.openxmlformats.org/drawingml/2006/main">
            <a:off x="742950" y="37814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478C88"/>
                </a:solidFill>
                <a:latin typeface="Microsoft YaHei"/>
                <a:ea typeface="Microsoft YaHei"/>
                <a:cs typeface="Microsoft YaHei"/>
              </a:defRPr>
            </a:pPr>
            <a:r>
              <a:rPr sz="1350" b="1">
                <a:solidFill>
                  <a:srgbClr val="478C88"/>
                </a:solidFill>
                <a:latin typeface="Microsoft YaHei"/>
                <a:ea typeface="Microsoft YaHei"/>
                <a:cs typeface="Microsoft YaHei"/>
              </a:rPr>
              <a:t>04</a:t>
            </a:r>
          </a:p>
        </p:txBody>
      </p:sp>
      <p:sp>
        <p:nvSpPr>
          <p:cNvPr id="19" name="">
            <a:extLst xmlns:a="http://schemas.openxmlformats.org/drawingml/2006/main">
              <a:ext uri="{FF2B5EF4-FFF2-40B4-BE49-F238E27FC236}">
                <a16:creationId xmlns:a16="http://schemas.microsoft.com/office/drawing/2014/main" id="{94AD9ACC-064D-474C-8B03-FD8EB2A0A6E8}"/>
              </a:ext>
            </a:extLst>
          </p:cNvPr>
          <p:cNvSpPr>
            <a:spLocks xmlns:a="http://schemas.openxmlformats.org/drawingml/2006/main" noGrp="1"/>
          </p:cNvSpPr>
          <p:nvPr/>
        </p:nvSpPr>
        <p:spPr>
          <a:xfrm xmlns:a="http://schemas.openxmlformats.org/drawingml/2006/main">
            <a:off x="1447800" y="37528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临床与调查</a:t>
            </a:r>
          </a:p>
        </p:txBody>
      </p:sp>
      <p:sp>
        <p:nvSpPr>
          <p:cNvPr id="20" name="">
            <a:extLst xmlns:a="http://schemas.openxmlformats.org/drawingml/2006/main">
              <a:ext uri="{FF2B5EF4-FFF2-40B4-BE49-F238E27FC236}">
                <a16:creationId xmlns:a16="http://schemas.microsoft.com/office/drawing/2014/main" id="{51F7F7E0-FAE3-42D0-A8A9-5C26B4993358}"/>
              </a:ext>
            </a:extLst>
          </p:cNvPr>
          <p:cNvSpPr>
            <a:spLocks xmlns:a="http://schemas.openxmlformats.org/drawingml/2006/main" noGrp="1"/>
          </p:cNvSpPr>
          <p:nvPr/>
        </p:nvSpPr>
        <p:spPr>
          <a:xfrm xmlns:a="http://schemas.openxmlformats.org/drawingml/2006/main">
            <a:off x="3048000" y="369570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预注册主要终点，保存知情同意，说明脱落样本和缺失数据处理</a:t>
            </a:r>
          </a:p>
        </p:txBody>
      </p:sp>
      <p:sp>
        <p:nvSpPr>
          <p:cNvPr id="21" name="">
            <a:extLst xmlns:a="http://schemas.openxmlformats.org/drawingml/2006/main">
              <a:ext uri="{FF2B5EF4-FFF2-40B4-BE49-F238E27FC236}">
                <a16:creationId xmlns:a16="http://schemas.microsoft.com/office/drawing/2014/main" id="{D136F998-7DBE-4D2A-9337-7A4FD458BECA}"/>
              </a:ext>
            </a:extLst>
          </p:cNvPr>
          <p:cNvSpPr>
            <a:spLocks xmlns:a="http://schemas.openxmlformats.org/drawingml/2006/main" noGrp="1"/>
          </p:cNvSpPr>
          <p:nvPr/>
        </p:nvSpPr>
        <p:spPr>
          <a:xfrm xmlns:a="http://schemas.openxmlformats.org/drawingml/2006/main">
            <a:off x="1428750" y="4305300"/>
            <a:ext cx="9620250" cy="0"/>
          </a:xfrm>
          <a:prstGeom xmlns:a="http://schemas.openxmlformats.org/drawingml/2006/main" prst="line">
            <a:avLst/>
          </a:prstGeom>
          <a:ln xmlns:a="http://schemas.openxmlformats.org/drawingml/2006/main" w="9525">
            <a:solidFill>
              <a:srgbClr val="CAD5D8"/>
            </a:solidFill>
          </a:ln>
        </p:spPr>
      </p:sp>
      <p:sp>
        <p:nvSpPr>
          <p:cNvPr id="22" name="">
            <a:extLst xmlns:a="http://schemas.openxmlformats.org/drawingml/2006/main">
              <a:ext uri="{FF2B5EF4-FFF2-40B4-BE49-F238E27FC236}">
                <a16:creationId xmlns:a16="http://schemas.microsoft.com/office/drawing/2014/main" id="{026F4B06-A9DC-4D17-A98A-30868586362E}"/>
              </a:ext>
            </a:extLst>
          </p:cNvPr>
          <p:cNvSpPr>
            <a:spLocks xmlns:a="http://schemas.openxmlformats.org/drawingml/2006/main" noGrp="1"/>
          </p:cNvSpPr>
          <p:nvPr/>
        </p:nvSpPr>
        <p:spPr>
          <a:xfrm xmlns:a="http://schemas.openxmlformats.org/drawingml/2006/main">
            <a:off x="742950" y="45053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478C88"/>
                </a:solidFill>
                <a:latin typeface="Microsoft YaHei"/>
                <a:ea typeface="Microsoft YaHei"/>
                <a:cs typeface="Microsoft YaHei"/>
              </a:defRPr>
            </a:pPr>
            <a:r>
              <a:rPr sz="1350" b="1">
                <a:solidFill>
                  <a:srgbClr val="478C88"/>
                </a:solidFill>
                <a:latin typeface="Microsoft YaHei"/>
                <a:ea typeface="Microsoft YaHei"/>
                <a:cs typeface="Microsoft YaHei"/>
              </a:rPr>
              <a:t>05</a:t>
            </a:r>
          </a:p>
        </p:txBody>
      </p:sp>
      <p:sp>
        <p:nvSpPr>
          <p:cNvPr id="23" name="">
            <a:extLst xmlns:a="http://schemas.openxmlformats.org/drawingml/2006/main">
              <a:ext uri="{FF2B5EF4-FFF2-40B4-BE49-F238E27FC236}">
                <a16:creationId xmlns:a16="http://schemas.microsoft.com/office/drawing/2014/main" id="{F31A1124-DD22-4961-B77A-850EEAE6DEB8}"/>
              </a:ext>
            </a:extLst>
          </p:cNvPr>
          <p:cNvSpPr>
            <a:spLocks xmlns:a="http://schemas.openxmlformats.org/drawingml/2006/main" noGrp="1"/>
          </p:cNvSpPr>
          <p:nvPr/>
        </p:nvSpPr>
        <p:spPr>
          <a:xfrm xmlns:a="http://schemas.openxmlformats.org/drawingml/2006/main">
            <a:off x="1447800" y="44767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论文与署名</a:t>
            </a:r>
          </a:p>
        </p:txBody>
      </p:sp>
      <p:sp>
        <p:nvSpPr>
          <p:cNvPr id="24" name="">
            <a:extLst xmlns:a="http://schemas.openxmlformats.org/drawingml/2006/main">
              <a:ext uri="{FF2B5EF4-FFF2-40B4-BE49-F238E27FC236}">
                <a16:creationId xmlns:a16="http://schemas.microsoft.com/office/drawing/2014/main" id="{19C5D450-75C5-4DF0-B353-85AFE0DCA61F}"/>
              </a:ext>
            </a:extLst>
          </p:cNvPr>
          <p:cNvSpPr>
            <a:spLocks xmlns:a="http://schemas.openxmlformats.org/drawingml/2006/main" noGrp="1"/>
          </p:cNvSpPr>
          <p:nvPr/>
        </p:nvSpPr>
        <p:spPr>
          <a:xfrm xmlns:a="http://schemas.openxmlformats.org/drawingml/2006/main">
            <a:off x="3048000" y="441960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逐项确认贡献与责任，所有作者核读关键图表和主要结论</a:t>
            </a:r>
          </a:p>
        </p:txBody>
      </p:sp>
      <p:sp>
        <p:nvSpPr>
          <p:cNvPr id="25" name="">
            <a:extLst xmlns:a="http://schemas.openxmlformats.org/drawingml/2006/main">
              <a:ext uri="{FF2B5EF4-FFF2-40B4-BE49-F238E27FC236}">
                <a16:creationId xmlns:a16="http://schemas.microsoft.com/office/drawing/2014/main" id="{C2D3A988-DE7F-443A-865B-1BFEB30DD696}"/>
              </a:ext>
            </a:extLst>
          </p:cNvPr>
          <p:cNvSpPr>
            <a:spLocks xmlns:a="http://schemas.openxmlformats.org/drawingml/2006/main" noGrp="1"/>
          </p:cNvSpPr>
          <p:nvPr/>
        </p:nvSpPr>
        <p:spPr>
          <a:xfrm xmlns:a="http://schemas.openxmlformats.org/drawingml/2006/main">
            <a:off x="1428750" y="5029200"/>
            <a:ext cx="9620250" cy="0"/>
          </a:xfrm>
          <a:prstGeom xmlns:a="http://schemas.openxmlformats.org/drawingml/2006/main" prst="line">
            <a:avLst/>
          </a:prstGeom>
          <a:ln xmlns:a="http://schemas.openxmlformats.org/drawingml/2006/main" w="9525">
            <a:solidFill>
              <a:srgbClr val="CAD5D8"/>
            </a:solidFill>
          </a:ln>
        </p:spPr>
      </p:sp>
      <p:sp>
        <p:nvSpPr>
          <p:cNvPr id="26" name="">
            <a:extLst xmlns:a="http://schemas.openxmlformats.org/drawingml/2006/main">
              <a:ext uri="{FF2B5EF4-FFF2-40B4-BE49-F238E27FC236}">
                <a16:creationId xmlns:a16="http://schemas.microsoft.com/office/drawing/2014/main" id="{C5FC241F-A84C-4A08-9798-F270E75496E5}"/>
              </a:ext>
            </a:extLst>
          </p:cNvPr>
          <p:cNvSpPr>
            <a:spLocks xmlns:a="http://schemas.openxmlformats.org/drawingml/2006/main" noGrp="1"/>
          </p:cNvSpPr>
          <p:nvPr/>
        </p:nvSpPr>
        <p:spPr>
          <a:xfrm xmlns:a="http://schemas.openxmlformats.org/drawingml/2006/main">
            <a:off x="742950" y="52292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478C88"/>
                </a:solidFill>
                <a:latin typeface="Microsoft YaHei"/>
                <a:ea typeface="Microsoft YaHei"/>
                <a:cs typeface="Microsoft YaHei"/>
              </a:defRPr>
            </a:pPr>
            <a:r>
              <a:rPr sz="1350" b="1">
                <a:solidFill>
                  <a:srgbClr val="478C88"/>
                </a:solidFill>
                <a:latin typeface="Microsoft YaHei"/>
                <a:ea typeface="Microsoft YaHei"/>
                <a:cs typeface="Microsoft YaHei"/>
              </a:rPr>
              <a:t>06</a:t>
            </a:r>
          </a:p>
        </p:txBody>
      </p:sp>
      <p:sp>
        <p:nvSpPr>
          <p:cNvPr id="27" name="">
            <a:extLst xmlns:a="http://schemas.openxmlformats.org/drawingml/2006/main">
              <a:ext uri="{FF2B5EF4-FFF2-40B4-BE49-F238E27FC236}">
                <a16:creationId xmlns:a16="http://schemas.microsoft.com/office/drawing/2014/main" id="{9EF81723-54F2-4698-BBAF-F663CC21ADA2}"/>
              </a:ext>
            </a:extLst>
          </p:cNvPr>
          <p:cNvSpPr>
            <a:spLocks xmlns:a="http://schemas.openxmlformats.org/drawingml/2006/main" noGrp="1"/>
          </p:cNvSpPr>
          <p:nvPr/>
        </p:nvSpPr>
        <p:spPr>
          <a:xfrm xmlns:a="http://schemas.openxmlformats.org/drawingml/2006/main">
            <a:off x="1447800" y="52006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独立复核</a:t>
            </a:r>
          </a:p>
        </p:txBody>
      </p:sp>
      <p:sp>
        <p:nvSpPr>
          <p:cNvPr id="28" name="">
            <a:extLst xmlns:a="http://schemas.openxmlformats.org/drawingml/2006/main">
              <a:ext uri="{FF2B5EF4-FFF2-40B4-BE49-F238E27FC236}">
                <a16:creationId xmlns:a16="http://schemas.microsoft.com/office/drawing/2014/main" id="{848AE089-CFB2-4B07-AC1C-DACF74AC1147}"/>
              </a:ext>
            </a:extLst>
          </p:cNvPr>
          <p:cNvSpPr>
            <a:spLocks xmlns:a="http://schemas.openxmlformats.org/drawingml/2006/main" noGrp="1"/>
          </p:cNvSpPr>
          <p:nvPr/>
        </p:nvSpPr>
        <p:spPr>
          <a:xfrm xmlns:a="http://schemas.openxmlformats.org/drawingml/2006/main">
            <a:off x="3048000" y="514350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投稿前安排交叉复算、复测或盲审，高影响结论优先开展外部复现</a:t>
            </a:r>
          </a:p>
        </p:txBody>
      </p:sp>
      <p:sp>
        <p:nvSpPr>
          <p:cNvPr id="29" name="">
            <a:extLst xmlns:a="http://schemas.openxmlformats.org/drawingml/2006/main">
              <a:ext uri="{FF2B5EF4-FFF2-40B4-BE49-F238E27FC236}">
                <a16:creationId xmlns:a16="http://schemas.microsoft.com/office/drawing/2014/main" id="{0632468B-E4F0-4C12-B83D-EA2EFEC8950F}"/>
              </a:ext>
            </a:extLst>
          </p:cNvPr>
          <p:cNvSpPr>
            <a:spLocks xmlns:a="http://schemas.openxmlformats.org/drawingml/2006/main" noGrp="1"/>
          </p:cNvSpPr>
          <p:nvPr/>
        </p:nvSpPr>
        <p:spPr>
          <a:xfrm xmlns:a="http://schemas.openxmlformats.org/drawingml/2006/main">
            <a:off x="1428750" y="5753100"/>
            <a:ext cx="9620250" cy="0"/>
          </a:xfrm>
          <a:prstGeom xmlns:a="http://schemas.openxmlformats.org/drawingml/2006/main" prst="line">
            <a:avLst/>
          </a:prstGeom>
          <a:ln xmlns:a="http://schemas.openxmlformats.org/drawingml/2006/main" w="9525">
            <a:solidFill>
              <a:srgbClr val="CAD5D8"/>
            </a:solidFill>
          </a:ln>
        </p:spPr>
      </p:sp>
      <p:sp>
        <p:nvSpPr>
          <p:cNvPr id="30" name="">
            <a:extLst xmlns:a="http://schemas.openxmlformats.org/drawingml/2006/main">
              <a:ext uri="{FF2B5EF4-FFF2-40B4-BE49-F238E27FC236}">
                <a16:creationId xmlns:a16="http://schemas.microsoft.com/office/drawing/2014/main" id="{8869CC04-2EC0-47EE-8563-499E4C961D8C}"/>
              </a:ext>
            </a:extLst>
          </p:cNvPr>
          <p:cNvSpPr>
            <a:spLocks xmlns:a="http://schemas.openxmlformats.org/drawingml/2006/main" noGrp="1"/>
          </p:cNvSpPr>
          <p:nvPr/>
        </p:nvSpPr>
        <p:spPr>
          <a:xfrm xmlns:a="http://schemas.openxmlformats.org/drawingml/2006/main">
            <a:off x="742950" y="60388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B45C3E"/>
                </a:solidFill>
                <a:latin typeface="Microsoft YaHei"/>
                <a:ea typeface="Microsoft YaHei"/>
                <a:cs typeface="Microsoft YaHei"/>
              </a:defRPr>
            </a:pPr>
            <a:r>
              <a:rPr sz="1200" b="1">
                <a:solidFill>
                  <a:srgbClr val="B45C3E"/>
                </a:solidFill>
                <a:latin typeface="Microsoft YaHei"/>
                <a:ea typeface="Microsoft YaHei"/>
                <a:cs typeface="Microsoft YaHei"/>
              </a:rPr>
              <a:t>可执行标准</a:t>
            </a:r>
          </a:p>
        </p:txBody>
      </p:sp>
      <p:sp>
        <p:nvSpPr>
          <p:cNvPr id="31" name="">
            <a:extLst xmlns:a="http://schemas.openxmlformats.org/drawingml/2006/main">
              <a:ext uri="{FF2B5EF4-FFF2-40B4-BE49-F238E27FC236}">
                <a16:creationId xmlns:a16="http://schemas.microsoft.com/office/drawing/2014/main" id="{CFAD3FD9-0E89-4582-BE9E-4354A0DBB585}"/>
              </a:ext>
            </a:extLst>
          </p:cNvPr>
          <p:cNvSpPr>
            <a:spLocks xmlns:a="http://schemas.openxmlformats.org/drawingml/2006/main" noGrp="1"/>
          </p:cNvSpPr>
          <p:nvPr/>
        </p:nvSpPr>
        <p:spPr>
          <a:xfrm xmlns:a="http://schemas.openxmlformats.org/drawingml/2006/main">
            <a:off x="2190750" y="5991225"/>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83247"/>
                </a:solidFill>
                <a:latin typeface="Microsoft YaHei"/>
                <a:ea typeface="Microsoft YaHei"/>
                <a:cs typeface="Microsoft YaHei"/>
              </a:defRPr>
            </a:pPr>
            <a:r>
              <a:rPr sz="1350" b="1">
                <a:solidFill>
                  <a:srgbClr val="183247"/>
                </a:solidFill>
                <a:latin typeface="Microsoft YaHei"/>
                <a:ea typeface="Microsoft YaHei"/>
                <a:cs typeface="Microsoft YaHei"/>
              </a:rPr>
              <a:t>任何关键图表，都应能由另一名组员从原始数据重新生成</a:t>
            </a:r>
          </a:p>
        </p:txBody>
      </p:sp>
    </p:spTree>
    <p:extLst>
      <p:ext uri="{BB962C8B-B14F-4D97-AF65-F5344CB8AC3E}">
        <p14:creationId xmlns:p14="http://schemas.microsoft.com/office/powerpoint/2010/main" val="300481048"/>
      </p:ext>
    </p:extLst>
  </p:cSld>
</p:sld>
</file>

<file path=ppt/slides/slide1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FAC8A9A7-B1A0-4E01-B7D8-926907DB091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78C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F9AA34-8165-4394-AB64-90F346CC37CA}"/>
              </a:ext>
            </a:extLst>
          </p:cNvPr>
          <p:cNvSpPr>
            <a:spLocks xmlns:a="http://schemas.openxmlformats.org/drawingml/2006/main" noGrp="1"/>
          </p:cNvSpPr>
          <p:nvPr/>
        </p:nvSpPr>
        <p:spPr>
          <a:xfrm xmlns:a="http://schemas.openxmlformats.org/drawingml/2006/main">
            <a:off x="609600" y="36195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Microsoft YaHei"/>
                <a:ea typeface="Microsoft YaHei"/>
                <a:cs typeface="Microsoft YaHei"/>
              </a:defRPr>
            </a:pPr>
            <a:r>
              <a:rPr sz="2400" b="1">
                <a:solidFill>
                  <a:srgbClr val="183247"/>
                </a:solidFill>
                <a:latin typeface="Microsoft YaHei"/>
                <a:ea typeface="Microsoft YaHei"/>
                <a:cs typeface="Microsoft YaHei"/>
              </a:rPr>
              <a:t>治理行动的优先顺序</a:t>
            </a:r>
          </a:p>
        </p:txBody>
      </p:sp>
      <p:sp>
        <p:nvSpPr>
          <p:cNvPr id="3" name="">
            <a:extLst xmlns:a="http://schemas.openxmlformats.org/drawingml/2006/main">
              <a:ext uri="{FF2B5EF4-FFF2-40B4-BE49-F238E27FC236}">
                <a16:creationId xmlns:a16="http://schemas.microsoft.com/office/drawing/2014/main" id="{88CB2F7F-30F4-4484-8F19-F05111816422}"/>
              </a:ext>
            </a:extLst>
          </p:cNvPr>
          <p:cNvSpPr>
            <a:spLocks xmlns:a="http://schemas.openxmlformats.org/drawingml/2006/main" noGrp="1"/>
          </p:cNvSpPr>
          <p:nvPr/>
        </p:nvSpPr>
        <p:spPr>
          <a:xfrm xmlns:a="http://schemas.openxmlformats.org/drawingml/2006/main">
            <a:off x="628650" y="9144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8666D"/>
                </a:solidFill>
                <a:latin typeface="Microsoft YaHei"/>
                <a:ea typeface="Microsoft YaHei"/>
                <a:cs typeface="Microsoft YaHei"/>
              </a:defRPr>
            </a:pPr>
            <a:r>
              <a:rPr sz="1125" b="0">
                <a:solidFill>
                  <a:srgbClr val="58666D"/>
                </a:solidFill>
                <a:latin typeface="Microsoft YaHei"/>
                <a:ea typeface="Microsoft YaHei"/>
                <a:cs typeface="Microsoft YaHei"/>
              </a:rPr>
              <a:t>先补证据链，再改激励，最后形成跨主体协同</a:t>
            </a:r>
          </a:p>
        </p:txBody>
      </p:sp>
      <p:sp>
        <p:nvSpPr>
          <p:cNvPr id="4" name="">
            <a:extLst xmlns:a="http://schemas.openxmlformats.org/drawingml/2006/main">
              <a:ext uri="{FF2B5EF4-FFF2-40B4-BE49-F238E27FC236}">
                <a16:creationId xmlns:a16="http://schemas.microsoft.com/office/drawing/2014/main" id="{24EDF864-16C7-4A4F-8E26-B96919A360CD}"/>
              </a:ext>
            </a:extLst>
          </p:cNvPr>
          <p:cNvSpPr>
            <a:spLocks xmlns:a="http://schemas.openxmlformats.org/drawingml/2006/main" noGrp="1"/>
          </p:cNvSpPr>
          <p:nvPr/>
        </p:nvSpPr>
        <p:spPr>
          <a:xfrm xmlns:a="http://schemas.openxmlformats.org/drawingml/2006/main">
            <a:off x="11239500" y="4191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478C88"/>
                </a:solidFill>
                <a:latin typeface="Microsoft YaHei"/>
                <a:ea typeface="Microsoft YaHei"/>
                <a:cs typeface="Microsoft YaHei"/>
              </a:defRPr>
            </a:pPr>
            <a:r>
              <a:rPr sz="1125" b="1">
                <a:solidFill>
                  <a:srgbClr val="478C88"/>
                </a:solidFill>
                <a:latin typeface="Microsoft YaHei"/>
                <a:ea typeface="Microsoft YaHei"/>
                <a:cs typeface="Microsoft YaHei"/>
              </a:rPr>
              <a:t>14</a:t>
            </a:r>
          </a:p>
        </p:txBody>
      </p:sp>
      <p:sp>
        <p:nvSpPr>
          <p:cNvPr id="5" name="">
            <a:extLst xmlns:a="http://schemas.openxmlformats.org/drawingml/2006/main">
              <a:ext uri="{FF2B5EF4-FFF2-40B4-BE49-F238E27FC236}">
                <a16:creationId xmlns:a16="http://schemas.microsoft.com/office/drawing/2014/main" id="{5F6ECA6E-FC28-4073-9263-A23536274A8F}"/>
              </a:ext>
            </a:extLst>
          </p:cNvPr>
          <p:cNvSpPr>
            <a:spLocks xmlns:a="http://schemas.openxmlformats.org/drawingml/2006/main" noGrp="1"/>
          </p:cNvSpPr>
          <p:nvPr/>
        </p:nvSpPr>
        <p:spPr>
          <a:xfrm xmlns:a="http://schemas.openxmlformats.org/drawingml/2006/main">
            <a:off x="609600" y="1257300"/>
            <a:ext cx="11010900" cy="0"/>
          </a:xfrm>
          <a:prstGeom xmlns:a="http://schemas.openxmlformats.org/drawingml/2006/main" prst="line">
            <a:avLst/>
          </a:prstGeom>
          <a:ln xmlns:a="http://schemas.openxmlformats.org/drawingml/2006/main" w="9525">
            <a:solidFill>
              <a:srgbClr val="CAD5D8"/>
            </a:solidFill>
          </a:ln>
        </p:spPr>
      </p:sp>
      <p:sp>
        <p:nvSpPr>
          <p:cNvPr id="6" name="">
            <a:extLst xmlns:a="http://schemas.openxmlformats.org/drawingml/2006/main">
              <a:ext uri="{FF2B5EF4-FFF2-40B4-BE49-F238E27FC236}">
                <a16:creationId xmlns:a16="http://schemas.microsoft.com/office/drawing/2014/main" id="{60C85838-221F-42BF-A1C9-95D8128412E5}"/>
              </a:ext>
            </a:extLst>
          </p:cNvPr>
          <p:cNvSpPr>
            <a:spLocks xmlns:a="http://schemas.openxmlformats.org/drawingml/2006/main" noGrp="1"/>
          </p:cNvSpPr>
          <p:nvPr/>
        </p:nvSpPr>
        <p:spPr>
          <a:xfrm xmlns:a="http://schemas.openxmlformats.org/drawingml/2006/main">
            <a:off x="685800" y="1562100"/>
            <a:ext cx="1143000" cy="476250"/>
          </a:xfrm>
          <a:prstGeom xmlns:a="http://schemas.openxmlformats.org/drawingml/2006/main" prst="roundRect">
            <a:avLst>
              <a:gd name="adj" fmla="val 16000"/>
            </a:avLst>
          </a:prstGeom>
          <a:solidFill xmlns:a="http://schemas.openxmlformats.org/drawingml/2006/main">
            <a:srgbClr val="18324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D06CF42-3734-4536-8238-68873BF09F36}"/>
              </a:ext>
            </a:extLst>
          </p:cNvPr>
          <p:cNvSpPr>
            <a:spLocks xmlns:a="http://schemas.openxmlformats.org/drawingml/2006/main" noGrp="1"/>
          </p:cNvSpPr>
          <p:nvPr/>
        </p:nvSpPr>
        <p:spPr>
          <a:xfrm xmlns:a="http://schemas.openxmlformats.org/drawingml/2006/main">
            <a:off x="742950" y="1647825"/>
            <a:ext cx="1028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时间</a:t>
            </a:r>
          </a:p>
        </p:txBody>
      </p:sp>
      <p:sp>
        <p:nvSpPr>
          <p:cNvPr id="8" name="">
            <a:extLst xmlns:a="http://schemas.openxmlformats.org/drawingml/2006/main">
              <a:ext uri="{FF2B5EF4-FFF2-40B4-BE49-F238E27FC236}">
                <a16:creationId xmlns:a16="http://schemas.microsoft.com/office/drawing/2014/main" id="{0C54B209-B18F-498C-A100-46F3E93DDCA6}"/>
              </a:ext>
            </a:extLst>
          </p:cNvPr>
          <p:cNvSpPr>
            <a:spLocks xmlns:a="http://schemas.openxmlformats.org/drawingml/2006/main" noGrp="1"/>
          </p:cNvSpPr>
          <p:nvPr/>
        </p:nvSpPr>
        <p:spPr>
          <a:xfrm xmlns:a="http://schemas.openxmlformats.org/drawingml/2006/main">
            <a:off x="2000250" y="1562100"/>
            <a:ext cx="1524000" cy="476250"/>
          </a:xfrm>
          <a:prstGeom xmlns:a="http://schemas.openxmlformats.org/drawingml/2006/main" prst="roundRect">
            <a:avLst>
              <a:gd name="adj" fmla="val 16000"/>
            </a:avLst>
          </a:prstGeom>
          <a:solidFill xmlns:a="http://schemas.openxmlformats.org/drawingml/2006/main">
            <a:srgbClr val="2D628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C665946-341F-4CFA-9C8C-348375F4139B}"/>
              </a:ext>
            </a:extLst>
          </p:cNvPr>
          <p:cNvSpPr>
            <a:spLocks xmlns:a="http://schemas.openxmlformats.org/drawingml/2006/main" noGrp="1"/>
          </p:cNvSpPr>
          <p:nvPr/>
        </p:nvSpPr>
        <p:spPr>
          <a:xfrm xmlns:a="http://schemas.openxmlformats.org/drawingml/2006/main">
            <a:off x="2057400" y="1647825"/>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责任主体</a:t>
            </a:r>
          </a:p>
        </p:txBody>
      </p:sp>
      <p:sp>
        <p:nvSpPr>
          <p:cNvPr id="10" name="">
            <a:extLst xmlns:a="http://schemas.openxmlformats.org/drawingml/2006/main">
              <a:ext uri="{FF2B5EF4-FFF2-40B4-BE49-F238E27FC236}">
                <a16:creationId xmlns:a16="http://schemas.microsoft.com/office/drawing/2014/main" id="{D7252DA7-F753-436D-9156-712C3A011E56}"/>
              </a:ext>
            </a:extLst>
          </p:cNvPr>
          <p:cNvSpPr>
            <a:spLocks xmlns:a="http://schemas.openxmlformats.org/drawingml/2006/main" noGrp="1"/>
          </p:cNvSpPr>
          <p:nvPr/>
        </p:nvSpPr>
        <p:spPr>
          <a:xfrm xmlns:a="http://schemas.openxmlformats.org/drawingml/2006/main">
            <a:off x="3714750" y="1562100"/>
            <a:ext cx="4191000" cy="476250"/>
          </a:xfrm>
          <a:prstGeom xmlns:a="http://schemas.openxmlformats.org/drawingml/2006/main" prst="roundRect">
            <a:avLst>
              <a:gd name="adj" fmla="val 16000"/>
            </a:avLst>
          </a:prstGeom>
          <a:solidFill xmlns:a="http://schemas.openxmlformats.org/drawingml/2006/main">
            <a:srgbClr val="478C8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3E871E-F8E3-4682-BFF2-30704CD60840}"/>
              </a:ext>
            </a:extLst>
          </p:cNvPr>
          <p:cNvSpPr>
            <a:spLocks xmlns:a="http://schemas.openxmlformats.org/drawingml/2006/main" noGrp="1"/>
          </p:cNvSpPr>
          <p:nvPr/>
        </p:nvSpPr>
        <p:spPr>
          <a:xfrm xmlns:a="http://schemas.openxmlformats.org/drawingml/2006/main">
            <a:off x="3771900" y="1647825"/>
            <a:ext cx="407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核心行动</a:t>
            </a:r>
          </a:p>
        </p:txBody>
      </p:sp>
      <p:sp>
        <p:nvSpPr>
          <p:cNvPr id="12" name="">
            <a:extLst xmlns:a="http://schemas.openxmlformats.org/drawingml/2006/main">
              <a:ext uri="{FF2B5EF4-FFF2-40B4-BE49-F238E27FC236}">
                <a16:creationId xmlns:a16="http://schemas.microsoft.com/office/drawing/2014/main" id="{0BD511B5-FDBB-49FC-B0B6-22978A0A92B9}"/>
              </a:ext>
            </a:extLst>
          </p:cNvPr>
          <p:cNvSpPr>
            <a:spLocks xmlns:a="http://schemas.openxmlformats.org/drawingml/2006/main" noGrp="1"/>
          </p:cNvSpPr>
          <p:nvPr/>
        </p:nvSpPr>
        <p:spPr>
          <a:xfrm xmlns:a="http://schemas.openxmlformats.org/drawingml/2006/main">
            <a:off x="8096250" y="1562100"/>
            <a:ext cx="3333750" cy="476250"/>
          </a:xfrm>
          <a:prstGeom xmlns:a="http://schemas.openxmlformats.org/drawingml/2006/main" prst="roundRect">
            <a:avLst>
              <a:gd name="adj" fmla="val 16000"/>
            </a:avLst>
          </a:prstGeom>
          <a:solidFill xmlns:a="http://schemas.openxmlformats.org/drawingml/2006/main">
            <a:srgbClr val="B45C3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2618A8-7AF0-47FC-8C03-6A23F528AED1}"/>
              </a:ext>
            </a:extLst>
          </p:cNvPr>
          <p:cNvSpPr>
            <a:spLocks xmlns:a="http://schemas.openxmlformats.org/drawingml/2006/main" noGrp="1"/>
          </p:cNvSpPr>
          <p:nvPr/>
        </p:nvSpPr>
        <p:spPr>
          <a:xfrm xmlns:a="http://schemas.openxmlformats.org/drawingml/2006/main">
            <a:off x="8153400" y="1647825"/>
            <a:ext cx="321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预期作用</a:t>
            </a:r>
          </a:p>
        </p:txBody>
      </p:sp>
      <p:sp>
        <p:nvSpPr>
          <p:cNvPr id="14" name="">
            <a:extLst xmlns:a="http://schemas.openxmlformats.org/drawingml/2006/main">
              <a:ext uri="{FF2B5EF4-FFF2-40B4-BE49-F238E27FC236}">
                <a16:creationId xmlns:a16="http://schemas.microsoft.com/office/drawing/2014/main" id="{260B7D2A-7249-4EDF-8120-18C0DBDAE46E}"/>
              </a:ext>
            </a:extLst>
          </p:cNvPr>
          <p:cNvSpPr>
            <a:spLocks xmlns:a="http://schemas.openxmlformats.org/drawingml/2006/main" noGrp="1"/>
          </p:cNvSpPr>
          <p:nvPr/>
        </p:nvSpPr>
        <p:spPr>
          <a:xfrm xmlns:a="http://schemas.openxmlformats.org/drawingml/2006/main">
            <a:off x="685800" y="2152650"/>
            <a:ext cx="1143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9D9B918-DE34-4FDC-A1E1-1FD5AA917BB2}"/>
              </a:ext>
            </a:extLst>
          </p:cNvPr>
          <p:cNvSpPr>
            <a:spLocks xmlns:a="http://schemas.openxmlformats.org/drawingml/2006/main" noGrp="1"/>
          </p:cNvSpPr>
          <p:nvPr/>
        </p:nvSpPr>
        <p:spPr>
          <a:xfrm xmlns:a="http://schemas.openxmlformats.org/drawingml/2006/main">
            <a:off x="800100" y="2228850"/>
            <a:ext cx="914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近期</a:t>
            </a:r>
          </a:p>
        </p:txBody>
      </p:sp>
      <p:sp>
        <p:nvSpPr>
          <p:cNvPr id="16" name="">
            <a:extLst xmlns:a="http://schemas.openxmlformats.org/drawingml/2006/main">
              <a:ext uri="{FF2B5EF4-FFF2-40B4-BE49-F238E27FC236}">
                <a16:creationId xmlns:a16="http://schemas.microsoft.com/office/drawing/2014/main" id="{AAC4525D-F428-40DF-8BF1-754187F4F296}"/>
              </a:ext>
            </a:extLst>
          </p:cNvPr>
          <p:cNvSpPr>
            <a:spLocks xmlns:a="http://schemas.openxmlformats.org/drawingml/2006/main" noGrp="1"/>
          </p:cNvSpPr>
          <p:nvPr/>
        </p:nvSpPr>
        <p:spPr>
          <a:xfrm xmlns:a="http://schemas.openxmlformats.org/drawingml/2006/main">
            <a:off x="2000250" y="2152650"/>
            <a:ext cx="1524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E032F58-BE86-47BC-B2CD-FC0752041B4F}"/>
              </a:ext>
            </a:extLst>
          </p:cNvPr>
          <p:cNvSpPr>
            <a:spLocks xmlns:a="http://schemas.openxmlformats.org/drawingml/2006/main" noGrp="1"/>
          </p:cNvSpPr>
          <p:nvPr/>
        </p:nvSpPr>
        <p:spPr>
          <a:xfrm xmlns:a="http://schemas.openxmlformats.org/drawingml/2006/main">
            <a:off x="2114550" y="2228850"/>
            <a:ext cx="1295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实验室</a:t>
            </a:r>
          </a:p>
        </p:txBody>
      </p:sp>
      <p:sp>
        <p:nvSpPr>
          <p:cNvPr id="18" name="">
            <a:extLst xmlns:a="http://schemas.openxmlformats.org/drawingml/2006/main">
              <a:ext uri="{FF2B5EF4-FFF2-40B4-BE49-F238E27FC236}">
                <a16:creationId xmlns:a16="http://schemas.microsoft.com/office/drawing/2014/main" id="{A1E3A640-450E-44DF-B75C-38BA87A98343}"/>
              </a:ext>
            </a:extLst>
          </p:cNvPr>
          <p:cNvSpPr>
            <a:spLocks xmlns:a="http://schemas.openxmlformats.org/drawingml/2006/main" noGrp="1"/>
          </p:cNvSpPr>
          <p:nvPr/>
        </p:nvSpPr>
        <p:spPr>
          <a:xfrm xmlns:a="http://schemas.openxmlformats.org/drawingml/2006/main">
            <a:off x="3714750" y="2152650"/>
            <a:ext cx="4191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B5D2FD3-7A1E-4AA2-A64D-8683E703BB04}"/>
              </a:ext>
            </a:extLst>
          </p:cNvPr>
          <p:cNvSpPr>
            <a:spLocks xmlns:a="http://schemas.openxmlformats.org/drawingml/2006/main" noGrp="1"/>
          </p:cNvSpPr>
          <p:nvPr/>
        </p:nvSpPr>
        <p:spPr>
          <a:xfrm xmlns:a="http://schemas.openxmlformats.org/drawingml/2006/main">
            <a:off x="3829050" y="2228850"/>
            <a:ext cx="396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原始数据规范、投稿前复核、署名确认</a:t>
            </a:r>
          </a:p>
        </p:txBody>
      </p:sp>
      <p:sp>
        <p:nvSpPr>
          <p:cNvPr id="20" name="">
            <a:extLst xmlns:a="http://schemas.openxmlformats.org/drawingml/2006/main">
              <a:ext uri="{FF2B5EF4-FFF2-40B4-BE49-F238E27FC236}">
                <a16:creationId xmlns:a16="http://schemas.microsoft.com/office/drawing/2014/main" id="{77B46450-1E1C-43F3-A1D5-CADDE385CA9A}"/>
              </a:ext>
            </a:extLst>
          </p:cNvPr>
          <p:cNvSpPr>
            <a:spLocks xmlns:a="http://schemas.openxmlformats.org/drawingml/2006/main" noGrp="1"/>
          </p:cNvSpPr>
          <p:nvPr/>
        </p:nvSpPr>
        <p:spPr>
          <a:xfrm xmlns:a="http://schemas.openxmlformats.org/drawingml/2006/main">
            <a:off x="8096250" y="2152650"/>
            <a:ext cx="33337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469A936-567A-43CB-896C-BB16241F919A}"/>
              </a:ext>
            </a:extLst>
          </p:cNvPr>
          <p:cNvSpPr>
            <a:spLocks xmlns:a="http://schemas.openxmlformats.org/drawingml/2006/main" noGrp="1"/>
          </p:cNvSpPr>
          <p:nvPr/>
        </p:nvSpPr>
        <p:spPr>
          <a:xfrm xmlns:a="http://schemas.openxmlformats.org/drawingml/2006/main">
            <a:off x="8210550" y="222885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降低低成本违规与无意错误</a:t>
            </a:r>
          </a:p>
        </p:txBody>
      </p:sp>
      <p:sp>
        <p:nvSpPr>
          <p:cNvPr id="22" name="">
            <a:extLst xmlns:a="http://schemas.openxmlformats.org/drawingml/2006/main">
              <a:ext uri="{FF2B5EF4-FFF2-40B4-BE49-F238E27FC236}">
                <a16:creationId xmlns:a16="http://schemas.microsoft.com/office/drawing/2014/main" id="{E55D6F78-7EE6-4F04-8CA1-FFFA10C4380F}"/>
              </a:ext>
            </a:extLst>
          </p:cNvPr>
          <p:cNvSpPr>
            <a:spLocks xmlns:a="http://schemas.openxmlformats.org/drawingml/2006/main" noGrp="1"/>
          </p:cNvSpPr>
          <p:nvPr/>
        </p:nvSpPr>
        <p:spPr>
          <a:xfrm xmlns:a="http://schemas.openxmlformats.org/drawingml/2006/main">
            <a:off x="685800" y="2990850"/>
            <a:ext cx="1143000" cy="723900"/>
          </a:xfrm>
          <a:prstGeom xmlns:a="http://schemas.openxmlformats.org/drawingml/2006/main" prst="roundRect">
            <a:avLst>
              <a:gd name="adj" fmla="val 10526"/>
            </a:avLst>
          </a:prstGeom>
          <a:solidFill xmlns:a="http://schemas.openxmlformats.org/drawingml/2006/main">
            <a:srgbClr val="EEF3F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77394E1-7D64-4101-BEF5-7E4BE5F6CF87}"/>
              </a:ext>
            </a:extLst>
          </p:cNvPr>
          <p:cNvSpPr>
            <a:spLocks xmlns:a="http://schemas.openxmlformats.org/drawingml/2006/main" noGrp="1"/>
          </p:cNvSpPr>
          <p:nvPr/>
        </p:nvSpPr>
        <p:spPr>
          <a:xfrm xmlns:a="http://schemas.openxmlformats.org/drawingml/2006/main">
            <a:off x="800100" y="3067050"/>
            <a:ext cx="914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中期</a:t>
            </a:r>
          </a:p>
        </p:txBody>
      </p:sp>
      <p:sp>
        <p:nvSpPr>
          <p:cNvPr id="24" name="">
            <a:extLst xmlns:a="http://schemas.openxmlformats.org/drawingml/2006/main">
              <a:ext uri="{FF2B5EF4-FFF2-40B4-BE49-F238E27FC236}">
                <a16:creationId xmlns:a16="http://schemas.microsoft.com/office/drawing/2014/main" id="{3BD92B71-3095-4B8B-BB81-AC371E517B93}"/>
              </a:ext>
            </a:extLst>
          </p:cNvPr>
          <p:cNvSpPr>
            <a:spLocks xmlns:a="http://schemas.openxmlformats.org/drawingml/2006/main" noGrp="1"/>
          </p:cNvSpPr>
          <p:nvPr/>
        </p:nvSpPr>
        <p:spPr>
          <a:xfrm xmlns:a="http://schemas.openxmlformats.org/drawingml/2006/main">
            <a:off x="2000250" y="2990850"/>
            <a:ext cx="1524000" cy="723900"/>
          </a:xfrm>
          <a:prstGeom xmlns:a="http://schemas.openxmlformats.org/drawingml/2006/main" prst="roundRect">
            <a:avLst>
              <a:gd name="adj" fmla="val 10526"/>
            </a:avLst>
          </a:prstGeom>
          <a:solidFill xmlns:a="http://schemas.openxmlformats.org/drawingml/2006/main">
            <a:srgbClr val="EEF3F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38FFB0D-6B4E-468B-B056-53C4D7059549}"/>
              </a:ext>
            </a:extLst>
          </p:cNvPr>
          <p:cNvSpPr>
            <a:spLocks xmlns:a="http://schemas.openxmlformats.org/drawingml/2006/main" noGrp="1"/>
          </p:cNvSpPr>
          <p:nvPr/>
        </p:nvSpPr>
        <p:spPr>
          <a:xfrm xmlns:a="http://schemas.openxmlformats.org/drawingml/2006/main">
            <a:off x="2114550" y="3067050"/>
            <a:ext cx="1295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院系与机构</a:t>
            </a:r>
          </a:p>
        </p:txBody>
      </p:sp>
      <p:sp>
        <p:nvSpPr>
          <p:cNvPr id="26" name="">
            <a:extLst xmlns:a="http://schemas.openxmlformats.org/drawingml/2006/main">
              <a:ext uri="{FF2B5EF4-FFF2-40B4-BE49-F238E27FC236}">
                <a16:creationId xmlns:a16="http://schemas.microsoft.com/office/drawing/2014/main" id="{C30ACCA2-9876-47E1-B348-1E6DB7E635E5}"/>
              </a:ext>
            </a:extLst>
          </p:cNvPr>
          <p:cNvSpPr>
            <a:spLocks xmlns:a="http://schemas.openxmlformats.org/drawingml/2006/main" noGrp="1"/>
          </p:cNvSpPr>
          <p:nvPr/>
        </p:nvSpPr>
        <p:spPr>
          <a:xfrm xmlns:a="http://schemas.openxmlformats.org/drawingml/2006/main">
            <a:off x="3714750" y="2990850"/>
            <a:ext cx="4191000" cy="723900"/>
          </a:xfrm>
          <a:prstGeom xmlns:a="http://schemas.openxmlformats.org/drawingml/2006/main" prst="roundRect">
            <a:avLst>
              <a:gd name="adj" fmla="val 10526"/>
            </a:avLst>
          </a:prstGeom>
          <a:solidFill xmlns:a="http://schemas.openxmlformats.org/drawingml/2006/main">
            <a:srgbClr val="EEF3F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5F6134E-B3FC-487D-BADE-229D25A4A7C0}"/>
              </a:ext>
            </a:extLst>
          </p:cNvPr>
          <p:cNvSpPr>
            <a:spLocks xmlns:a="http://schemas.openxmlformats.org/drawingml/2006/main" noGrp="1"/>
          </p:cNvSpPr>
          <p:nvPr/>
        </p:nvSpPr>
        <p:spPr>
          <a:xfrm xmlns:a="http://schemas.openxmlformats.org/drawingml/2006/main">
            <a:off x="3829050" y="3067050"/>
            <a:ext cx="396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独立举报渠道、抽查审计、导师责任</a:t>
            </a:r>
          </a:p>
        </p:txBody>
      </p:sp>
      <p:sp>
        <p:nvSpPr>
          <p:cNvPr id="28" name="">
            <a:extLst xmlns:a="http://schemas.openxmlformats.org/drawingml/2006/main">
              <a:ext uri="{FF2B5EF4-FFF2-40B4-BE49-F238E27FC236}">
                <a16:creationId xmlns:a16="http://schemas.microsoft.com/office/drawing/2014/main" id="{E270EAC3-6C82-42F2-90BB-8F1AE6802103}"/>
              </a:ext>
            </a:extLst>
          </p:cNvPr>
          <p:cNvSpPr>
            <a:spLocks xmlns:a="http://schemas.openxmlformats.org/drawingml/2006/main" noGrp="1"/>
          </p:cNvSpPr>
          <p:nvPr/>
        </p:nvSpPr>
        <p:spPr>
          <a:xfrm xmlns:a="http://schemas.openxmlformats.org/drawingml/2006/main">
            <a:off x="8096250" y="2990850"/>
            <a:ext cx="3333750" cy="723900"/>
          </a:xfrm>
          <a:prstGeom xmlns:a="http://schemas.openxmlformats.org/drawingml/2006/main" prst="roundRect">
            <a:avLst>
              <a:gd name="adj" fmla="val 10526"/>
            </a:avLst>
          </a:prstGeom>
          <a:solidFill xmlns:a="http://schemas.openxmlformats.org/drawingml/2006/main">
            <a:srgbClr val="EEF3F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B315863-7B47-4085-B46C-7039F287BC10}"/>
              </a:ext>
            </a:extLst>
          </p:cNvPr>
          <p:cNvSpPr>
            <a:spLocks xmlns:a="http://schemas.openxmlformats.org/drawingml/2006/main" noGrp="1"/>
          </p:cNvSpPr>
          <p:nvPr/>
        </p:nvSpPr>
        <p:spPr>
          <a:xfrm xmlns:a="http://schemas.openxmlformats.org/drawingml/2006/main">
            <a:off x="8210550" y="306705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提高发现概率，降低沉默成本</a:t>
            </a:r>
          </a:p>
        </p:txBody>
      </p:sp>
      <p:sp>
        <p:nvSpPr>
          <p:cNvPr id="30" name="">
            <a:extLst xmlns:a="http://schemas.openxmlformats.org/drawingml/2006/main">
              <a:ext uri="{FF2B5EF4-FFF2-40B4-BE49-F238E27FC236}">
                <a16:creationId xmlns:a16="http://schemas.microsoft.com/office/drawing/2014/main" id="{23FFED05-050E-4EDA-9C26-00D4670BEC41}"/>
              </a:ext>
            </a:extLst>
          </p:cNvPr>
          <p:cNvSpPr>
            <a:spLocks xmlns:a="http://schemas.openxmlformats.org/drawingml/2006/main" noGrp="1"/>
          </p:cNvSpPr>
          <p:nvPr/>
        </p:nvSpPr>
        <p:spPr>
          <a:xfrm xmlns:a="http://schemas.openxmlformats.org/drawingml/2006/main">
            <a:off x="685800" y="3829050"/>
            <a:ext cx="1143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CFCF6A6-C423-406A-B4A1-2DAF17F515ED}"/>
              </a:ext>
            </a:extLst>
          </p:cNvPr>
          <p:cNvSpPr>
            <a:spLocks xmlns:a="http://schemas.openxmlformats.org/drawingml/2006/main" noGrp="1"/>
          </p:cNvSpPr>
          <p:nvPr/>
        </p:nvSpPr>
        <p:spPr>
          <a:xfrm xmlns:a="http://schemas.openxmlformats.org/drawingml/2006/main">
            <a:off x="800100" y="3905250"/>
            <a:ext cx="914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中期</a:t>
            </a:r>
          </a:p>
        </p:txBody>
      </p:sp>
      <p:sp>
        <p:nvSpPr>
          <p:cNvPr id="32" name="">
            <a:extLst xmlns:a="http://schemas.openxmlformats.org/drawingml/2006/main">
              <a:ext uri="{FF2B5EF4-FFF2-40B4-BE49-F238E27FC236}">
                <a16:creationId xmlns:a16="http://schemas.microsoft.com/office/drawing/2014/main" id="{D9E42D50-2687-451B-ADE9-7A708118E0BC}"/>
              </a:ext>
            </a:extLst>
          </p:cNvPr>
          <p:cNvSpPr>
            <a:spLocks xmlns:a="http://schemas.openxmlformats.org/drawingml/2006/main" noGrp="1"/>
          </p:cNvSpPr>
          <p:nvPr/>
        </p:nvSpPr>
        <p:spPr>
          <a:xfrm xmlns:a="http://schemas.openxmlformats.org/drawingml/2006/main">
            <a:off x="2000250" y="3829050"/>
            <a:ext cx="1524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76646E6-4B40-4B56-B561-0B06A9A07D6E}"/>
              </a:ext>
            </a:extLst>
          </p:cNvPr>
          <p:cNvSpPr>
            <a:spLocks xmlns:a="http://schemas.openxmlformats.org/drawingml/2006/main" noGrp="1"/>
          </p:cNvSpPr>
          <p:nvPr/>
        </p:nvSpPr>
        <p:spPr>
          <a:xfrm xmlns:a="http://schemas.openxmlformats.org/drawingml/2006/main">
            <a:off x="2114550" y="3905250"/>
            <a:ext cx="1295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评价与资助部门</a:t>
            </a:r>
          </a:p>
        </p:txBody>
      </p:sp>
      <p:sp>
        <p:nvSpPr>
          <p:cNvPr id="34" name="">
            <a:extLst xmlns:a="http://schemas.openxmlformats.org/drawingml/2006/main">
              <a:ext uri="{FF2B5EF4-FFF2-40B4-BE49-F238E27FC236}">
                <a16:creationId xmlns:a16="http://schemas.microsoft.com/office/drawing/2014/main" id="{16737CC9-6154-4DD8-912A-5743F9FCD2D2}"/>
              </a:ext>
            </a:extLst>
          </p:cNvPr>
          <p:cNvSpPr>
            <a:spLocks xmlns:a="http://schemas.openxmlformats.org/drawingml/2006/main" noGrp="1"/>
          </p:cNvSpPr>
          <p:nvPr/>
        </p:nvSpPr>
        <p:spPr>
          <a:xfrm xmlns:a="http://schemas.openxmlformats.org/drawingml/2006/main">
            <a:off x="3714750" y="3829050"/>
            <a:ext cx="4191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340A3FA-310B-440F-A738-3958F8057004}"/>
              </a:ext>
            </a:extLst>
          </p:cNvPr>
          <p:cNvSpPr>
            <a:spLocks xmlns:a="http://schemas.openxmlformats.org/drawingml/2006/main" noGrp="1"/>
          </p:cNvSpPr>
          <p:nvPr/>
        </p:nvSpPr>
        <p:spPr>
          <a:xfrm xmlns:a="http://schemas.openxmlformats.org/drawingml/2006/main">
            <a:off x="3829050" y="3905250"/>
            <a:ext cx="396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代表作评价、过程质量、纠错记录</a:t>
            </a:r>
          </a:p>
        </p:txBody>
      </p:sp>
      <p:sp>
        <p:nvSpPr>
          <p:cNvPr id="36" name="">
            <a:extLst xmlns:a="http://schemas.openxmlformats.org/drawingml/2006/main">
              <a:ext uri="{FF2B5EF4-FFF2-40B4-BE49-F238E27FC236}">
                <a16:creationId xmlns:a16="http://schemas.microsoft.com/office/drawing/2014/main" id="{271EADC9-3FB8-45CE-8653-C7CCFE0A5BB7}"/>
              </a:ext>
            </a:extLst>
          </p:cNvPr>
          <p:cNvSpPr>
            <a:spLocks xmlns:a="http://schemas.openxmlformats.org/drawingml/2006/main" noGrp="1"/>
          </p:cNvSpPr>
          <p:nvPr/>
        </p:nvSpPr>
        <p:spPr>
          <a:xfrm xmlns:a="http://schemas.openxmlformats.org/drawingml/2006/main">
            <a:off x="8096250" y="3829050"/>
            <a:ext cx="33337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93336B8-D37B-4A4E-87A0-6F23FFC9387B}"/>
              </a:ext>
            </a:extLst>
          </p:cNvPr>
          <p:cNvSpPr>
            <a:spLocks xmlns:a="http://schemas.openxmlformats.org/drawingml/2006/main" noGrp="1"/>
          </p:cNvSpPr>
          <p:nvPr/>
        </p:nvSpPr>
        <p:spPr>
          <a:xfrm xmlns:a="http://schemas.openxmlformats.org/drawingml/2006/main">
            <a:off x="8210550" y="390525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削弱“只奖结果”的单一激励</a:t>
            </a:r>
          </a:p>
        </p:txBody>
      </p:sp>
      <p:sp>
        <p:nvSpPr>
          <p:cNvPr id="38" name="">
            <a:extLst xmlns:a="http://schemas.openxmlformats.org/drawingml/2006/main">
              <a:ext uri="{FF2B5EF4-FFF2-40B4-BE49-F238E27FC236}">
                <a16:creationId xmlns:a16="http://schemas.microsoft.com/office/drawing/2014/main" id="{1D5647D7-7F52-42A4-933A-881865EE6ADD}"/>
              </a:ext>
            </a:extLst>
          </p:cNvPr>
          <p:cNvSpPr>
            <a:spLocks xmlns:a="http://schemas.openxmlformats.org/drawingml/2006/main" noGrp="1"/>
          </p:cNvSpPr>
          <p:nvPr/>
        </p:nvSpPr>
        <p:spPr>
          <a:xfrm xmlns:a="http://schemas.openxmlformats.org/drawingml/2006/main">
            <a:off x="685800" y="4667250"/>
            <a:ext cx="1143000" cy="723900"/>
          </a:xfrm>
          <a:prstGeom xmlns:a="http://schemas.openxmlformats.org/drawingml/2006/main" prst="roundRect">
            <a:avLst>
              <a:gd name="adj" fmla="val 10526"/>
            </a:avLst>
          </a:prstGeom>
          <a:solidFill xmlns:a="http://schemas.openxmlformats.org/drawingml/2006/main">
            <a:srgbClr val="EEF3F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FBB3E83-2CE6-4A39-A2A8-54B39C864510}"/>
              </a:ext>
            </a:extLst>
          </p:cNvPr>
          <p:cNvSpPr>
            <a:spLocks xmlns:a="http://schemas.openxmlformats.org/drawingml/2006/main" noGrp="1"/>
          </p:cNvSpPr>
          <p:nvPr/>
        </p:nvSpPr>
        <p:spPr>
          <a:xfrm xmlns:a="http://schemas.openxmlformats.org/drawingml/2006/main">
            <a:off x="800100" y="4743450"/>
            <a:ext cx="914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3247"/>
                </a:solidFill>
                <a:latin typeface="Microsoft YaHei"/>
                <a:ea typeface="Microsoft YaHei"/>
                <a:cs typeface="Microsoft YaHei"/>
              </a:defRPr>
            </a:pPr>
            <a:r>
              <a:rPr sz="1275" b="1">
                <a:solidFill>
                  <a:srgbClr val="183247"/>
                </a:solidFill>
                <a:latin typeface="Microsoft YaHei"/>
                <a:ea typeface="Microsoft YaHei"/>
                <a:cs typeface="Microsoft YaHei"/>
              </a:rPr>
              <a:t>长期</a:t>
            </a:r>
          </a:p>
        </p:txBody>
      </p:sp>
      <p:sp>
        <p:nvSpPr>
          <p:cNvPr id="40" name="">
            <a:extLst xmlns:a="http://schemas.openxmlformats.org/drawingml/2006/main">
              <a:ext uri="{FF2B5EF4-FFF2-40B4-BE49-F238E27FC236}">
                <a16:creationId xmlns:a16="http://schemas.microsoft.com/office/drawing/2014/main" id="{F53DD755-5525-417B-88CA-6E5B7E6C3B87}"/>
              </a:ext>
            </a:extLst>
          </p:cNvPr>
          <p:cNvSpPr>
            <a:spLocks xmlns:a="http://schemas.openxmlformats.org/drawingml/2006/main" noGrp="1"/>
          </p:cNvSpPr>
          <p:nvPr/>
        </p:nvSpPr>
        <p:spPr>
          <a:xfrm xmlns:a="http://schemas.openxmlformats.org/drawingml/2006/main">
            <a:off x="2000250" y="4667250"/>
            <a:ext cx="1524000" cy="723900"/>
          </a:xfrm>
          <a:prstGeom xmlns:a="http://schemas.openxmlformats.org/drawingml/2006/main" prst="roundRect">
            <a:avLst>
              <a:gd name="adj" fmla="val 10526"/>
            </a:avLst>
          </a:prstGeom>
          <a:solidFill xmlns:a="http://schemas.openxmlformats.org/drawingml/2006/main">
            <a:srgbClr val="EEF3F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FF840E4-3A98-430F-847E-5B96C5081839}"/>
              </a:ext>
            </a:extLst>
          </p:cNvPr>
          <p:cNvSpPr>
            <a:spLocks xmlns:a="http://schemas.openxmlformats.org/drawingml/2006/main" noGrp="1"/>
          </p:cNvSpPr>
          <p:nvPr/>
        </p:nvSpPr>
        <p:spPr>
          <a:xfrm xmlns:a="http://schemas.openxmlformats.org/drawingml/2006/main">
            <a:off x="2114550" y="4743450"/>
            <a:ext cx="1295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共同体协同</a:t>
            </a:r>
          </a:p>
        </p:txBody>
      </p:sp>
      <p:sp>
        <p:nvSpPr>
          <p:cNvPr id="42" name="">
            <a:extLst xmlns:a="http://schemas.openxmlformats.org/drawingml/2006/main">
              <a:ext uri="{FF2B5EF4-FFF2-40B4-BE49-F238E27FC236}">
                <a16:creationId xmlns:a16="http://schemas.microsoft.com/office/drawing/2014/main" id="{218DC551-D354-4F84-AA4F-F67F4645E9E6}"/>
              </a:ext>
            </a:extLst>
          </p:cNvPr>
          <p:cNvSpPr>
            <a:spLocks xmlns:a="http://schemas.openxmlformats.org/drawingml/2006/main" noGrp="1"/>
          </p:cNvSpPr>
          <p:nvPr/>
        </p:nvSpPr>
        <p:spPr>
          <a:xfrm xmlns:a="http://schemas.openxmlformats.org/drawingml/2006/main">
            <a:off x="3714750" y="4667250"/>
            <a:ext cx="4191000" cy="723900"/>
          </a:xfrm>
          <a:prstGeom xmlns:a="http://schemas.openxmlformats.org/drawingml/2006/main" prst="roundRect">
            <a:avLst>
              <a:gd name="adj" fmla="val 10526"/>
            </a:avLst>
          </a:prstGeom>
          <a:solidFill xmlns:a="http://schemas.openxmlformats.org/drawingml/2006/main">
            <a:srgbClr val="EEF3F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6AE5926-A48C-4EE8-80FC-EE472628F90F}"/>
              </a:ext>
            </a:extLst>
          </p:cNvPr>
          <p:cNvSpPr>
            <a:spLocks xmlns:a="http://schemas.openxmlformats.org/drawingml/2006/main" noGrp="1"/>
          </p:cNvSpPr>
          <p:nvPr/>
        </p:nvSpPr>
        <p:spPr>
          <a:xfrm xmlns:a="http://schemas.openxmlformats.org/drawingml/2006/main">
            <a:off x="3829050" y="4743450"/>
            <a:ext cx="396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数据标准、期刊联动、复现基础设施</a:t>
            </a:r>
          </a:p>
        </p:txBody>
      </p:sp>
      <p:sp>
        <p:nvSpPr>
          <p:cNvPr id="44" name="">
            <a:extLst xmlns:a="http://schemas.openxmlformats.org/drawingml/2006/main">
              <a:ext uri="{FF2B5EF4-FFF2-40B4-BE49-F238E27FC236}">
                <a16:creationId xmlns:a16="http://schemas.microsoft.com/office/drawing/2014/main" id="{CE89A9AC-34D6-4605-BBAB-D6BCACFECEC6}"/>
              </a:ext>
            </a:extLst>
          </p:cNvPr>
          <p:cNvSpPr>
            <a:spLocks xmlns:a="http://schemas.openxmlformats.org/drawingml/2006/main" noGrp="1"/>
          </p:cNvSpPr>
          <p:nvPr/>
        </p:nvSpPr>
        <p:spPr>
          <a:xfrm xmlns:a="http://schemas.openxmlformats.org/drawingml/2006/main">
            <a:off x="8096250" y="4667250"/>
            <a:ext cx="3333750" cy="723900"/>
          </a:xfrm>
          <a:prstGeom xmlns:a="http://schemas.openxmlformats.org/drawingml/2006/main" prst="roundRect">
            <a:avLst>
              <a:gd name="adj" fmla="val 10526"/>
            </a:avLst>
          </a:prstGeom>
          <a:solidFill xmlns:a="http://schemas.openxmlformats.org/drawingml/2006/main">
            <a:srgbClr val="EEF3F4"/>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BE6C1CCD-48F3-488D-9E4E-0B28F54ED90B}"/>
              </a:ext>
            </a:extLst>
          </p:cNvPr>
          <p:cNvSpPr>
            <a:spLocks xmlns:a="http://schemas.openxmlformats.org/drawingml/2006/main" noGrp="1"/>
          </p:cNvSpPr>
          <p:nvPr/>
        </p:nvSpPr>
        <p:spPr>
          <a:xfrm xmlns:a="http://schemas.openxmlformats.org/drawingml/2006/main">
            <a:off x="8210550" y="474345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F2A30"/>
                </a:solidFill>
                <a:latin typeface="Microsoft YaHei"/>
                <a:ea typeface="Microsoft YaHei"/>
                <a:cs typeface="Microsoft YaHei"/>
              </a:defRPr>
            </a:pPr>
            <a:r>
              <a:rPr sz="1200" b="0">
                <a:solidFill>
                  <a:srgbClr val="1F2A30"/>
                </a:solidFill>
                <a:latin typeface="Microsoft YaHei"/>
                <a:ea typeface="Microsoft YaHei"/>
                <a:cs typeface="Microsoft YaHei"/>
              </a:rPr>
              <a:t>恢复文献系统的自我纠错能力</a:t>
            </a:r>
          </a:p>
        </p:txBody>
      </p:sp>
      <p:sp>
        <p:nvSpPr>
          <p:cNvPr id="46" name="">
            <a:extLst xmlns:a="http://schemas.openxmlformats.org/drawingml/2006/main">
              <a:ext uri="{FF2B5EF4-FFF2-40B4-BE49-F238E27FC236}">
                <a16:creationId xmlns:a16="http://schemas.microsoft.com/office/drawing/2014/main" id="{00818D25-BA67-4598-9BE6-C003A720DDFB}"/>
              </a:ext>
            </a:extLst>
          </p:cNvPr>
          <p:cNvSpPr>
            <a:spLocks xmlns:a="http://schemas.openxmlformats.org/drawingml/2006/main" noGrp="1"/>
          </p:cNvSpPr>
          <p:nvPr/>
        </p:nvSpPr>
        <p:spPr>
          <a:xfrm xmlns:a="http://schemas.openxmlformats.org/drawingml/2006/main">
            <a:off x="685800" y="5791200"/>
            <a:ext cx="10744200" cy="457200"/>
          </a:xfrm>
          <a:prstGeom xmlns:a="http://schemas.openxmlformats.org/drawingml/2006/main" prst="roundRect">
            <a:avLst>
              <a:gd name="adj" fmla="val 16667"/>
            </a:avLst>
          </a:prstGeom>
          <a:solidFill xmlns:a="http://schemas.openxmlformats.org/drawingml/2006/main">
            <a:srgbClr val="E8EFEC"/>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21EE12A-C01F-4625-A04A-2FAAD70D62C7}"/>
              </a:ext>
            </a:extLst>
          </p:cNvPr>
          <p:cNvSpPr>
            <a:spLocks xmlns:a="http://schemas.openxmlformats.org/drawingml/2006/main" noGrp="1"/>
          </p:cNvSpPr>
          <p:nvPr/>
        </p:nvSpPr>
        <p:spPr>
          <a:xfrm xmlns:a="http://schemas.openxmlformats.org/drawingml/2006/main">
            <a:off x="857250" y="58674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ctr">
              <a:defRPr sz="1425" b="1">
                <a:solidFill>
                  <a:srgbClr val="49745D"/>
                </a:solidFill>
                <a:latin typeface="Microsoft YaHei"/>
                <a:ea typeface="Microsoft YaHei"/>
                <a:cs typeface="Microsoft YaHei"/>
              </a:defRPr>
            </a:pPr>
            <a:r>
              <a:rPr sz="1425" b="1">
                <a:solidFill>
                  <a:srgbClr val="49745D"/>
                </a:solidFill>
                <a:latin typeface="Microsoft YaHei"/>
                <a:ea typeface="Microsoft YaHei"/>
                <a:cs typeface="Microsoft YaHei"/>
              </a:rPr>
              <a:t>评价改革决定上限，证据治理守住底线，独立调查提供可信的最后保障</a:t>
            </a:r>
          </a:p>
        </p:txBody>
      </p:sp>
    </p:spTree>
    <p:extLst>
      <p:ext uri="{BB962C8B-B14F-4D97-AF65-F5344CB8AC3E}">
        <p14:creationId xmlns:p14="http://schemas.microsoft.com/office/powerpoint/2010/main" val="964108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2026-09-23T07:58:01.1840000Z</dcterms:created>
  <dcterms:modified xsi:type="dcterms:W3CDTF">2026-09-23T07:58:01.1840000Z</dcterms:modified>
</coreProperties>
</file>